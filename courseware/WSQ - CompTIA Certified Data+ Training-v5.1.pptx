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470" r:id="rId221"/>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of exam</c:v>
                </c:pt>
              </c:strCache>
            </c:strRef>
          </c:tx>
          <c:spPr>
            <a:solidFill>
              <a:srgbClr val="1F6FEB"/>
            </a:solidFill>
          </c:spPr>
          <c:cat>
            <c:strRef>
              <c:f>Sheet1!$A$2:$A$6</c:f>
              <c:strCache>
                <c:ptCount val="5"/>
                <c:pt idx="0">
                  <c:v>D1 Data Concepts</c:v>
                </c:pt>
                <c:pt idx="1">
                  <c:v>D2 Data Acquisition</c:v>
                </c:pt>
                <c:pt idx="2">
                  <c:v>D3 Data Analysis</c:v>
                </c:pt>
                <c:pt idx="3">
                  <c:v>D4 Visualization</c:v>
                </c:pt>
                <c:pt idx="4">
                  <c:v>D5 Data Governance, Quali</c:v>
                </c:pt>
              </c:strCache>
            </c:strRef>
          </c:cat>
          <c:val>
            <c:numRef>
              <c:f>Sheet1!$B$2:$B$6</c:f>
              <c:numCache>
                <c:formatCode>0</c:formatCode>
                <c:ptCount val="5"/>
                <c:pt idx="0">
                  <c:v>20</c:v>
                </c:pt>
                <c:pt idx="1">
                  <c:v>22</c:v>
                </c:pt>
                <c:pt idx="2">
                  <c:v>24</c:v>
                </c:pt>
                <c:pt idx="3">
                  <c:v>20</c:v>
                </c:pt>
                <c:pt idx="4">
                  <c:v>14</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With outlier</c:v>
                </c:pt>
              </c:strCache>
            </c:strRef>
          </c:tx>
          <c:spPr>
            <a:solidFill>
              <a:srgbClr val="1F6FEB"/>
            </a:solidFill>
          </c:spPr>
          <c:cat>
            <c:strRef>
              <c:f>Sheet1!$A$2:$A$3</c:f>
              <c:strCache>
                <c:ptCount val="2"/>
                <c:pt idx="0">
                  <c:v>Mean</c:v>
                </c:pt>
                <c:pt idx="1">
                  <c:v>Median</c:v>
                </c:pt>
              </c:strCache>
            </c:strRef>
          </c:cat>
          <c:val>
            <c:numRef>
              <c:f>Sheet1!$B$2:$B$3</c:f>
              <c:numCache>
                <c:formatCode>0</c:formatCode>
                <c:ptCount val="2"/>
                <c:pt idx="0">
                  <c:v>6560</c:v>
                </c:pt>
                <c:pt idx="1">
                  <c:v>4350</c:v>
                </c:pt>
              </c:numCache>
            </c:numRef>
          </c:val>
        </c:ser>
        <c:ser>
          <c:idx val="1"/>
          <c:order val="1"/>
          <c:tx>
            <c:strRef>
              <c:f>Sheet1!$C$1</c:f>
              <c:strCache>
                <c:ptCount val="1"/>
                <c:pt idx="0">
                  <c:v>Outlier removed</c:v>
                </c:pt>
              </c:strCache>
            </c:strRef>
          </c:tx>
          <c:spPr>
            <a:solidFill>
              <a:srgbClr val="10B981"/>
            </a:solidFill>
          </c:spPr>
          <c:cat>
            <c:strRef>
              <c:f>Sheet1!$A$2:$A$3</c:f>
              <c:strCache>
                <c:ptCount val="2"/>
                <c:pt idx="0">
                  <c:v>Mean</c:v>
                </c:pt>
                <c:pt idx="1">
                  <c:v>Median</c:v>
                </c:pt>
              </c:strCache>
            </c:strRef>
          </c:cat>
          <c:val>
            <c:numRef>
              <c:f>Sheet1!$C$2:$C$3</c:f>
              <c:numCache>
                <c:formatCode>0</c:formatCode>
                <c:ptCount val="2"/>
                <c:pt idx="0">
                  <c:v>4400</c:v>
                </c:pt>
                <c:pt idx="1">
                  <c:v>4200</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49212-CompTIA-Certified-Data-Train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practice-exams/comptia/comptia-data-plus" TargetMode="Externa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603504"/>
            <a:ext cx="1691640"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713232"/>
            <a:ext cx="1691640" cy="475488"/>
          </a:xfrm>
          <a:prstGeom prst="rect">
            <a:avLst/>
          </a:prstGeom>
          <a:noFill/>
        </p:spPr>
        <p:txBody>
          <a:bodyPr wrap="square" anchor="t">
            <a:spAutoFit/>
          </a:bodyPr>
          <a:lstStyle/>
          <a:p>
            <a:pPr algn="ctr">
              <a:spcAft>
                <a:spcPts val="400"/>
              </a:spcAft>
            </a:pPr>
            <a:r>
              <a:rPr sz="1800" b="1">
                <a:solidFill>
                  <a:srgbClr val="FFFFFF"/>
                </a:solidFill>
                <a:latin typeface="Arial"/>
              </a:rPr>
              <a:t>CompTIA</a:t>
            </a:r>
          </a:p>
        </p:txBody>
      </p:sp>
      <p:sp>
        <p:nvSpPr>
          <p:cNvPr id="8" name="TextBox 7"/>
          <p:cNvSpPr txBox="1"/>
          <p:nvPr/>
        </p:nvSpPr>
        <p:spPr>
          <a:xfrm>
            <a:off x="9829800" y="1207008"/>
            <a:ext cx="1691640" cy="365760"/>
          </a:xfrm>
          <a:prstGeom prst="rect">
            <a:avLst/>
          </a:prstGeom>
          <a:noFill/>
        </p:spPr>
        <p:txBody>
          <a:bodyPr wrap="square" anchor="t">
            <a:spAutoFit/>
          </a:bodyPr>
          <a:lstStyle/>
          <a:p>
            <a:pPr algn="ctr">
              <a:spcAft>
                <a:spcPts val="400"/>
              </a:spcAft>
            </a:pPr>
            <a:r>
              <a:rPr sz="900" b="1">
                <a:solidFill>
                  <a:srgbClr val="FFFFFF"/>
                </a:solidFill>
                <a:latin typeface="Arial"/>
              </a:rPr>
              <a:t>DATA+  DA0-001</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WSQ - CompTIA Certified Data+ Training</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TGS-2024049212</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v5.1  ·  19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generated from TPG.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with Singpass</a:t>
            </a:r>
          </a:p>
          <a:p>
            <a:pPr algn="l">
              <a:spcAft>
                <a:spcPts val="300"/>
              </a:spcAft>
            </a:pPr>
            <a:r>
              <a:rPr sz="1300" b="0">
                <a:solidFill>
                  <a:srgbClr val="5B6372"/>
                </a:solidFill>
                <a:latin typeface="Arial"/>
              </a:rPr>
              <a:t>Scan the QR code from your Singpass App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Data analytics, data engineering, statistics, business intelligence and applied machine learning.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data analytics, CompTIA certifications, Python, AI and cloud technologies.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current role.</a:t>
            </a:r>
          </a:p>
          <a:p>
            <a:pPr>
              <a:spcAft>
                <a:spcPts val="1000"/>
              </a:spcAft>
            </a:pPr>
            <a:r>
              <a:rPr sz="2000" b="0">
                <a:solidFill>
                  <a:srgbClr val="161B26"/>
                </a:solidFill>
                <a:latin typeface="Arial"/>
              </a:rPr>
              <a:t>•  How you work with data today — spreadsheets, SQL, BI tools, or none of these yet.</a:t>
            </a:r>
          </a:p>
          <a:p>
            <a:pPr>
              <a:spcAft>
                <a:spcPts val="1000"/>
              </a:spcAft>
            </a:pPr>
            <a:r>
              <a:rPr sz="2000" b="0">
                <a:solidFill>
                  <a:srgbClr val="161B26"/>
                </a:solidFill>
                <a:latin typeface="Arial"/>
              </a:rPr>
              <a:t>•  The one data question in your job you wish you could answer confidently.</a:t>
            </a:r>
          </a:p>
          <a:p>
            <a:pPr>
              <a:spcAft>
                <a:spcPts val="1000"/>
              </a:spcAft>
            </a:pPr>
            <a:r>
              <a:rPr sz="2000" b="0">
                <a:solidFill>
                  <a:srgbClr val="161B26"/>
                </a:solidFill>
                <a:latin typeface="Arial"/>
              </a:rPr>
              <a:t>•  Whether you intend to sit the CompTIA Data+ (DA0-001) certification exam.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in class — no question is too small.</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26664"/>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26664"/>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178808"/>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Be punctual and return from breaks on time.</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178808"/>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Step out quietly for calls or breaks.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30952"/>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30952"/>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Complete both assessments to be certified Competent.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Open this course</a:t>
            </a:r>
          </a:p>
          <a:p>
            <a:pPr algn="l">
              <a:spcAft>
                <a:spcPts val="300"/>
              </a:spcAft>
            </a:pPr>
            <a:r>
              <a:rPr sz="1200" b="0">
                <a:solidFill>
                  <a:srgbClr val="5B6372"/>
                </a:solidFill>
                <a:latin typeface="Arial"/>
              </a:rPr>
              <a:t>Select 'WSQ - CompTIA Certified Data+ Training' (TGS-2024049212).</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Get the labs</a:t>
            </a:r>
          </a:p>
          <a:p>
            <a:pPr algn="l">
              <a:spcAft>
                <a:spcPts val="300"/>
              </a:spcAft>
            </a:pPr>
            <a:r>
              <a:rPr sz="1200" b="0">
                <a:solidFill>
                  <a:srgbClr val="5B6372"/>
                </a:solidFill>
                <a:latin typeface="Arial"/>
              </a:rPr>
              <a:t>Clone or download the lab repository from GitHub — link on the next slide.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TSC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Data Analytics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ATP-PIN-3001-1.1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K1 · K2</a:t>
            </a:r>
          </a:p>
          <a:p>
            <a:pPr algn="l">
              <a:spcAft>
                <a:spcPts val="300"/>
              </a:spcAft>
            </a:pPr>
            <a:r>
              <a:rPr sz="1200" b="0">
                <a:solidFill>
                  <a:srgbClr val="5B6372"/>
                </a:solidFill>
                <a:latin typeface="Arial"/>
              </a:rPr>
              <a:t>Tools and techniques for data collection, mining, cleaning and analysis; statistical principles.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K3 · K4</a:t>
            </a:r>
          </a:p>
          <a:p>
            <a:pPr algn="l">
              <a:spcAft>
                <a:spcPts val="300"/>
              </a:spcAft>
            </a:pPr>
            <a:r>
              <a:rPr sz="1200" b="0">
                <a:solidFill>
                  <a:srgbClr val="5B6372"/>
                </a:solidFill>
                <a:latin typeface="Arial"/>
              </a:rPr>
              <a:t>Principles of communicating data effectively; procedures to extract and process data sets.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A1 · A2 · A3</a:t>
            </a:r>
          </a:p>
          <a:p>
            <a:pPr algn="l">
              <a:spcAft>
                <a:spcPts val="300"/>
              </a:spcAft>
            </a:pPr>
            <a:r>
              <a:rPr sz="1200" b="0">
                <a:solidFill>
                  <a:srgbClr val="5B6372"/>
                </a:solidFill>
                <a:latin typeface="Arial"/>
              </a:rPr>
              <a:t>Integrate multiple datasets; conduct data mining to uncover trends; derive actionable insights.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A4 · A5</a:t>
            </a:r>
          </a:p>
          <a:p>
            <a:pPr algn="l">
              <a:spcAft>
                <a:spcPts val="300"/>
              </a:spcAft>
            </a:pPr>
            <a:r>
              <a:rPr sz="1200" b="0">
                <a:solidFill>
                  <a:srgbClr val="5B6372"/>
                </a:solidFill>
                <a:latin typeface="Arial"/>
              </a:rPr>
              <a:t>Recognise sequential and sub-graph patterns; present analytics outputs visually.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LO1 · Integrate datasets</a:t>
            </a:r>
          </a:p>
          <a:p>
            <a:pPr algn="l">
              <a:spcAft>
                <a:spcPts val="300"/>
              </a:spcAft>
            </a:pPr>
            <a:r>
              <a:rPr sz="1200" b="0">
                <a:solidFill>
                  <a:srgbClr val="5B6372"/>
                </a:solidFill>
                <a:latin typeface="Arial"/>
              </a:rPr>
              <a:t>Integrate multiple datasets to extract and process data efficiently. (K4, A1)</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LO2 · Mine for trends</a:t>
            </a:r>
          </a:p>
          <a:p>
            <a:pPr algn="l">
              <a:spcAft>
                <a:spcPts val="300"/>
              </a:spcAft>
            </a:pPr>
            <a:r>
              <a:rPr sz="1200" b="0">
                <a:solidFill>
                  <a:srgbClr val="5B6372"/>
                </a:solidFill>
                <a:latin typeface="Arial"/>
              </a:rPr>
              <a:t>Conduct data mining to uncover and analyze trends using analysis techniques. (K1, A2)</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LO3 · Analyse statistically</a:t>
            </a:r>
          </a:p>
          <a:p>
            <a:pPr algn="l">
              <a:spcAft>
                <a:spcPts val="300"/>
              </a:spcAft>
            </a:pPr>
            <a:r>
              <a:rPr sz="1200" b="0">
                <a:solidFill>
                  <a:srgbClr val="5B6372"/>
                </a:solidFill>
                <a:latin typeface="Arial"/>
              </a:rPr>
              <a:t>Perform statistical data analysis to derive actionable insights. (K2, A3)</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LO4 · Communicate visually</a:t>
            </a:r>
          </a:p>
          <a:p>
            <a:pPr algn="l">
              <a:spcAft>
                <a:spcPts val="300"/>
              </a:spcAft>
            </a:pPr>
            <a:r>
              <a:rPr sz="1200" b="0">
                <a:solidFill>
                  <a:srgbClr val="5B6372"/>
                </a:solidFill>
                <a:latin typeface="Arial"/>
              </a:rPr>
              <a:t>Present analytical outputs visually to communicate data effectively for decision-making. (K3, A5)</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LO5 · Link the variables</a:t>
            </a:r>
          </a:p>
          <a:p>
            <a:pPr algn="l">
              <a:spcAft>
                <a:spcPts val="300"/>
              </a:spcAft>
            </a:pPr>
            <a:r>
              <a:rPr sz="1200" b="0">
                <a:solidFill>
                  <a:srgbClr val="5B6372"/>
                </a:solidFill>
                <a:latin typeface="Arial"/>
              </a:rPr>
              <a:t>Recognize and interpret sequential patterns to establish linkages between variables. (A4)</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DOMAINS  ·  15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 — Five Exam Domains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1 — Data Concepts and Environments  (20%)</a:t>
            </a:r>
          </a:p>
          <a:p>
            <a:pPr algn="l">
              <a:spcAft>
                <a:spcPts val="300"/>
              </a:spcAft>
            </a:pPr>
            <a:r>
              <a:rPr sz="1100" b="0">
                <a:solidFill>
                  <a:srgbClr val="5B6372"/>
                </a:solidFill>
                <a:latin typeface="Arial"/>
              </a:rPr>
              <a:t>Database types · data structures · file extensions · data types · data sources · infrastructure · tools · AI concepts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2 — Data Acquisition and Preparation  (22%)</a:t>
            </a:r>
          </a:p>
          <a:p>
            <a:pPr algn="l">
              <a:spcAft>
                <a:spcPts val="300"/>
              </a:spcAft>
            </a:pPr>
            <a:r>
              <a:rPr sz="1100" b="0">
                <a:solidFill>
                  <a:srgbClr val="5B6372"/>
                </a:solidFill>
                <a:latin typeface="Arial"/>
              </a:rPr>
              <a:t>Data integration · queries · exploration · missing values · duplication · outliers · cleansing · parsing · formatting</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3 — Data Analysis  (24%)</a:t>
            </a:r>
          </a:p>
          <a:p>
            <a:pPr algn="l">
              <a:spcAft>
                <a:spcPts val="300"/>
              </a:spcAft>
            </a:pPr>
            <a:r>
              <a:rPr sz="1100" b="0">
                <a:solidFill>
                  <a:srgbClr val="5B6372"/>
                </a:solidFill>
                <a:latin typeface="Arial"/>
              </a:rPr>
              <a:t>Descriptive statistics · inferential methods · analysis types · communicating results · troubleshooting</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4 — Visualization and Reporting  (20%)</a:t>
            </a:r>
          </a:p>
          <a:p>
            <a:pPr algn="l">
              <a:spcAft>
                <a:spcPts val="300"/>
              </a:spcAft>
            </a:pPr>
            <a:r>
              <a:rPr sz="1100" b="0">
                <a:solidFill>
                  <a:srgbClr val="5B6372"/>
                </a:solidFill>
                <a:latin typeface="Arial"/>
              </a:rPr>
              <a:t>Chart selection · maps · tables · design elements · dashboards · report types · validation</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5 — Data Governance, Quality and Controls  (14%)</a:t>
            </a:r>
          </a:p>
          <a:p>
            <a:pPr algn="l">
              <a:spcAft>
                <a:spcPts val="300"/>
              </a:spcAft>
            </a:pPr>
            <a:r>
              <a:rPr sz="1100" b="0">
                <a:solidFill>
                  <a:srgbClr val="5B6372"/>
                </a:solidFill>
                <a:latin typeface="Arial"/>
              </a:rPr>
              <a:t>Documentation · versioning · lineage · compliance · retention · privacy · encryption · masking · quality assurance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BLUEPRINT  ·  DA0-001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the CompTIA Data+ Exam Is Weighted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Data Analysis (24%) and Data Acquisition &amp; Preparation (22%) together make up 46% of the exam — which is why Days 2 and 3 carry the heaviest lab load.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1 OF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Days 1 to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 and 2</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3</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Data Concepts, Schemas and Environments</a:t>
            </a:r>
          </a:p>
          <a:p>
            <a:pPr>
              <a:spcAft>
                <a:spcPts val="1000"/>
              </a:spcAft>
            </a:pPr>
            <a:r>
              <a:rPr sz="1400" b="0">
                <a:solidFill>
                  <a:srgbClr val="5B6372"/>
                </a:solidFill>
                <a:latin typeface="Arial"/>
              </a:rPr>
              <a:t>–  Digital Attendance (AM) · Introductions</a:t>
            </a:r>
          </a:p>
          <a:p>
            <a:pPr>
              <a:spcAft>
                <a:spcPts val="1000"/>
              </a:spcAft>
            </a:pPr>
            <a:r>
              <a:rPr sz="1400" b="0">
                <a:solidFill>
                  <a:srgbClr val="5B6372"/>
                </a:solidFill>
                <a:latin typeface="Arial"/>
              </a:rPr>
              <a:t>–  Learning Outcomes · Course Outline</a:t>
            </a:r>
          </a:p>
          <a:p>
            <a:pPr>
              <a:spcAft>
                <a:spcPts val="1000"/>
              </a:spcAft>
            </a:pPr>
            <a:r>
              <a:rPr sz="1400" b="0">
                <a:solidFill>
                  <a:srgbClr val="5B6372"/>
                </a:solidFill>
                <a:latin typeface="Arial"/>
              </a:rPr>
              <a:t>–  Domain 1: Data Concepts (Labs 1–3)</a:t>
            </a:r>
          </a:p>
          <a:p>
            <a:pPr>
              <a:spcAft>
                <a:spcPts val="1000"/>
              </a:spcAft>
            </a:pPr>
            <a:r>
              <a:rPr sz="1400" b="0">
                <a:solidFill>
                  <a:srgbClr val="5B6372"/>
                </a:solidFill>
                <a:latin typeface="Arial"/>
              </a:rPr>
              <a:t>–  Lunch · Digital Attendance (PM)</a:t>
            </a:r>
          </a:p>
          <a:p>
            <a:pPr>
              <a:spcAft>
                <a:spcPts val="1000"/>
              </a:spcAft>
            </a:pPr>
            <a:r>
              <a:rPr sz="1600" b="0">
                <a:solidFill>
                  <a:srgbClr val="161B26"/>
                </a:solidFill>
                <a:latin typeface="Arial"/>
              </a:rPr>
              <a:t>•  Day 2 — Data Acquisition, Exploration and Preparation</a:t>
            </a:r>
          </a:p>
          <a:p>
            <a:pPr>
              <a:spcAft>
                <a:spcPts val="1000"/>
              </a:spcAft>
            </a:pPr>
            <a:r>
              <a:rPr sz="1400" b="0">
                <a:solidFill>
                  <a:srgbClr val="5B6372"/>
                </a:solidFill>
                <a:latin typeface="Arial"/>
              </a:rPr>
              <a:t>–  Domain 2: Acquisition &amp; Preparation</a:t>
            </a:r>
          </a:p>
          <a:p>
            <a:pPr>
              <a:spcAft>
                <a:spcPts val="1000"/>
              </a:spcAft>
            </a:pPr>
            <a:r>
              <a:rPr sz="1400" b="0">
                <a:solidFill>
                  <a:srgbClr val="5B6372"/>
                </a:solidFill>
                <a:latin typeface="Arial"/>
              </a:rPr>
              <a:t>–  Labs 4–7 · profiling, parsing, joins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3 — Data Analysis — Descriptive and Inferential Statistics</a:t>
            </a:r>
          </a:p>
          <a:p>
            <a:pPr>
              <a:spcAft>
                <a:spcPts val="1000"/>
              </a:spcAft>
            </a:pPr>
            <a:r>
              <a:rPr sz="1400" b="0">
                <a:solidFill>
                  <a:srgbClr val="5B6372"/>
                </a:solidFill>
                <a:latin typeface="Arial"/>
              </a:rPr>
              <a:t>–  Domain 3: Data Analysis</a:t>
            </a:r>
          </a:p>
          <a:p>
            <a:pPr>
              <a:spcAft>
                <a:spcPts val="1000"/>
              </a:spcAft>
            </a:pPr>
            <a:r>
              <a:rPr sz="1400" b="0">
                <a:solidFill>
                  <a:srgbClr val="5B6372"/>
                </a:solidFill>
                <a:latin typeface="Arial"/>
              </a:rPr>
              <a:t>–  Descriptive statistics (Lab 8)</a:t>
            </a:r>
          </a:p>
          <a:p>
            <a:pPr>
              <a:spcAft>
                <a:spcPts val="1000"/>
              </a:spcAft>
            </a:pPr>
            <a:r>
              <a:rPr sz="1400" b="0">
                <a:solidFill>
                  <a:srgbClr val="5B6372"/>
                </a:solidFill>
                <a:latin typeface="Arial"/>
              </a:rPr>
              <a:t>–  Hypothesis testing (Lab 9)</a:t>
            </a:r>
          </a:p>
          <a:p>
            <a:pPr>
              <a:spcAft>
                <a:spcPts val="1000"/>
              </a:spcAft>
            </a:pPr>
            <a:r>
              <a:rPr sz="1400" b="0">
                <a:solidFill>
                  <a:srgbClr val="5B6372"/>
                </a:solidFill>
                <a:latin typeface="Arial"/>
              </a:rPr>
              <a:t>–  Correlation and regression (Lab 10)</a:t>
            </a:r>
          </a:p>
          <a:p>
            <a:pPr>
              <a:spcAft>
                <a:spcPts val="1000"/>
              </a:spcAft>
            </a:pPr>
            <a:r>
              <a:rPr sz="1600" b="0">
                <a:solidFill>
                  <a:srgbClr val="161B26"/>
                </a:solidFill>
                <a:latin typeface="Arial"/>
              </a:rPr>
              <a:t>•  Every day</a:t>
            </a:r>
          </a:p>
          <a:p>
            <a:pPr>
              <a:spcAft>
                <a:spcPts val="1000"/>
              </a:spcAft>
            </a:pPr>
            <a:r>
              <a:rPr sz="1400" b="0">
                <a:solidFill>
                  <a:srgbClr val="5B6372"/>
                </a:solidFill>
                <a:latin typeface="Arial"/>
              </a:rPr>
              <a:t>–  9:00 am – 6:00 pm · 8 training hours</a:t>
            </a:r>
          </a:p>
          <a:p>
            <a:pPr>
              <a:spcAft>
                <a:spcPts val="1000"/>
              </a:spcAft>
            </a:pPr>
            <a:r>
              <a:rPr sz="1400" b="0">
                <a:solidFill>
                  <a:srgbClr val="5B6372"/>
                </a:solidFill>
                <a:latin typeface="Arial"/>
              </a:rPr>
              <a:t>–  1-hour lunch; tea breaks within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2 OF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Days 4 and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4</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5</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4 — Visualization, Dashboards and Reporting</a:t>
            </a:r>
          </a:p>
          <a:p>
            <a:pPr>
              <a:spcAft>
                <a:spcPts val="1000"/>
              </a:spcAft>
            </a:pPr>
            <a:r>
              <a:rPr sz="1400" b="0">
                <a:solidFill>
                  <a:srgbClr val="5B6372"/>
                </a:solidFill>
                <a:latin typeface="Arial"/>
              </a:rPr>
              <a:t>–  Domain 4: Visualization and Reporting</a:t>
            </a:r>
          </a:p>
          <a:p>
            <a:pPr>
              <a:spcAft>
                <a:spcPts val="1000"/>
              </a:spcAft>
            </a:pPr>
            <a:r>
              <a:rPr sz="1400" b="0">
                <a:solidFill>
                  <a:srgbClr val="5B6372"/>
                </a:solidFill>
                <a:latin typeface="Arial"/>
              </a:rPr>
              <a:t>–  Chart selection (Lab 11)</a:t>
            </a:r>
          </a:p>
          <a:p>
            <a:pPr>
              <a:spcAft>
                <a:spcPts val="1000"/>
              </a:spcAft>
            </a:pPr>
            <a:r>
              <a:rPr sz="1400" b="0">
                <a:solidFill>
                  <a:srgbClr val="5B6372"/>
                </a:solidFill>
                <a:latin typeface="Arial"/>
              </a:rPr>
              <a:t>–  KPI dashboard and validation (Lab 12)</a:t>
            </a:r>
          </a:p>
          <a:p>
            <a:pPr>
              <a:spcAft>
                <a:spcPts val="1000"/>
              </a:spcAft>
            </a:pPr>
            <a:r>
              <a:rPr sz="1400" b="0">
                <a:solidFill>
                  <a:srgbClr val="5B6372"/>
                </a:solidFill>
                <a:latin typeface="Arial"/>
              </a:rPr>
              <a:t>–  Report types and design principles</a:t>
            </a:r>
          </a:p>
          <a:p>
            <a:pPr>
              <a:spcAft>
                <a:spcPts val="1000"/>
              </a:spcAft>
            </a:pPr>
            <a:r>
              <a:rPr sz="1400" b="0">
                <a:solidFill>
                  <a:srgbClr val="5B6372"/>
                </a:solidFill>
                <a:latin typeface="Arial"/>
              </a:rPr>
              <a:t>–  Lunch · Digital Attendance (PM)</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5 — Data Governance, Quality, Controls and Final Assessment</a:t>
            </a:r>
          </a:p>
          <a:p>
            <a:pPr>
              <a:spcAft>
                <a:spcPts val="1000"/>
              </a:spcAft>
            </a:pPr>
            <a:r>
              <a:rPr sz="1400" b="0">
                <a:solidFill>
                  <a:srgbClr val="5B6372"/>
                </a:solidFill>
                <a:latin typeface="Arial"/>
              </a:rPr>
              <a:t>–  Domain 5: Governance, Quality, Controls</a:t>
            </a:r>
          </a:p>
          <a:p>
            <a:pPr>
              <a:spcAft>
                <a:spcPts val="1000"/>
              </a:spcAft>
            </a:pPr>
            <a:r>
              <a:rPr sz="1400" b="0">
                <a:solidFill>
                  <a:srgbClr val="5B6372"/>
                </a:solidFill>
                <a:latin typeface="Arial"/>
              </a:rPr>
              <a:t>–  Labs 13–15 · protect, assess risk, automate QA</a:t>
            </a:r>
          </a:p>
          <a:p>
            <a:pPr>
              <a:spcAft>
                <a:spcPts val="1000"/>
              </a:spcAft>
            </a:pPr>
            <a:r>
              <a:rPr sz="1400" b="0">
                <a:solidFill>
                  <a:srgbClr val="5B6372"/>
                </a:solidFill>
                <a:latin typeface="Arial"/>
              </a:rPr>
              <a:t>–  Revision across all five domains</a:t>
            </a:r>
          </a:p>
          <a:p>
            <a:pPr>
              <a:spcAft>
                <a:spcPts val="1000"/>
              </a:spcAft>
            </a:pPr>
            <a:r>
              <a:rPr sz="1400" b="0">
                <a:solidFill>
                  <a:srgbClr val="5B6372"/>
                </a:solidFill>
                <a:latin typeface="Arial"/>
              </a:rPr>
              <a:t>–  Course Feedback and TRAQOM Survey</a:t>
            </a:r>
          </a:p>
          <a:p>
            <a:pPr>
              <a:spcAft>
                <a:spcPts val="1000"/>
              </a:spcAft>
            </a:pPr>
            <a:r>
              <a:rPr sz="1400" b="0">
                <a:solidFill>
                  <a:srgbClr val="5B6372"/>
                </a:solidFill>
                <a:latin typeface="Arial"/>
              </a:rPr>
              <a:t>–  Digital Attendance (Assessment)</a:t>
            </a:r>
          </a:p>
          <a:p>
            <a:pPr>
              <a:spcAft>
                <a:spcPts val="1000"/>
              </a:spcAft>
            </a:pPr>
            <a:r>
              <a:rPr sz="1400" b="0">
                <a:solidFill>
                  <a:srgbClr val="5B6372"/>
                </a:solidFill>
                <a:latin typeface="Arial"/>
              </a:rPr>
              <a:t>–  Final Assessment 4:00–6:00 PM</a:t>
            </a:r>
          </a:p>
          <a:p>
            <a:pPr>
              <a:spcAft>
                <a:spcPts val="1000"/>
              </a:spcAft>
            </a:pPr>
            <a:r>
              <a:rPr sz="1400" b="0">
                <a:solidFill>
                  <a:srgbClr val="5B6372"/>
                </a:solidFill>
                <a:latin typeface="Arial"/>
              </a:rPr>
              <a:t>–  WA (1 hr) then PP (1 hr) · open book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TOOLS YOU'LL USE  ·  ALL BROWSER-BASED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Lab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Killercoda Ubuntu Playground</a:t>
            </a:r>
          </a:p>
          <a:p>
            <a:pPr algn="l">
              <a:spcAft>
                <a:spcPts val="300"/>
              </a:spcAft>
            </a:pPr>
            <a:r>
              <a:rPr sz="1100" b="0">
                <a:solidFill>
                  <a:srgbClr val="5B6372"/>
                </a:solidFill>
                <a:latin typeface="Arial"/>
              </a:rPr>
              <a:t>A free, browser-based Ubuntu terminal with Python 3, pandas and SQLite — no local install needed.  ·  https://killercoda.com/playgrounds/scenario/ubuntu</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RegexLab</a:t>
            </a:r>
          </a:p>
          <a:p>
            <a:pPr algn="l">
              <a:spcAft>
                <a:spcPts val="300"/>
              </a:spcAft>
            </a:pPr>
            <a:r>
              <a:rPr sz="1100" b="0">
                <a:solidFill>
                  <a:srgbClr val="5B6372"/>
                </a:solidFill>
                <a:latin typeface="Arial"/>
              </a:rPr>
              <a:t>Real-time regular-expression tester used to build and validate the parsing patterns that clean messy text fields.  ·  https://alfredang.github.io/regexgenerator/</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PCAP Analyzer</a:t>
            </a:r>
          </a:p>
          <a:p>
            <a:pPr algn="l">
              <a:spcAft>
                <a:spcPts val="300"/>
              </a:spcAft>
            </a:pPr>
            <a:r>
              <a:rPr sz="1100" b="0">
                <a:solidFill>
                  <a:srgbClr val="5B6372"/>
                </a:solidFill>
                <a:latin typeface="Arial"/>
              </a:rPr>
              <a:t>Browser-based packet-capture analyser — the course's worked example of machine/log data as a data source.  ·  https://alfredang.github.io/pcapanalyzer/</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IP Calculator</a:t>
            </a:r>
          </a:p>
          <a:p>
            <a:pPr algn="l">
              <a:spcAft>
                <a:spcPts val="300"/>
              </a:spcAft>
            </a:pPr>
            <a:r>
              <a:rPr sz="1100" b="0">
                <a:solidFill>
                  <a:srgbClr val="5B6372"/>
                </a:solidFill>
                <a:latin typeface="Arial"/>
              </a:rPr>
              <a:t>Subnet calculator used to derive structured numeric fields from raw network address data.  ·  https://alfredang.github.io/ipcalculator/</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Cybersecurity Threat Simulator</a:t>
            </a:r>
          </a:p>
          <a:p>
            <a:pPr algn="l">
              <a:spcAft>
                <a:spcPts val="300"/>
              </a:spcAft>
            </a:pPr>
            <a:r>
              <a:rPr sz="1100" b="0">
                <a:solidFill>
                  <a:srgbClr val="5B6372"/>
                </a:solidFill>
                <a:latin typeface="Arial"/>
              </a:rPr>
              <a:t>Risk-scoring and data-leakage simulator used in the governance domain to reason about classification and protection.  ·  https://alfredang.github.io/cybersecuritysimulator/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GITHUB  ·  ALL 15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100584"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847088"/>
            <a:ext cx="10058400" cy="502920"/>
          </a:xfrm>
          <a:prstGeom prst="rect">
            <a:avLst/>
          </a:prstGeom>
          <a:noFill/>
        </p:spPr>
        <p:txBody>
          <a:bodyPr wrap="square">
            <a:spAutoFit/>
          </a:bodyPr>
          <a:lstStyle/>
          <a:p>
            <a:r>
              <a:rPr sz="1300">
                <a:solidFill>
                  <a:srgbClr val="5B6372"/>
                </a:solidFill>
                <a:latin typeface="Arial"/>
              </a:rPr>
              <a:t>Repository:  </a:t>
            </a:r>
            <a:r>
              <a:rPr sz="1400" b="1">
                <a:solidFill>
                  <a:srgbClr val="1F6FEB"/>
                </a:solidFill>
                <a:latin typeface="Arial"/>
                <a:hlinkClick r:id="rId2"/>
              </a:rPr>
              <a:t>https://github.com/tertiarycourses/TGS-2024049212-CompTIA-Certified-Data-Training</a:t>
            </a:r>
          </a:p>
        </p:txBody>
      </p:sp>
      <p:sp>
        <p:nvSpPr>
          <p:cNvPr id="10" name="Rectangle 9"/>
          <p:cNvSpPr/>
          <p:nvPr/>
        </p:nvSpPr>
        <p:spPr>
          <a:xfrm>
            <a:off x="777240" y="2743200"/>
            <a:ext cx="5056632"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944368"/>
            <a:ext cx="4572000" cy="365760"/>
          </a:xfrm>
          <a:prstGeom prst="rect">
            <a:avLst/>
          </a:prstGeom>
          <a:noFill/>
        </p:spPr>
        <p:txBody>
          <a:bodyPr wrap="square" anchor="t">
            <a:spAutoFit/>
          </a:bodyPr>
          <a:lstStyle/>
          <a:p>
            <a:pPr algn="l">
              <a:spcAft>
                <a:spcPts val="400"/>
              </a:spcAft>
            </a:pPr>
            <a:r>
              <a:rPr sz="1500" b="1">
                <a:solidFill>
                  <a:srgbClr val="1F6FEB"/>
                </a:solidFill>
                <a:latin typeface="Arial"/>
              </a:rPr>
              <a:t>OPTION A · CLONE</a:t>
            </a:r>
          </a:p>
        </p:txBody>
      </p:sp>
      <p:sp>
        <p:nvSpPr>
          <p:cNvPr id="13" name="TextBox 12"/>
          <p:cNvSpPr txBox="1"/>
          <p:nvPr/>
        </p:nvSpPr>
        <p:spPr>
          <a:xfrm>
            <a:off x="1051560" y="340156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Open the Killercoda Ubuntu playground.</a:t>
            </a:r>
          </a:p>
        </p:txBody>
      </p:sp>
      <p:sp>
        <p:nvSpPr>
          <p:cNvPr id="14" name="TextBox 13"/>
          <p:cNvSpPr txBox="1"/>
          <p:nvPr/>
        </p:nvSpPr>
        <p:spPr>
          <a:xfrm>
            <a:off x="1051560" y="390448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git clone https://github.com/tertiarycourses/TGS-2024049212-CompTIA-Certified-Data-Training.git</a:t>
            </a:r>
          </a:p>
        </p:txBody>
      </p:sp>
      <p:sp>
        <p:nvSpPr>
          <p:cNvPr id="15" name="TextBox 14"/>
          <p:cNvSpPr txBox="1"/>
          <p:nvPr/>
        </p:nvSpPr>
        <p:spPr>
          <a:xfrm>
            <a:off x="1051560" y="440740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cd into the labs folder and start Lab 1.</a:t>
            </a:r>
          </a:p>
        </p:txBody>
      </p:sp>
      <p:sp>
        <p:nvSpPr>
          <p:cNvPr id="16" name="Rectangle 15"/>
          <p:cNvSpPr/>
          <p:nvPr/>
        </p:nvSpPr>
        <p:spPr>
          <a:xfrm>
            <a:off x="6355080" y="2743200"/>
            <a:ext cx="5056632"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274320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2944368"/>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OPTION B · DOWNLOAD ZIP</a:t>
            </a:r>
          </a:p>
        </p:txBody>
      </p:sp>
      <p:sp>
        <p:nvSpPr>
          <p:cNvPr id="19" name="TextBox 18"/>
          <p:cNvSpPr txBox="1"/>
          <p:nvPr/>
        </p:nvSpPr>
        <p:spPr>
          <a:xfrm>
            <a:off x="6629400" y="340156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Open the repository page on GitHub.</a:t>
            </a:r>
          </a:p>
        </p:txBody>
      </p:sp>
      <p:sp>
        <p:nvSpPr>
          <p:cNvPr id="20" name="TextBox 19"/>
          <p:cNvSpPr txBox="1"/>
          <p:nvPr/>
        </p:nvSpPr>
        <p:spPr>
          <a:xfrm>
            <a:off x="6629400" y="390448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Click the green Code button → Download ZIP.</a:t>
            </a:r>
          </a:p>
        </p:txBody>
      </p:sp>
      <p:sp>
        <p:nvSpPr>
          <p:cNvPr id="21" name="TextBox 20"/>
          <p:cNvSpPr txBox="1"/>
          <p:nvPr/>
        </p:nvSpPr>
        <p:spPr>
          <a:xfrm>
            <a:off x="6629400" y="440740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Unzip it and open the labs folder.</a:t>
            </a:r>
          </a:p>
        </p:txBody>
      </p:sp>
      <p:sp>
        <p:nvSpPr>
          <p:cNvPr id="22" name="Rectangle 21"/>
          <p:cNvSpPr/>
          <p:nvPr/>
        </p:nvSpPr>
        <p:spPr>
          <a:xfrm>
            <a:off x="777240" y="539496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94960"/>
            <a:ext cx="100584"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504688"/>
            <a:ext cx="10058400" cy="292608"/>
          </a:xfrm>
          <a:prstGeom prst="rect">
            <a:avLst/>
          </a:prstGeom>
          <a:noFill/>
        </p:spPr>
        <p:txBody>
          <a:bodyPr wrap="square" anchor="t">
            <a:spAutoFit/>
          </a:bodyPr>
          <a:lstStyle/>
          <a:p>
            <a:pPr algn="l">
              <a:spcAft>
                <a:spcPts val="400"/>
              </a:spcAft>
            </a:pPr>
            <a:r>
              <a:rPr sz="1100" b="1">
                <a:solidFill>
                  <a:srgbClr val="10B981"/>
                </a:solidFill>
                <a:latin typeface="Arial"/>
              </a:rPr>
              <a:t>NO INSTALL NEEDED</a:t>
            </a:r>
          </a:p>
        </p:txBody>
      </p:sp>
      <p:sp>
        <p:nvSpPr>
          <p:cNvPr id="25" name="TextBox 24"/>
          <p:cNvSpPr txBox="1"/>
          <p:nvPr/>
        </p:nvSpPr>
        <p:spPr>
          <a:xfrm>
            <a:off x="1097280" y="5797296"/>
            <a:ext cx="10058400" cy="384048"/>
          </a:xfrm>
          <a:prstGeom prst="rect">
            <a:avLst/>
          </a:prstGeom>
          <a:noFill/>
        </p:spPr>
        <p:txBody>
          <a:bodyPr wrap="square" anchor="t">
            <a:spAutoFit/>
          </a:bodyPr>
          <a:lstStyle/>
          <a:p>
            <a:pPr algn="l">
              <a:spcAft>
                <a:spcPts val="400"/>
              </a:spcAft>
            </a:pPr>
            <a:r>
              <a:rPr sz="1200" b="0">
                <a:solidFill>
                  <a:srgbClr val="161B26"/>
                </a:solidFill>
                <a:latin typeface="Arial"/>
              </a:rPr>
              <a:t>Every lab runs free in the browser on the Killercoda Ubuntu playground — https://killercoda.com/playgrounds/scenario/ubuntu</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Assessment 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1 hour · individual · summative · open book.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Scenario-based hands-on data tasks · 1 hour · individual · summative · open book.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 means</a:t>
            </a:r>
          </a:p>
          <a:p>
            <a:pPr algn="l">
              <a:spcAft>
                <a:spcPts val="300"/>
              </a:spcAft>
            </a:pPr>
            <a:r>
              <a:rPr sz="1200" b="0">
                <a:solidFill>
                  <a:srgbClr val="5B6372"/>
                </a:solidFill>
                <a:latin typeface="Arial"/>
              </a:rPr>
              <a:t>Course slides, the Learner Guide and other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 attendance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Assessment attendance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TRAQOM digital attendance or the course feedback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feedback</a:t>
            </a:r>
          </a:p>
          <a:p>
            <a:pPr algn="l">
              <a:spcAft>
                <a:spcPts val="300"/>
              </a:spcAft>
            </a:pPr>
            <a:r>
              <a:rPr sz="1300" b="0">
                <a:solidFill>
                  <a:srgbClr val="5B6372"/>
                </a:solidFill>
                <a:latin typeface="Arial"/>
              </a:rPr>
              <a:t>Complete the mandatory course feedback / TRAQOM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01  ·  20%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Concepts and Environments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Database types · data structures · file extensions · data types · data sources · infrastructure · tools · AI concepts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advClick="1">
    <p:push dir="l"/>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DOMAIN COVERS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1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Schemas are designed first</a:t>
            </a:r>
          </a:p>
          <a:p>
            <a:pPr algn="l">
              <a:spcAft>
                <a:spcPts val="300"/>
              </a:spcAft>
            </a:pPr>
            <a:r>
              <a:rPr sz="1000" b="0">
                <a:solidFill>
                  <a:srgbClr val="5B6372"/>
                </a:solidFill>
                <a:latin typeface="Arial"/>
              </a:rPr>
              <a:t>A data schema describes both how data is organised and how tables relate to one another — it is designed before a single row is written.</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Relational vs non-relational</a:t>
            </a:r>
          </a:p>
          <a:p>
            <a:pPr algn="l">
              <a:spcAft>
                <a:spcPts val="300"/>
              </a:spcAft>
            </a:pPr>
            <a:r>
              <a:rPr sz="1000" b="0">
                <a:solidFill>
                  <a:srgbClr val="5B6372"/>
                </a:solidFill>
                <a:latin typeface="Arial"/>
              </a:rPr>
              <a:t>Relational databases store data in linked tables and are queried with SQL; non-relational (NoSQL) stores trade fixed schemas for scale and flexibility.</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Normalise, then denormalise</a:t>
            </a:r>
          </a:p>
          <a:p>
            <a:pPr algn="l">
              <a:spcAft>
                <a:spcPts val="300"/>
              </a:spcAft>
            </a:pPr>
            <a:r>
              <a:rPr sz="1000" b="0">
                <a:solidFill>
                  <a:srgbClr val="5B6372"/>
                </a:solidFill>
                <a:latin typeface="Arial"/>
              </a:rPr>
              <a:t>Normalisation (1NF–5NF) removes redundancy; denormalisation deliberately re-introduces it to make analytical queries fast.</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OLTP vs OLAP</a:t>
            </a:r>
          </a:p>
          <a:p>
            <a:pPr algn="l">
              <a:spcAft>
                <a:spcPts val="300"/>
              </a:spcAft>
            </a:pPr>
            <a:r>
              <a:rPr sz="1000" b="0">
                <a:solidFill>
                  <a:srgbClr val="5B6372"/>
                </a:solidFill>
                <a:latin typeface="Arial"/>
              </a:rPr>
              <a:t>OLTP systems are built for many small real-time transactions; OLAP systems are built for long, complex analytical queries.</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Warehouse, mart, lake, lakehouse</a:t>
            </a:r>
          </a:p>
          <a:p>
            <a:pPr algn="l">
              <a:spcAft>
                <a:spcPts val="300"/>
              </a:spcAft>
            </a:pPr>
            <a:r>
              <a:rPr sz="1000" b="0">
                <a:solidFill>
                  <a:srgbClr val="5B6372"/>
                </a:solidFill>
                <a:latin typeface="Arial"/>
              </a:rPr>
              <a:t>Data warehouses, data marts, data lakes and lakehouses each hold data at a different level of structure, cost and query flexibility.</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Structure and file formats</a:t>
            </a:r>
          </a:p>
          <a:p>
            <a:pPr algn="l">
              <a:spcAft>
                <a:spcPts val="300"/>
              </a:spcAft>
            </a:pPr>
            <a:r>
              <a:rPr sz="1000" b="0">
                <a:solidFill>
                  <a:srgbClr val="5B6372"/>
                </a:solidFill>
                <a:latin typeface="Arial"/>
              </a:rPr>
              <a:t>Data is structured, semi-structured or unstructured, and is carried in file formats such as CSV, TSV, JSON, XML, XLSX and Parquet.</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Cloud, containers and AI</a:t>
            </a:r>
          </a:p>
          <a:p>
            <a:pPr algn="l">
              <a:spcAft>
                <a:spcPts val="300"/>
              </a:spcAft>
            </a:pPr>
            <a:r>
              <a:rPr sz="1000" b="0">
                <a:solidFill>
                  <a:srgbClr val="5B6372"/>
                </a:solidFill>
                <a:latin typeface="Arial"/>
              </a:rPr>
              <a:t>Modern data platforms run on-premise, in the cloud or in containers, and AI/ML, NLP and RPA are now standard parts of the data toolchain.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DATA SCHEMAS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schema is a plan, not an afterthought.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data schema describes both the organisation of the data and the relationships between tables. Database engineers design the schema BEFORE they create the system — because changing it later means migrating every row.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DATABASE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Relational vs Non-Relational Databases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Characteristic</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Relational (SQL)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Non-Relational (NoSQL)</a:t>
            </a:r>
          </a:p>
        </p:txBody>
      </p:sp>
      <p:sp>
        <p:nvSpPr>
          <p:cNvPr id="13" name="Rectangle 12"/>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Structure</a:t>
            </a:r>
          </a:p>
        </p:txBody>
      </p:sp>
      <p:sp>
        <p:nvSpPr>
          <p:cNvPr id="15" name="Rectangle 14"/>
          <p:cNvSpPr/>
          <p:nvPr/>
        </p:nvSpPr>
        <p:spPr>
          <a:xfrm>
            <a:off x="3542202"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Tables of rows and columns</a:t>
            </a:r>
          </a:p>
        </p:txBody>
      </p:sp>
      <p:sp>
        <p:nvSpPr>
          <p:cNvPr id="17" name="Rectangle 16"/>
          <p:cNvSpPr/>
          <p:nvPr/>
        </p:nvSpPr>
        <p:spPr>
          <a:xfrm>
            <a:off x="7476957"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Documents, key-value, column or graph</a:t>
            </a:r>
          </a:p>
        </p:txBody>
      </p:sp>
      <p:sp>
        <p:nvSpPr>
          <p:cNvPr id="19" name="Rectangle 18"/>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Schema</a:t>
            </a:r>
          </a:p>
        </p:txBody>
      </p:sp>
      <p:sp>
        <p:nvSpPr>
          <p:cNvPr id="21" name="Rectangle 20"/>
          <p:cNvSpPr/>
          <p:nvPr/>
        </p:nvSpPr>
        <p:spPr>
          <a:xfrm>
            <a:off x="3542202"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Fixed, defined before loading</a:t>
            </a:r>
          </a:p>
        </p:txBody>
      </p:sp>
      <p:sp>
        <p:nvSpPr>
          <p:cNvPr id="23" name="Rectangle 22"/>
          <p:cNvSpPr/>
          <p:nvPr/>
        </p:nvSpPr>
        <p:spPr>
          <a:xfrm>
            <a:off x="7476957"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Flexible, schema-on-read</a:t>
            </a:r>
          </a:p>
        </p:txBody>
      </p:sp>
      <p:sp>
        <p:nvSpPr>
          <p:cNvPr id="25" name="Rectangle 24"/>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Query language</a:t>
            </a:r>
          </a:p>
        </p:txBody>
      </p:sp>
      <p:sp>
        <p:nvSpPr>
          <p:cNvPr id="27" name="Rectangle 26"/>
          <p:cNvSpPr/>
          <p:nvPr/>
        </p:nvSpPr>
        <p:spPr>
          <a:xfrm>
            <a:off x="3542202"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SQL — standard across vendors</a:t>
            </a:r>
          </a:p>
        </p:txBody>
      </p:sp>
      <p:sp>
        <p:nvSpPr>
          <p:cNvPr id="29" name="Rectangle 28"/>
          <p:cNvSpPr/>
          <p:nvPr/>
        </p:nvSpPr>
        <p:spPr>
          <a:xfrm>
            <a:off x="7476957"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Vendor APIs, GraphQL, MongoDB query</a:t>
            </a:r>
          </a:p>
        </p:txBody>
      </p:sp>
      <p:sp>
        <p:nvSpPr>
          <p:cNvPr id="31" name="Rectangle 30"/>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Field limits</a:t>
            </a:r>
          </a:p>
        </p:txBody>
      </p:sp>
      <p:sp>
        <p:nvSpPr>
          <p:cNvPr id="33" name="Rectangle 32"/>
          <p:cNvSpPr/>
          <p:nvPr/>
        </p:nvSpPr>
        <p:spPr>
          <a:xfrm>
            <a:off x="3542202"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Typed, length-constrained fields</a:t>
            </a:r>
          </a:p>
        </p:txBody>
      </p:sp>
      <p:sp>
        <p:nvSpPr>
          <p:cNvPr id="35" name="Rectangle 34"/>
          <p:cNvSpPr/>
          <p:nvPr/>
        </p:nvSpPr>
        <p:spPr>
          <a:xfrm>
            <a:off x="7476957"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Store as much as you want per key</a:t>
            </a:r>
          </a:p>
        </p:txBody>
      </p:sp>
      <p:sp>
        <p:nvSpPr>
          <p:cNvPr id="37" name="Rectangle 3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Scaling</a:t>
            </a:r>
          </a:p>
        </p:txBody>
      </p:sp>
      <p:sp>
        <p:nvSpPr>
          <p:cNvPr id="39" name="Rectangle 38"/>
          <p:cNvSpPr/>
          <p:nvPr/>
        </p:nvSpPr>
        <p:spPr>
          <a:xfrm>
            <a:off x="3542202"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Vertical — a bigger server</a:t>
            </a:r>
          </a:p>
        </p:txBody>
      </p:sp>
      <p:sp>
        <p:nvSpPr>
          <p:cNvPr id="41" name="Rectangle 40"/>
          <p:cNvSpPr/>
          <p:nvPr/>
        </p:nvSpPr>
        <p:spPr>
          <a:xfrm>
            <a:off x="7476957"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Horizontal — add more nodes</a:t>
            </a:r>
          </a:p>
        </p:txBody>
      </p:sp>
      <p:sp>
        <p:nvSpPr>
          <p:cNvPr id="43" name="Rectangle 42"/>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Best for</a:t>
            </a:r>
          </a:p>
        </p:txBody>
      </p:sp>
      <p:sp>
        <p:nvSpPr>
          <p:cNvPr id="45" name="Rectangle 44"/>
          <p:cNvSpPr/>
          <p:nvPr/>
        </p:nvSpPr>
        <p:spPr>
          <a:xfrm>
            <a:off x="3542202"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Transactions, integrity, joins</a:t>
            </a:r>
          </a:p>
        </p:txBody>
      </p:sp>
      <p:sp>
        <p:nvSpPr>
          <p:cNvPr id="47" name="Rectangle 46"/>
          <p:cNvSpPr/>
          <p:nvPr/>
        </p:nvSpPr>
        <p:spPr>
          <a:xfrm>
            <a:off x="7476957"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Huge volume, varied or unstructured data</a:t>
            </a:r>
          </a:p>
        </p:txBody>
      </p:sp>
      <p:sp>
        <p:nvSpPr>
          <p:cNvPr id="49" name="Rectangle 48"/>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51" name="Rectangle 50"/>
          <p:cNvSpPr/>
          <p:nvPr/>
        </p:nvSpPr>
        <p:spPr>
          <a:xfrm>
            <a:off x="3542202"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MySQL, MariaDB, PostgreSQL, Aurora</a:t>
            </a:r>
          </a:p>
        </p:txBody>
      </p:sp>
      <p:sp>
        <p:nvSpPr>
          <p:cNvPr id="53" name="Rectangle 52"/>
          <p:cNvSpPr/>
          <p:nvPr/>
        </p:nvSpPr>
        <p:spPr>
          <a:xfrm>
            <a:off x="7476957"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MongoDB, Redis, Cassandra, Neo4j</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Remember for the exam: SQL = relational. NoSQL or GraphQL = non-relational.</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NoSQL FAMILIES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Non-Relational Database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Document-oriented</a:t>
            </a:r>
          </a:p>
          <a:p>
            <a:pPr algn="l">
              <a:spcAft>
                <a:spcPts val="300"/>
              </a:spcAft>
            </a:pPr>
            <a:r>
              <a:rPr sz="1200" b="0">
                <a:solidFill>
                  <a:srgbClr val="5B6372"/>
                </a:solidFill>
                <a:latin typeface="Arial"/>
              </a:rPr>
              <a:t>Stores each record as a self-describing XML or JSON document. Example: MongoDB, CouchDB.</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Key-value store</a:t>
            </a:r>
          </a:p>
          <a:p>
            <a:pPr algn="l">
              <a:spcAft>
                <a:spcPts val="300"/>
              </a:spcAft>
            </a:pPr>
            <a:r>
              <a:rPr sz="1200" b="0">
                <a:solidFill>
                  <a:srgbClr val="5B6372"/>
                </a:solidFill>
                <a:latin typeface="Arial"/>
              </a:rPr>
              <a:t>Stores each value against a unique key — the simplest and fastest model. Example: Redis, DynamoDB.</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Column-oriented</a:t>
            </a:r>
          </a:p>
          <a:p>
            <a:pPr algn="l">
              <a:spcAft>
                <a:spcPts val="300"/>
              </a:spcAft>
            </a:pPr>
            <a:r>
              <a:rPr sz="1200" b="0">
                <a:solidFill>
                  <a:srgbClr val="5B6372"/>
                </a:solidFill>
                <a:latin typeface="Arial"/>
              </a:rPr>
              <a:t>Stores data down columns instead of across rows, which makes analytical scans very fast. Example: Cassandra, HBase.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Graph store</a:t>
            </a:r>
          </a:p>
          <a:p>
            <a:pPr algn="l">
              <a:spcAft>
                <a:spcPts val="300"/>
              </a:spcAft>
            </a:pPr>
            <a:r>
              <a:rPr sz="1200" b="0">
                <a:solidFill>
                  <a:srgbClr val="5B6372"/>
                </a:solidFill>
                <a:latin typeface="Arial"/>
              </a:rPr>
              <a:t>Stores entities as nodes and relationships as edges, so linked queries are cheap. Example: Neo4j, Amazon Neptune.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NORMALIZATION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Normalisation — 1NF to 5NF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1NF</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repeating groups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2NF</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partial key deps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3NF</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transitive deps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4NF</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multi-valued deps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5NF</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join dependencies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GOAL</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Normalisation removes redundancy so an update happens in exactly one place. Each form builds on the one before it.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DESIGN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Should I Normalise or Denormalise?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Is this database serving transactions or analytics?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NORMALISE  →  OLTP</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Many small writes, integrity matters most. Remove every redundancy so an update touches one row. This is your operational database.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DENORMALISE  →  OLAP</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Few huge reads, speed matters most. Deliberately repeat data to avoid expensive joins. This is your warehouse, mart or reporting layer.</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Data warehousing, mining, analysis and visualization all work on deliberately denormalised data.</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DATABASE RELATIONSHIPS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Keys and Relationships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Primary key</a:t>
            </a:r>
          </a:p>
          <a:p>
            <a:pPr algn="l">
              <a:spcAft>
                <a:spcPts val="300"/>
              </a:spcAft>
            </a:pPr>
            <a:r>
              <a:rPr sz="1200" b="0">
                <a:solidFill>
                  <a:srgbClr val="5B6372"/>
                </a:solidFill>
                <a:latin typeface="Arial"/>
              </a:rPr>
              <a:t>A unique identifier for a record that cannot contain duplicates or nulls. Every table needs 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Foreign key</a:t>
            </a:r>
          </a:p>
          <a:p>
            <a:pPr algn="l">
              <a:spcAft>
                <a:spcPts val="300"/>
              </a:spcAft>
            </a:pPr>
            <a:r>
              <a:rPr sz="1200" b="0">
                <a:solidFill>
                  <a:srgbClr val="5B6372"/>
                </a:solidFill>
                <a:latin typeface="Arial"/>
              </a:rPr>
              <a:t>A primary key from one table referenced by another — this is what creates the relationship.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One-to-one</a:t>
            </a:r>
          </a:p>
          <a:p>
            <a:pPr algn="l">
              <a:spcAft>
                <a:spcPts val="300"/>
              </a:spcAft>
            </a:pPr>
            <a:r>
              <a:rPr sz="1200" b="0">
                <a:solidFill>
                  <a:srgbClr val="5B6372"/>
                </a:solidFill>
                <a:latin typeface="Arial"/>
              </a:rPr>
              <a:t>One record relates to exactly one record in the other table (person ↔ passport).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One-to-many</a:t>
            </a:r>
          </a:p>
          <a:p>
            <a:pPr algn="l">
              <a:spcAft>
                <a:spcPts val="300"/>
              </a:spcAft>
            </a:pPr>
            <a:r>
              <a:rPr sz="1200" b="0">
                <a:solidFill>
                  <a:srgbClr val="5B6372"/>
                </a:solidFill>
                <a:latin typeface="Arial"/>
              </a:rPr>
              <a:t>One record relates to many records in another table (customer → many orders).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Many-to-many</a:t>
            </a:r>
          </a:p>
          <a:p>
            <a:pPr algn="l">
              <a:spcAft>
                <a:spcPts val="300"/>
              </a:spcAft>
            </a:pPr>
            <a:r>
              <a:rPr sz="1200" b="0">
                <a:solidFill>
                  <a:srgbClr val="5B6372"/>
                </a:solidFill>
                <a:latin typeface="Arial"/>
              </a:rPr>
              <a:t>Many records relate to many others, resolved with a junction table (students ↔ courses).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Referential integrity</a:t>
            </a:r>
          </a:p>
          <a:p>
            <a:pPr algn="l">
              <a:spcAft>
                <a:spcPts val="300"/>
              </a:spcAft>
            </a:pPr>
            <a:r>
              <a:rPr sz="1200" b="0">
                <a:solidFill>
                  <a:srgbClr val="5B6372"/>
                </a:solidFill>
                <a:latin typeface="Arial"/>
              </a:rPr>
              <a:t>Guarantees every foreign key value actually exists in the parent table — no orphans.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REFERENTIAL INTEGRITY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Cascade your changes, or orphan your data.</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When a parent record is updated or deleted, ON UPDATE CASCADE and ON DELETE CASCADE push that change through every dependent record. Without them, deleting a customer leaves their orders pointing at nothing — the classic integrity failure you will build and break in Lab 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DATA SYSTEMS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OLTP vs OLAP — Two Different Jobs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Characteristic</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OLTP</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OLAP</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Purpose</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Run the business</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Analyse the business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Transaction type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Insert, update, delete, small query</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Long, complex analytical query</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Volume per query</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One or a few rows</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Millions of rows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Users</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Many concurrent operational users</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Fewer analysts and reports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Data model</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Normalised (3NF)</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Denormalised (star / snowflake)</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Point-of-sale, booking system</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Data warehouse, BI dashboard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Choosing the wrong system is a classic cause of performance problems — a heavy analytical query on an OLTP database will lock up the business.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WAREHOUSE ARCHITECTURE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Source System to Insight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Source systems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Clickstream, sales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Ingest / ETL</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Extract, transform, load</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Data warehouse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Single source of truth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Data marts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Departmental subsets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Reports &amp; BI</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The decision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warehouse combines many source systems into one consistent, efficient place — the single source of truth every report can agree 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WAREHOUSE SCHEMAS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Star vs Snowflake Schema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Star Schema</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Snowflake Schema</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Shape</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Fact table with one ring of dimensions</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Dimensions branch into further dimensions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Dimension depth</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One level — denormalised</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Multiple levels — normalised</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Joins per query</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Fewer</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More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Query speed</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Faster</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Slower</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Storage</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More redundancy, more space</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Less redundancy, less space</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Maintenance</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Simpler to query, more to update</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Harder to query, easier to update</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fact table holds the measures and the keys; a dimension table holds the descriptive attributes.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STORAGE ARCHITECTURES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Warehouse · Mart · Lake · Lakehouse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warehouse</a:t>
            </a:r>
          </a:p>
          <a:p>
            <a:pPr algn="l">
              <a:spcAft>
                <a:spcPts val="300"/>
              </a:spcAft>
            </a:pPr>
            <a:r>
              <a:rPr sz="1200" b="0">
                <a:solidFill>
                  <a:srgbClr val="5B6372"/>
                </a:solidFill>
                <a:latin typeface="Arial"/>
              </a:rPr>
              <a:t>Structured, schema-on-write, single source of truth. Built for reliable, repeatable reporting.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mart</a:t>
            </a:r>
          </a:p>
          <a:p>
            <a:pPr algn="l">
              <a:spcAft>
                <a:spcPts val="300"/>
              </a:spcAft>
            </a:pPr>
            <a:r>
              <a:rPr sz="1200" b="0">
                <a:solidFill>
                  <a:srgbClr val="5B6372"/>
                </a:solidFill>
                <a:latin typeface="Arial"/>
              </a:rPr>
              <a:t>A subset of the warehouse for one department, so their queries do not slow anyone else down.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lake</a:t>
            </a:r>
          </a:p>
          <a:p>
            <a:pPr algn="l">
              <a:spcAft>
                <a:spcPts val="300"/>
              </a:spcAft>
            </a:pPr>
            <a:r>
              <a:rPr sz="1200" b="0">
                <a:solidFill>
                  <a:srgbClr val="5B6372"/>
                </a:solidFill>
                <a:latin typeface="Arial"/>
              </a:rPr>
              <a:t>A centralised repository holding structured AND unstructured data cheaply, schema-on-read.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lakehouse</a:t>
            </a:r>
          </a:p>
          <a:p>
            <a:pPr algn="l">
              <a:spcAft>
                <a:spcPts val="300"/>
              </a:spcAft>
            </a:pPr>
            <a:r>
              <a:rPr sz="1200" b="0">
                <a:solidFill>
                  <a:srgbClr val="5B6372"/>
                </a:solidFill>
                <a:latin typeface="Arial"/>
              </a:rPr>
              <a:t>Queries data in place on the lake using an added schema layer — lake economics, warehouse queries.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OLAP cube</a:t>
            </a:r>
          </a:p>
          <a:p>
            <a:pPr algn="l">
              <a:spcAft>
                <a:spcPts val="300"/>
              </a:spcAft>
            </a:pPr>
            <a:r>
              <a:rPr sz="1200" b="0">
                <a:solidFill>
                  <a:srgbClr val="5B6372"/>
                </a:solidFill>
                <a:latin typeface="Arial"/>
              </a:rPr>
              <a:t>A pre-aggregated multi-dimensional structure that answers expected queries almost instantly.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Choosing</a:t>
            </a:r>
          </a:p>
          <a:p>
            <a:pPr algn="l">
              <a:spcAft>
                <a:spcPts val="300"/>
              </a:spcAft>
            </a:pPr>
            <a:r>
              <a:rPr sz="1200" b="0">
                <a:solidFill>
                  <a:srgbClr val="5B6372"/>
                </a:solidFill>
                <a:latin typeface="Arial"/>
              </a:rPr>
              <a:t>Structured and well-understood → warehouse. Varied, raw and high-volume → lake or lakehouse.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CHANGING DIMENSIONAL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Slowly Changing Dimensions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problem</a:t>
            </a:r>
          </a:p>
          <a:p>
            <a:pPr algn="l">
              <a:spcAft>
                <a:spcPts val="300"/>
              </a:spcAft>
            </a:pPr>
            <a:r>
              <a:rPr sz="1200" b="0">
                <a:solidFill>
                  <a:srgbClr val="5B6372"/>
                </a:solidFill>
                <a:latin typeface="Arial"/>
              </a:rPr>
              <a:t>A dimension table holds descriptive metadata — but names, addresses and categories change over time.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Type 1</a:t>
            </a:r>
          </a:p>
          <a:p>
            <a:pPr algn="l">
              <a:spcAft>
                <a:spcPts val="300"/>
              </a:spcAft>
            </a:pPr>
            <a:r>
              <a:rPr sz="1200" b="0">
                <a:solidFill>
                  <a:srgbClr val="5B6372"/>
                </a:solidFill>
                <a:latin typeface="Arial"/>
              </a:rPr>
              <a:t>Overwrite the old value. Simple, but the history is gone forever — you can never query the old name.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Type 2</a:t>
            </a:r>
          </a:p>
          <a:p>
            <a:pPr algn="l">
              <a:spcAft>
                <a:spcPts val="300"/>
              </a:spcAft>
            </a:pPr>
            <a:r>
              <a:rPr sz="1200" b="0">
                <a:solidFill>
                  <a:srgbClr val="5B6372"/>
                </a:solidFill>
                <a:latin typeface="Arial"/>
              </a:rPr>
              <a:t>Add a new row with effective dates. Keeps the COMPLETE history, at the cost of more rows.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Type 3</a:t>
            </a:r>
          </a:p>
          <a:p>
            <a:pPr algn="l">
              <a:spcAft>
                <a:spcPts val="300"/>
              </a:spcAft>
            </a:pPr>
            <a:r>
              <a:rPr sz="1200" b="0">
                <a:solidFill>
                  <a:srgbClr val="5B6372"/>
                </a:solidFill>
                <a:latin typeface="Arial"/>
              </a:rPr>
              <a:t>Add a 'previous value' column. Keeps current and prior only — a compromise between Type 1 and Type 2.</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TYPES AND CHARACTERISTICS OF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Quantitative vs Qualitative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Quantitative (numeric)</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Qualitative (categorical)</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Definition</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Measured with numbers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Grouped by a quality or category</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Sub-type 1</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Discrete — countable whole values (orders)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Nominal — named, no order (city, colour)</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Sub-type 2</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Continuous — any value in a range (weight)</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Ordinal — ordered categories (small/medium/large)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Maths allowed</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Full arithmetic — sum, mean, SD</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Counts and modes only</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Typical chart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Histogram, line, scatter</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Bar chart, pie chart</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Getting this wrong is the root cause of nonsense analysis — you cannot take the mean of a postal code.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Field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Character / text / string</a:t>
            </a:r>
          </a:p>
          <a:p>
            <a:pPr algn="l">
              <a:spcAft>
                <a:spcPts val="300"/>
              </a:spcAft>
            </a:pPr>
            <a:r>
              <a:rPr sz="1200" b="0">
                <a:solidFill>
                  <a:srgbClr val="5B6372"/>
                </a:solidFill>
                <a:latin typeface="Arial"/>
              </a:rPr>
              <a:t>Alphanumeric. A number stored as text CANNOT be used in arithmetic until it is converted.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Numeric — integer</a:t>
            </a:r>
          </a:p>
          <a:p>
            <a:pPr algn="l">
              <a:spcAft>
                <a:spcPts val="300"/>
              </a:spcAft>
            </a:pPr>
            <a:r>
              <a:rPr sz="1200" b="0">
                <a:solidFill>
                  <a:srgbClr val="5B6372"/>
                </a:solidFill>
                <a:latin typeface="Arial"/>
              </a:rPr>
              <a:t>Whole numbers only. Use for counts, IDs and quantities.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Numeric — decimal / float</a:t>
            </a:r>
          </a:p>
          <a:p>
            <a:pPr algn="l">
              <a:spcAft>
                <a:spcPts val="300"/>
              </a:spcAft>
            </a:pPr>
            <a:r>
              <a:rPr sz="1200" b="0">
                <a:solidFill>
                  <a:srgbClr val="5B6372"/>
                </a:solidFill>
                <a:latin typeface="Arial"/>
              </a:rPr>
              <a:t>Fractional values. Beware floating-point rounding in financial calculations.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Currency</a:t>
            </a:r>
          </a:p>
          <a:p>
            <a:pPr algn="l">
              <a:spcAft>
                <a:spcPts val="300"/>
              </a:spcAft>
            </a:pPr>
            <a:r>
              <a:rPr sz="1200" b="0">
                <a:solidFill>
                  <a:srgbClr val="5B6372"/>
                </a:solidFill>
                <a:latin typeface="Arial"/>
              </a:rPr>
              <a:t>A special numeric type fixed at two decimal places, representing money.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Date / datetime</a:t>
            </a:r>
          </a:p>
          <a:p>
            <a:pPr algn="l">
              <a:spcAft>
                <a:spcPts val="300"/>
              </a:spcAft>
            </a:pPr>
            <a:r>
              <a:rPr sz="1200" b="0">
                <a:solidFill>
                  <a:srgbClr val="5B6372"/>
                </a:solidFill>
                <a:latin typeface="Arial"/>
              </a:rPr>
              <a:t>A calendar date, optionally with a time. Decide the format and the century convention up front.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Boolean</a:t>
            </a:r>
          </a:p>
          <a:p>
            <a:pPr algn="l">
              <a:spcAft>
                <a:spcPts val="300"/>
              </a:spcAft>
            </a:pPr>
            <a:r>
              <a:rPr sz="1200" b="0">
                <a:solidFill>
                  <a:srgbClr val="5B6372"/>
                </a:solidFill>
                <a:latin typeface="Arial"/>
              </a:rPr>
              <a:t>Exactly two values — true/false, yes/no, 1/0. The basis of all logical operations.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CONVERTING DATA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Data is dynamic, not static.</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Just because a value was stored as text does not mean it must stay text. Converting a text field to an integer, decimal or date is a routine, expected part of preparation — and it is what makes calculation possible.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STRUCTURES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Structured · Semi-Structured · Unstructured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Structured</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Semi-structured</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Unstructured</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Organisation</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Fixed rows and columns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Self-describing tags/keys</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None</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Schema</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Defined before loading</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Carried inside the file</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 schema at all</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SQL tables, CSV</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JSON, XML, HTML, e-mail</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Text, images, audio, video</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Storage</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Relational database</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Document store, lake</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Blob (Azure) / Bucket (AWS)</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Query effort</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 — query directly</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Moderate — parse then query</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 — extract before you can query</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You measure this difference yourself in Lab 2 — the same record in all three forms.</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FILE EXTENSIONS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File Formats and Extensions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.CSV</a:t>
            </a:r>
          </a:p>
          <a:p>
            <a:pPr algn="l">
              <a:spcAft>
                <a:spcPts val="300"/>
              </a:spcAft>
            </a:pPr>
            <a:r>
              <a:rPr sz="1100" b="0">
                <a:solidFill>
                  <a:srgbClr val="5B6372"/>
                </a:solidFill>
                <a:latin typeface="Arial"/>
              </a:rPr>
              <a:t>Comma-separated values — the universal flat file. One record per 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.TSV / .TAB</a:t>
            </a:r>
          </a:p>
          <a:p>
            <a:pPr algn="l">
              <a:spcAft>
                <a:spcPts val="300"/>
              </a:spcAft>
            </a:pPr>
            <a:r>
              <a:rPr sz="1100" b="0">
                <a:solidFill>
                  <a:srgbClr val="5B6372"/>
                </a:solidFill>
                <a:latin typeface="Arial"/>
              </a:rPr>
              <a:t>Tab-separated. Safer than CSV when the data itself contains commas.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.TXT</a:t>
            </a:r>
          </a:p>
          <a:p>
            <a:pPr algn="l">
              <a:spcAft>
                <a:spcPts val="300"/>
              </a:spcAft>
            </a:pPr>
            <a:r>
              <a:rPr sz="1100" b="0">
                <a:solidFill>
                  <a:srgbClr val="5B6372"/>
                </a:solidFill>
                <a:latin typeface="Arial"/>
              </a:rPr>
              <a:t>Plain text with any delimiter you choose — pipe, semicolon, fixed width.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.JSON</a:t>
            </a:r>
          </a:p>
          <a:p>
            <a:pPr algn="l">
              <a:spcAft>
                <a:spcPts val="300"/>
              </a:spcAft>
            </a:pPr>
            <a:r>
              <a:rPr sz="1100" b="0">
                <a:solidFill>
                  <a:srgbClr val="5B6372"/>
                </a:solidFill>
                <a:latin typeface="Arial"/>
              </a:rPr>
              <a:t>JavaScript Object Notation. Self-describing, nestable, the de facto format for APIs.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.XML</a:t>
            </a:r>
          </a:p>
          <a:p>
            <a:pPr algn="l">
              <a:spcAft>
                <a:spcPts val="300"/>
              </a:spcAft>
            </a:pPr>
            <a:r>
              <a:rPr sz="1100" b="0">
                <a:solidFill>
                  <a:srgbClr val="5B6372"/>
                </a:solidFill>
                <a:latin typeface="Arial"/>
              </a:rPr>
              <a:t>Extensible Markup Language. Tag-based, built to TRANSFER data rather than display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.XLSX / .PARQUET</a:t>
            </a:r>
          </a:p>
          <a:p>
            <a:pPr algn="l">
              <a:spcAft>
                <a:spcPts val="300"/>
              </a:spcAft>
            </a:pPr>
            <a:r>
              <a:rPr sz="1100" b="0">
                <a:solidFill>
                  <a:srgbClr val="5B6372"/>
                </a:solidFill>
                <a:latin typeface="Arial"/>
              </a:rPr>
              <a:t>Spreadsheet workbook; and Parquet, a compressed columnar format built for analytics.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LANGUAGES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Languages and Markup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SQL</a:t>
            </a:r>
          </a:p>
          <a:p>
            <a:pPr algn="l">
              <a:spcAft>
                <a:spcPts val="300"/>
              </a:spcAft>
            </a:pPr>
            <a:r>
              <a:rPr sz="1200" b="0">
                <a:solidFill>
                  <a:srgbClr val="5B6372"/>
                </a:solidFill>
                <a:latin typeface="Arial"/>
              </a:rPr>
              <a:t>The structured query language. SELECT chooses fields, FROM chooses tables, WHERE filters rows.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HTML</a:t>
            </a:r>
          </a:p>
          <a:p>
            <a:pPr algn="l">
              <a:spcAft>
                <a:spcPts val="300"/>
              </a:spcAft>
            </a:pPr>
            <a:r>
              <a:rPr sz="1200" b="0">
                <a:solidFill>
                  <a:srgbClr val="5B6372"/>
                </a:solidFill>
                <a:latin typeface="Arial"/>
              </a:rPr>
              <a:t>Hypertext Markup Language — tags that tell a browser how to DISPLAY a page. Semi-structured.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XML</a:t>
            </a:r>
          </a:p>
          <a:p>
            <a:pPr algn="l">
              <a:spcAft>
                <a:spcPts val="300"/>
              </a:spcAft>
            </a:pPr>
            <a:r>
              <a:rPr sz="1200" b="0">
                <a:solidFill>
                  <a:srgbClr val="5B6372"/>
                </a:solidFill>
                <a:latin typeface="Arial"/>
              </a:rPr>
              <a:t>Similar tags to HTML, but the purpose is to TRANSFER data between systems, not display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JSON</a:t>
            </a:r>
          </a:p>
          <a:p>
            <a:pPr algn="l">
              <a:spcAft>
                <a:spcPts val="300"/>
              </a:spcAft>
            </a:pPr>
            <a:r>
              <a:rPr sz="1200" b="0">
                <a:solidFill>
                  <a:srgbClr val="5B6372"/>
                </a:solidFill>
                <a:latin typeface="Arial"/>
              </a:rPr>
              <a:t>Arrays and key-value objects — lighter than XML and native to JavaScript and web APIs.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Python</a:t>
            </a:r>
          </a:p>
          <a:p>
            <a:pPr algn="l">
              <a:spcAft>
                <a:spcPts val="300"/>
              </a:spcAft>
            </a:pPr>
            <a:r>
              <a:rPr sz="1200" b="0">
                <a:solidFill>
                  <a:srgbClr val="5B6372"/>
                </a:solidFill>
                <a:latin typeface="Arial"/>
              </a:rPr>
              <a:t>General-purpose language dominant in data preparation, analysis and machine learning.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t>
            </a:r>
          </a:p>
          <a:p>
            <a:pPr algn="l">
              <a:spcAft>
                <a:spcPts val="300"/>
              </a:spcAft>
            </a:pPr>
            <a:r>
              <a:rPr sz="1200" b="0">
                <a:solidFill>
                  <a:srgbClr val="5B6372"/>
                </a:solidFill>
                <a:latin typeface="Arial"/>
              </a:rPr>
              <a:t>A language built specifically for statistical computing and graphics.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INFRASTRUCTURE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Infrastructure — Where Data Lives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On-premise</a:t>
            </a:r>
          </a:p>
          <a:p>
            <a:pPr algn="l">
              <a:spcAft>
                <a:spcPts val="300"/>
              </a:spcAft>
            </a:pPr>
            <a:r>
              <a:rPr sz="1200" b="0">
                <a:solidFill>
                  <a:srgbClr val="5B6372"/>
                </a:solidFill>
                <a:latin typeface="Arial"/>
              </a:rPr>
              <a:t>Servers you own and run in your own facility. Maximum control, maximum capital cost.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a:t>
            </a:r>
          </a:p>
          <a:p>
            <a:pPr algn="l">
              <a:spcAft>
                <a:spcPts val="300"/>
              </a:spcAft>
            </a:pPr>
            <a:r>
              <a:rPr sz="1200" b="0">
                <a:solidFill>
                  <a:srgbClr val="5B6372"/>
                </a:solidFill>
                <a:latin typeface="Arial"/>
              </a:rPr>
              <a:t>Infrastructure rented on demand from AWS, Azure or Google Cloud. Elastic and operational-cost based.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Hybrid</a:t>
            </a:r>
          </a:p>
          <a:p>
            <a:pPr algn="l">
              <a:spcAft>
                <a:spcPts val="300"/>
              </a:spcAft>
            </a:pPr>
            <a:r>
              <a:rPr sz="1200" b="0">
                <a:solidFill>
                  <a:srgbClr val="5B6372"/>
                </a:solidFill>
                <a:latin typeface="Arial"/>
              </a:rPr>
              <a:t>Sensitive data stays on-premise; burst analytical workloads run in the cloud.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Storage tiers</a:t>
            </a:r>
          </a:p>
          <a:p>
            <a:pPr algn="l">
              <a:spcAft>
                <a:spcPts val="300"/>
              </a:spcAft>
            </a:pPr>
            <a:r>
              <a:rPr sz="1200" b="0">
                <a:solidFill>
                  <a:srgbClr val="5B6372"/>
                </a:solidFill>
                <a:latin typeface="Arial"/>
              </a:rPr>
              <a:t>Hot storage for active data, cold and archive tiers for cheap long-term retention.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Containerisation</a:t>
            </a:r>
          </a:p>
          <a:p>
            <a:pPr algn="l">
              <a:spcAft>
                <a:spcPts val="300"/>
              </a:spcAft>
            </a:pPr>
            <a:r>
              <a:rPr sz="1200" b="0">
                <a:solidFill>
                  <a:srgbClr val="5B6372"/>
                </a:solidFill>
                <a:latin typeface="Arial"/>
              </a:rPr>
              <a:t>Docker packages an application with its dependencies so it runs identically anywhere.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Orchestration</a:t>
            </a:r>
          </a:p>
          <a:p>
            <a:pPr algn="l">
              <a:spcAft>
                <a:spcPts val="300"/>
              </a:spcAft>
            </a:pPr>
            <a:r>
              <a:rPr sz="1200" b="0">
                <a:solidFill>
                  <a:srgbClr val="5B6372"/>
                </a:solidFill>
                <a:latin typeface="Arial"/>
              </a:rPr>
              <a:t>Kubernetes schedules and scales those containers across a cluster automatically.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AI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 Concepts in the Data Toolchain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Machine learning</a:t>
            </a:r>
          </a:p>
          <a:p>
            <a:pPr algn="l">
              <a:spcAft>
                <a:spcPts val="300"/>
              </a:spcAft>
            </a:pPr>
            <a:r>
              <a:rPr sz="1100" b="0">
                <a:solidFill>
                  <a:srgbClr val="5B6372"/>
                </a:solidFill>
                <a:latin typeface="Arial"/>
              </a:rPr>
              <a:t>Models learn patterns from historical data to classify or predict, rather than being explicitly programmed.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Supervised vs unsupervised</a:t>
            </a:r>
          </a:p>
          <a:p>
            <a:pPr algn="l">
              <a:spcAft>
                <a:spcPts val="300"/>
              </a:spcAft>
            </a:pPr>
            <a:r>
              <a:rPr sz="1100" b="0">
                <a:solidFill>
                  <a:srgbClr val="5B6372"/>
                </a:solidFill>
                <a:latin typeface="Arial"/>
              </a:rPr>
              <a:t>Supervised learns from labelled examples; unsupervised finds structure such as clusters in unlabelled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Natural language processing</a:t>
            </a:r>
          </a:p>
          <a:p>
            <a:pPr algn="l">
              <a:spcAft>
                <a:spcPts val="300"/>
              </a:spcAft>
            </a:pPr>
            <a:r>
              <a:rPr sz="1100" b="0">
                <a:solidFill>
                  <a:srgbClr val="5B6372"/>
                </a:solidFill>
                <a:latin typeface="Arial"/>
              </a:rPr>
              <a:t>Lets systems parse, classify and generate human language — sentiment analysis, entity extraction, summarisation.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Large language models</a:t>
            </a:r>
          </a:p>
          <a:p>
            <a:pPr algn="l">
              <a:spcAft>
                <a:spcPts val="300"/>
              </a:spcAft>
            </a:pPr>
            <a:r>
              <a:rPr sz="1100" b="0">
                <a:solidFill>
                  <a:srgbClr val="5B6372"/>
                </a:solidFill>
                <a:latin typeface="Arial"/>
              </a:rPr>
              <a:t>NLP models trained at scale that generate text; increasingly used to draft queries and explain results.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Robotic process automation</a:t>
            </a:r>
          </a:p>
          <a:p>
            <a:pPr algn="l">
              <a:spcAft>
                <a:spcPts val="300"/>
              </a:spcAft>
            </a:pPr>
            <a:r>
              <a:rPr sz="1100" b="0">
                <a:solidFill>
                  <a:srgbClr val="5B6372"/>
                </a:solidFill>
                <a:latin typeface="Arial"/>
              </a:rPr>
              <a:t>Software robots that perform repetitive, rule-based data tasks — extraction, entry, reconciliation.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Where analysts meet AI</a:t>
            </a:r>
          </a:p>
          <a:p>
            <a:pPr algn="l">
              <a:spcAft>
                <a:spcPts val="300"/>
              </a:spcAft>
            </a:pPr>
            <a:r>
              <a:rPr sz="1100" b="0">
                <a:solidFill>
                  <a:srgbClr val="5B6372"/>
                </a:solidFill>
                <a:latin typeface="Arial"/>
              </a:rPr>
              <a:t>Most often in data preparation, anomaly detection, forecasting and automated report narratives.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DATA SOURCES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Identifying Data Sources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Databases</a:t>
            </a:r>
          </a:p>
          <a:p>
            <a:pPr algn="l">
              <a:spcAft>
                <a:spcPts val="300"/>
              </a:spcAft>
            </a:pPr>
            <a:r>
              <a:rPr sz="1100" b="0">
                <a:solidFill>
                  <a:srgbClr val="5B6372"/>
                </a:solidFill>
                <a:latin typeface="Arial"/>
              </a:rPr>
              <a:t>Relational and NoSQL operational systems — usually the most reliable and best-documented source.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APIs</a:t>
            </a:r>
          </a:p>
          <a:p>
            <a:pPr algn="l">
              <a:spcAft>
                <a:spcPts val="300"/>
              </a:spcAft>
            </a:pPr>
            <a:r>
              <a:rPr sz="1100" b="0">
                <a:solidFill>
                  <a:srgbClr val="5B6372"/>
                </a:solidFill>
                <a:latin typeface="Arial"/>
              </a:rPr>
              <a:t>A defined request/response contract between systems. Pull model polls; push model notifies on change.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Website data</a:t>
            </a:r>
          </a:p>
          <a:p>
            <a:pPr algn="l">
              <a:spcAft>
                <a:spcPts val="300"/>
              </a:spcAft>
            </a:pPr>
            <a:r>
              <a:rPr sz="1100" b="0">
                <a:solidFill>
                  <a:srgbClr val="5B6372"/>
                </a:solidFill>
                <a:latin typeface="Arial"/>
              </a:rPr>
              <a:t>Web scraping with Selenium, BeautifulSoup or Scrapy. Fragile, and you must have permission.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Files</a:t>
            </a:r>
          </a:p>
          <a:p>
            <a:pPr algn="l">
              <a:spcAft>
                <a:spcPts val="300"/>
              </a:spcAft>
            </a:pPr>
            <a:r>
              <a:rPr sz="1100" b="0">
                <a:solidFill>
                  <a:srgbClr val="5B6372"/>
                </a:solidFill>
                <a:latin typeface="Arial"/>
              </a:rPr>
              <a:t>CSV, Excel, JSON and XML extracts, often the practical reality of inter-company data exchange.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Logs &amp; machine data</a:t>
            </a:r>
          </a:p>
          <a:p>
            <a:pPr algn="l">
              <a:spcAft>
                <a:spcPts val="300"/>
              </a:spcAft>
            </a:pPr>
            <a:r>
              <a:rPr sz="1100" b="0">
                <a:solidFill>
                  <a:srgbClr val="5B6372"/>
                </a:solidFill>
                <a:latin typeface="Arial"/>
              </a:rPr>
              <a:t>Server, application and device telemetry — high volume, and the basis of predictive maintenance.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Repositories</a:t>
            </a:r>
          </a:p>
          <a:p>
            <a:pPr algn="l">
              <a:spcAft>
                <a:spcPts val="300"/>
              </a:spcAft>
            </a:pPr>
            <a:r>
              <a:rPr sz="1100" b="0">
                <a:solidFill>
                  <a:srgbClr val="5B6372"/>
                </a:solidFill>
                <a:latin typeface="Arial"/>
              </a:rPr>
              <a:t>Public and licensed datasets: data.gov, Kaggle, Pew Research, GeoPostcodes, Singapore's data.gov.sg.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 — Build a Relational Schema and Prove Referential Integrity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Explain data concepts: database types, data structures and data types (Domain 1); LO1 / K4 / A1.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design and build a small three-table sales schema in SQLite, declare the primary and foreign keys, and then deliberately attack it with an orphan record and a cascading delete so you can see referential integrity doing its job.</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normalised 3NF SQLite database (customers, products, orders) with enforced foreign keys, plus evidence of a rejected orphan insert.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SQLite 3, SQL DDL/DML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three tables import 40 customers, 10 products and 120 orders. Attack 1 fails with 'FOREIGN KEY constraint failed'. Attack 2 deletes customer 1 AND cascades to their 2 orders, so the order count drops from 120 to 118. The final join returns 118 priced order lines.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9</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Create the customers table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9</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the orders fact table carrying TWO fo</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9</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ATTACK 1</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9</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Run a join across all three tables to confir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9 of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normalised 3NF SQLite database (customers, products, orders) with enforced foreign keys, plus evidence of a rejected orphan insert.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 — Build a Relational Schema and Prove Referential Integrity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~/dataplus/lab1 &amp;&amp; cd ~/dataplus/lab1;</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D=lab-01-build-a-relational-schema-and-prove-referential-inte;</a:t>
            </a:r>
          </a:p>
          <a:p>
            <a:pPr algn="l">
              <a:spcAft>
                <a:spcPts val="0"/>
              </a:spcAft>
            </a:pPr>
            <a:r>
              <a:rPr sz="640" b="0">
                <a:solidFill>
                  <a:srgbClr val="9CDCFE"/>
                </a:solidFill>
                <a:latin typeface="Consolas"/>
              </a:rPr>
              <a:t>   for f in customers.csv products.csv orders.csv;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Turn foreign-key enforcement ON — SQLite leaves it off by default, which is the single most common cause of orphaned rows.</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1050" b="0">
                <a:solidFill>
                  <a:srgbClr val="9CDCFE"/>
                </a:solidFill>
                <a:latin typeface="Consolas"/>
              </a:rPr>
              <a:t>$ PRAGMA foreign_keys = ON;</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Create the customers table — the columns must match customers.csv exactly, or .import silently drops data.</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CREATE TABLE customers (customer_id INTEGER PRIMARY KEY, first_name TEXT NOT NULL, last_name TEXT NOT NULL,</a:t>
            </a:r>
          </a:p>
          <a:p>
            <a:pPr algn="l">
              <a:spcAft>
                <a:spcPts val="0"/>
              </a:spcAft>
            </a:pPr>
            <a:r>
              <a:rPr sz="640" b="0">
                <a:solidFill>
                  <a:srgbClr val="9CDCFE"/>
                </a:solidFill>
                <a:latin typeface="Consolas"/>
              </a:rPr>
              <a:t>   email TEXT UNIQUE, region TEXT, joined DATE);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 — Build a Relational Schema and Prove Referential Integrity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products table — note REAL for currency and the CHECK constraint enforcing domain integrity.</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CREATE TABLE products (product_id INTEGER PRIMARY KEY, name TEXT NOT NULL, unit_price REAL CHECK (unit_price</a:t>
            </a:r>
          </a:p>
          <a:p>
            <a:pPr algn="l">
              <a:spcAft>
                <a:spcPts val="0"/>
              </a:spcAft>
            </a:pPr>
            <a:r>
              <a:rPr sz="640" b="0">
                <a:solidFill>
                  <a:srgbClr val="9CDCFE"/>
                </a:solidFill>
                <a:latin typeface="Consolas"/>
              </a:rPr>
              <a:t>   &gt;= 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orders fact table carrying TWO foreign keys with ON DELETE CASCADE.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CREATE TABLE orders (order_id INTEGER PRIMARY KEY, customer_id INTEGER REFERENCES customers(customer_id) ON</a:t>
            </a:r>
          </a:p>
          <a:p>
            <a:pPr algn="l">
              <a:spcAft>
                <a:spcPts val="0"/>
              </a:spcAft>
            </a:pPr>
            <a:r>
              <a:rPr sz="640" b="0">
                <a:solidFill>
                  <a:srgbClr val="9CDCFE"/>
                </a:solidFill>
                <a:latin typeface="Consolas"/>
              </a:rPr>
              <a:t>   DELETE CASCADE, product_id INTEGER REFERENCES products(product_id), qty INTEGER NOT NULL, order_date DATE);</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Import the three CSV extracts into the tables you just created.</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sqlite3 sales.db ".mode csv" ".import --skip 1 customers.csv customers" ".import --skip 1 products.csv</a:t>
            </a:r>
          </a:p>
          <a:p>
            <a:pPr algn="l">
              <a:spcAft>
                <a:spcPts val="0"/>
              </a:spcAft>
            </a:pPr>
            <a:r>
              <a:rPr sz="640" b="0">
                <a:solidFill>
                  <a:srgbClr val="9CDCFE"/>
                </a:solidFill>
                <a:latin typeface="Consolas"/>
              </a:rPr>
              <a:t>   products" ".import --skip 1 orders.csv orders" "SELECT COUNT(*) FROM customers; SELECT COUNT(*) FROM products;</a:t>
            </a:r>
          </a:p>
          <a:p>
            <a:pPr algn="l">
              <a:spcAft>
                <a:spcPts val="0"/>
              </a:spcAft>
            </a:pPr>
            <a:r>
              <a:rPr sz="640" b="0">
                <a:solidFill>
                  <a:srgbClr val="9CDCFE"/>
                </a:solidFill>
                <a:latin typeface="Consolas"/>
              </a:rPr>
              <a:t>   SELECT COUNT(*) FROM orders;"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 — Build a Relational Schema and Prove Referential Integrity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ATTACK 1 — insert an order for a customer who does not exist, using a FREE order_id so the error you see is the foreign key firing and not a duplicate primary key. This MUST be rejected.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INSERT INTO orders VALUES (9999,999,10,1,'2025-03-03');</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ATTACK 2 — delete customer 1 and watch the cascade remove their orders, leaving nothing orphaned.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DELETE FROM customers WHERE customer_id = 1; SELECT * FROM orders;</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Run a join across all three tables to confirm the schema answers a real business question.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SELECT c.first_name, p.name, o.qty, o.qty*p.unit_price AS line_total FROM orders o JOIN customers c ON</a:t>
            </a:r>
          </a:p>
          <a:p>
            <a:pPr algn="l">
              <a:spcAft>
                <a:spcPts val="0"/>
              </a:spcAft>
            </a:pPr>
            <a:r>
              <a:rPr sz="640" b="0">
                <a:solidFill>
                  <a:srgbClr val="9CDCFE"/>
                </a:solidFill>
                <a:latin typeface="Consolas"/>
              </a:rPr>
              <a:t>   c.customer_id=o.customer_id JOIN products p ON p.product_id=o.product_id;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three tables import 40 customers, 10 products and 120 orders. Attack 1 fails with 'FOREIGN KEY constraint failed'. Attack 2 deletes customer 1 AND cascades to their 2 orders, so the order count drops from 120 to 118. The final join returns 118 priced order lines.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orphan insert SUCCEEDED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forgot PRAGMA foreign_keys = ON. It resets on every new connection — re-run it after reopening sqlite3.</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It says UNIQUE constraint failed, not FOREIGN KEY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order_id already exists in orders.csv. Pick an unused id (9999) so the foreign key is what fails.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2 — Compare Structured, Semi-Structured and Unstructured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Explain data concepts: data structures, file extensions and data types; identify data sources (Domain 1); LO1 / K4.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create the same customer record three ways — as a CSV row, as a JSON document and as free text — then measure how much work each format takes to query. This is the exam's structured vs semi-structured vs unstructured distinction, made concrete.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Three files (customers.csv, customers.json, notes.txt) plus a Python script that queries each and reports the effort required.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csv and json modules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CSV and the JSON both total 2293.17 across 12 customers. The JSON also returns ['vip','repeat'] for the first record — a field the flat CSV cannot represent at all. The regex over notes.txt returns extra noise, proving unstructured text needs parsing before it can be analysed.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5</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Query the CSV</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2 of 5</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Query the JSON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5</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Try to query the unstructured text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5</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Compare the file sizes and record what each</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5</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Three files (customers.csv, customers.json, notes.txt) plus a Python script that queries each and reports the effort required.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2 — Compare Structured, Semi-Structured and Unstructured Data — Procedure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561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0083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0083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5623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62356"/>
          </a:xfrm>
          <a:prstGeom prst="rect">
            <a:avLst/>
          </a:prstGeom>
          <a:noFill/>
        </p:spPr>
        <p:txBody>
          <a:bodyPr wrap="none" anchor="ctr">
            <a:spAutoFit/>
          </a:bodyPr>
          <a:lstStyle/>
          <a:p>
            <a:pPr algn="l">
              <a:spcAft>
                <a:spcPts val="0"/>
              </a:spcAft>
            </a:pPr>
            <a:r>
              <a:rPr sz="640" b="0">
                <a:solidFill>
                  <a:srgbClr val="9CDCFE"/>
                </a:solidFill>
                <a:latin typeface="Consolas"/>
              </a:rPr>
              <a:t>$ mkdir -p ~/dataplus/lab2 &amp;&amp; cd ~/dataplus/lab2;</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D=lab-02-compare-structured-semi-structured-and-unstructured;</a:t>
            </a:r>
          </a:p>
          <a:p>
            <a:pPr algn="l">
              <a:spcAft>
                <a:spcPts val="0"/>
              </a:spcAft>
            </a:pPr>
            <a:r>
              <a:rPr sz="640" b="0">
                <a:solidFill>
                  <a:srgbClr val="9CDCFE"/>
                </a:solidFill>
                <a:latin typeface="Consolas"/>
              </a:rPr>
              <a:t>   for f in customers.csv customers.json notes.txt; do curl -fsSO $B/$D/data/$f || echo FAILED $f; done; ls -l</a:t>
            </a:r>
          </a:p>
        </p:txBody>
      </p:sp>
      <p:sp>
        <p:nvSpPr>
          <p:cNvPr id="14" name="Rectangle 13"/>
          <p:cNvSpPr/>
          <p:nvPr/>
        </p:nvSpPr>
        <p:spPr>
          <a:xfrm>
            <a:off x="777240" y="2903220"/>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03220"/>
            <a:ext cx="82296" cy="10561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484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484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39796"/>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Query the CSV — three lines of code, because the structure is guaranteed.</a:t>
            </a:r>
          </a:p>
        </p:txBody>
      </p:sp>
      <p:sp>
        <p:nvSpPr>
          <p:cNvPr id="19" name="Rectangle 18"/>
          <p:cNvSpPr/>
          <p:nvPr/>
        </p:nvSpPr>
        <p:spPr>
          <a:xfrm>
            <a:off x="1481328" y="3305556"/>
            <a:ext cx="9601200" cy="5623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305556"/>
            <a:ext cx="9326880" cy="562356"/>
          </a:xfrm>
          <a:prstGeom prst="rect">
            <a:avLst/>
          </a:prstGeom>
          <a:noFill/>
        </p:spPr>
        <p:txBody>
          <a:bodyPr wrap="none" anchor="ctr">
            <a:spAutoFit/>
          </a:bodyPr>
          <a:lstStyle/>
          <a:p>
            <a:pPr algn="l">
              <a:spcAft>
                <a:spcPts val="0"/>
              </a:spcAft>
            </a:pPr>
            <a:r>
              <a:rPr sz="740" b="0">
                <a:solidFill>
                  <a:srgbClr val="9CDCFE"/>
                </a:solidFill>
                <a:latin typeface="Consolas"/>
              </a:rPr>
              <a:t>$ python3 -c "import csv;print(sum(float(r['spend']) for r in csv.DictReader(open('customers.csv'))))"</a:t>
            </a:r>
          </a:p>
        </p:txBody>
      </p:sp>
      <p:sp>
        <p:nvSpPr>
          <p:cNvPr id="21" name="Rectangle 20"/>
          <p:cNvSpPr/>
          <p:nvPr/>
        </p:nvSpPr>
        <p:spPr>
          <a:xfrm>
            <a:off x="777240" y="4050792"/>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50792"/>
            <a:ext cx="82296" cy="10561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9597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959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87368"/>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Query the JSON — still easy, and it carries the extra 'tags' field the CSV could not hold.</a:t>
            </a:r>
          </a:p>
        </p:txBody>
      </p:sp>
      <p:sp>
        <p:nvSpPr>
          <p:cNvPr id="26" name="Rectangle 25"/>
          <p:cNvSpPr/>
          <p:nvPr/>
        </p:nvSpPr>
        <p:spPr>
          <a:xfrm>
            <a:off x="1481328" y="4453128"/>
            <a:ext cx="9601200" cy="5623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453128"/>
            <a:ext cx="9326880" cy="562356"/>
          </a:xfrm>
          <a:prstGeom prst="rect">
            <a:avLst/>
          </a:prstGeom>
          <a:noFill/>
        </p:spPr>
        <p:txBody>
          <a:bodyPr wrap="none" anchor="ctr">
            <a:spAutoFit/>
          </a:bodyPr>
          <a:lstStyle/>
          <a:p>
            <a:pPr algn="l">
              <a:spcAft>
                <a:spcPts val="0"/>
              </a:spcAft>
            </a:pPr>
            <a:r>
              <a:rPr sz="640" b="0">
                <a:solidFill>
                  <a:srgbClr val="9CDCFE"/>
                </a:solidFill>
                <a:latin typeface="Consolas"/>
              </a:rPr>
              <a:t>$ python3 -c "import json;</a:t>
            </a:r>
          </a:p>
          <a:p>
            <a:pPr algn="l">
              <a:spcAft>
                <a:spcPts val="0"/>
              </a:spcAft>
            </a:pPr>
            <a:r>
              <a:rPr sz="640" b="0">
                <a:solidFill>
                  <a:srgbClr val="9CDCFE"/>
                </a:solidFill>
                <a:latin typeface="Consolas"/>
              </a:rPr>
              <a:t>   d=json.load(open('customers.json'));</a:t>
            </a:r>
          </a:p>
          <a:p>
            <a:pPr algn="l">
              <a:spcAft>
                <a:spcPts val="0"/>
              </a:spcAft>
            </a:pPr>
            <a:r>
              <a:rPr sz="640" b="0">
                <a:solidFill>
                  <a:srgbClr val="9CDCFE"/>
                </a:solidFill>
                <a:latin typeface="Consolas"/>
              </a:rPr>
              <a:t>   print(sum(r['spend'] for r in d));</a:t>
            </a:r>
          </a:p>
          <a:p>
            <a:pPr algn="l">
              <a:spcAft>
                <a:spcPts val="0"/>
              </a:spcAft>
            </a:pPr>
            <a:r>
              <a:rPr sz="640" b="0">
                <a:solidFill>
                  <a:srgbClr val="9CDCFE"/>
                </a:solidFill>
                <a:latin typeface="Consolas"/>
              </a:rPr>
              <a:t>   print(d[0].get('tags'))"</a:t>
            </a:r>
          </a:p>
        </p:txBody>
      </p:sp>
      <p:sp>
        <p:nvSpPr>
          <p:cNvPr id="28" name="Rectangle 27"/>
          <p:cNvSpPr/>
          <p:nvPr/>
        </p:nvSpPr>
        <p:spPr>
          <a:xfrm>
            <a:off x="777240" y="5198364"/>
            <a:ext cx="10634472" cy="10561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5198364"/>
            <a:ext cx="82296" cy="10561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54355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5435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2" name="TextBox 31"/>
          <p:cNvSpPr txBox="1"/>
          <p:nvPr/>
        </p:nvSpPr>
        <p:spPr>
          <a:xfrm>
            <a:off x="1481328" y="523494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Try to query the unstructured text — you need a regular expression, and it is fragile.</a:t>
            </a:r>
          </a:p>
        </p:txBody>
      </p:sp>
      <p:sp>
        <p:nvSpPr>
          <p:cNvPr id="33" name="Rectangle 32"/>
          <p:cNvSpPr/>
          <p:nvPr/>
        </p:nvSpPr>
        <p:spPr>
          <a:xfrm>
            <a:off x="1481328" y="5600700"/>
            <a:ext cx="9601200" cy="56235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27632" y="5600700"/>
            <a:ext cx="9326880" cy="562356"/>
          </a:xfrm>
          <a:prstGeom prst="rect">
            <a:avLst/>
          </a:prstGeom>
          <a:noFill/>
        </p:spPr>
        <p:txBody>
          <a:bodyPr wrap="none" anchor="ctr">
            <a:spAutoFit/>
          </a:bodyPr>
          <a:lstStyle/>
          <a:p>
            <a:pPr algn="l">
              <a:spcAft>
                <a:spcPts val="0"/>
              </a:spcAft>
            </a:pPr>
            <a:r>
              <a:rPr sz="780" b="0">
                <a:solidFill>
                  <a:srgbClr val="9CDCFE"/>
                </a:solidFill>
                <a:latin typeface="Consolas"/>
              </a:rPr>
              <a:t>$ python3 -c "import re;</a:t>
            </a:r>
          </a:p>
          <a:p>
            <a:pPr algn="l">
              <a:spcAft>
                <a:spcPts val="0"/>
              </a:spcAft>
            </a:pPr>
            <a:r>
              <a:rPr sz="780" b="0">
                <a:solidFill>
                  <a:srgbClr val="9CDCFE"/>
                </a:solidFill>
                <a:latin typeface="Consolas"/>
              </a:rPr>
              <a:t>   t=open('notes.txt').read();</a:t>
            </a:r>
          </a:p>
          <a:p>
            <a:pPr algn="l">
              <a:spcAft>
                <a:spcPts val="0"/>
              </a:spcAft>
            </a:pPr>
            <a:r>
              <a:rPr sz="780" b="0">
                <a:solidFill>
                  <a:srgbClr val="9CDCFE"/>
                </a:solidFill>
                <a:latin typeface="Consolas"/>
              </a:rPr>
              <a:t>   print(re.findall(r'[$]?([0-9]+(?:[.][0-9]{2})?)\s*(?:dollars)?',t))"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2 — Compare Structured, Semi-Structured and Unstructured Data — Procedure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Compare the file sizes and record what each format cost you in query effort.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ls -l customers.csv customers.json notes.txt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2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CSV and the JSON both total 2293.17 across 12 customers. The JSON also returns ['vip','repeat'] for the first record — a field the flat CSV cannot represent at all. The regex over notes.txt returns extra noise, proving unstructured text needs parsing before it can be analysed.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JSONDecodeError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customers.json did not download cleanly. Check it with head -c 80 customers.json — if it starts with '404' the URL is wrong.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regex returns '240.50' and '89' plus junk</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is the expected lesson — unstructured text has no guarantees. Tighten the pattern in RegexLab.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3 — Profile Machine/Log Data as a Data Source (PCAP Analyzer)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data sources: logs, machine data and repositories; recognise infrastructure concepts (Domain 1); LO1 / A1.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Machine-generated data is one of the exam's named data sources, and it never arrives analysis-ready. You load a packet capture into the browser-based PCAP Analyzer, read the statistics it derives, and translate what you see into the data-analyst vocabulary of records, fields, dimensions and measures.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data-source profile of a machine-data feed: record count, field inventory, dimensions vs measures, and three analytical questions it can answer.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PCAP Analyzer (https://alfredang.github.io/pcapanalyzer/), any .pcap/.pcapng sample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 can state the record count and average packet size, classify at least five fields as dimension or measure, and explain why Protocol Distribution is a frequency table rather than a raw record list.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Open the PCAP Analyzer in your browser</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Drag the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Open the Protocol Distribution panel</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Click any single packet to inspect its field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down three business questions this fee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completed data-source profile of a machine-data feed: record count, field inventory, dimensions vs measures, and three analytical questions it can answer.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3 — Profile Machine/Log Data as a Data Source (PCAP Analyzer) — Procedure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PCAP Analyzer in your browser. Everything is parsed locally — nothing is uploaded.</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Generate a small capture on Killercoda if you do not have one, then download it to your machine.</a:t>
            </a:r>
          </a:p>
        </p:txBody>
      </p:sp>
      <p:sp>
        <p:nvSpPr>
          <p:cNvPr id="17" name="Rectangle 16"/>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sudo tcpdump -i any -c 200 -w ~/sample.pcap 2&gt;/dev/null || echo 'use the sample capture supplied by your</a:t>
            </a:r>
          </a:p>
          <a:p>
            <a:pPr algn="l">
              <a:spcAft>
                <a:spcPts val="0"/>
              </a:spcAft>
            </a:pPr>
            <a:r>
              <a:rPr sz="640" b="0">
                <a:solidFill>
                  <a:srgbClr val="9CDCFE"/>
                </a:solidFill>
                <a:latin typeface="Consolas"/>
              </a:rPr>
              <a:t>   trainer'</a:t>
            </a:r>
          </a:p>
        </p:txBody>
      </p:sp>
      <p:sp>
        <p:nvSpPr>
          <p:cNvPr id="19" name="Rectangle 18"/>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Drag the .pcap file onto the drop zone and wait for the four summary statistics to appear.</a:t>
            </a:r>
          </a:p>
        </p:txBody>
      </p:sp>
      <p:sp>
        <p:nvSpPr>
          <p:cNvPr id="24" name="Rectangle 23"/>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Record the four derived MEASURES: packet count, total bytes, capture duration and average packet size.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3 — Profile Machine/Log Data as a Data Source (PCAP Analyzer) — Procedure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Protocol Distribution panel — this is a categorical frequency table, exactly like a GROUP BY.</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Top Talkers and Top Conversations — these are aggregations over a source/destination DIMENSION.</a:t>
            </a:r>
          </a:p>
        </p:txBody>
      </p:sp>
      <p:sp>
        <p:nvSpPr>
          <p:cNvPr id="17" name="Rectangle 16"/>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1" name="TextBox 20"/>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Click any single packet to inspect its fields, and list which are dimensions (IP, protocol) and which are measures (length).</a:t>
            </a:r>
          </a:p>
        </p:txBody>
      </p:sp>
      <p:sp>
        <p:nvSpPr>
          <p:cNvPr id="22" name="Rectangle 21"/>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6" name="TextBox 25"/>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down three business questions this feed could answer, and one it cannot — noting what extra data you would need.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3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state the record count and average packet size, classify at least five fields as dimension or measure, and explain why Protocol Distribution is a frequency table rather than a raw record list.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file will not load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analyser accepts .pcap and .pcapng only. Confirm the extension, and that the file is not zero bytes (ls -l).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tcpdump: permission denied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Prefix with sudo on Killercoda. If it is still blocked, use the sample capture your trainer provides.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statistics look empty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capture with zero packets produces zero rows. Re-capture with a larger -c value while browsing in another tab.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01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Data Concepts and Environments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Schemas</a:t>
            </a:r>
          </a:p>
          <a:p>
            <a:pPr algn="l">
              <a:spcAft>
                <a:spcPts val="300"/>
              </a:spcAft>
            </a:pPr>
            <a:r>
              <a:rPr sz="1000" b="0">
                <a:solidFill>
                  <a:srgbClr val="5B6372"/>
                </a:solidFill>
                <a:latin typeface="Arial"/>
              </a:rPr>
              <a:t>Schemas define both organisation and relationships, and are designed before the system is built.</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Relational vs NoSQL</a:t>
            </a:r>
          </a:p>
          <a:p>
            <a:pPr algn="l">
              <a:spcAft>
                <a:spcPts val="300"/>
              </a:spcAft>
            </a:pPr>
            <a:r>
              <a:rPr sz="1000" b="0">
                <a:solidFill>
                  <a:srgbClr val="5B6372"/>
                </a:solidFill>
                <a:latin typeface="Arial"/>
              </a:rPr>
              <a:t>Relational databases use SQL and fixed tables; non-relational stores trade schema for scale and flexibility.</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Normalisation</a:t>
            </a:r>
          </a:p>
          <a:p>
            <a:pPr algn="l">
              <a:spcAft>
                <a:spcPts val="300"/>
              </a:spcAft>
            </a:pPr>
            <a:r>
              <a:rPr sz="1000" b="0">
                <a:solidFill>
                  <a:srgbClr val="5B6372"/>
                </a:solidFill>
                <a:latin typeface="Arial"/>
              </a:rPr>
              <a:t>Normalisation removes redundancy for OLTP; denormalisation restores it for fast OLAP analysis.</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Keys &amp; integrity</a:t>
            </a:r>
          </a:p>
          <a:p>
            <a:pPr algn="l">
              <a:spcAft>
                <a:spcPts val="300"/>
              </a:spcAft>
            </a:pPr>
            <a:r>
              <a:rPr sz="1000" b="0">
                <a:solidFill>
                  <a:srgbClr val="5B6372"/>
                </a:solidFill>
                <a:latin typeface="Arial"/>
              </a:rPr>
              <a:t>Primary and foreign keys plus referential integrity are what stop your data becoming orphaned.</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Storage architectures</a:t>
            </a:r>
          </a:p>
          <a:p>
            <a:pPr algn="l">
              <a:spcAft>
                <a:spcPts val="300"/>
              </a:spcAft>
            </a:pPr>
            <a:r>
              <a:rPr sz="1000" b="0">
                <a:solidFill>
                  <a:srgbClr val="5B6372"/>
                </a:solidFill>
                <a:latin typeface="Arial"/>
              </a:rPr>
              <a:t>Warehouses, marts, lakes and lakehouses trade structure, cost and query flexibility against each other.</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Structure &amp; formats</a:t>
            </a:r>
          </a:p>
          <a:p>
            <a:pPr algn="l">
              <a:spcAft>
                <a:spcPts val="300"/>
              </a:spcAft>
            </a:pPr>
            <a:r>
              <a:rPr sz="1000" b="0">
                <a:solidFill>
                  <a:srgbClr val="5B6372"/>
                </a:solidFill>
                <a:latin typeface="Arial"/>
              </a:rPr>
              <a:t>Data is structured, semi-structured or unstructured, and arrives in CSV, JSON, XML, XLSX or Parquet.</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Infrastructure &amp; AI</a:t>
            </a:r>
          </a:p>
          <a:p>
            <a:pPr algn="l">
              <a:spcAft>
                <a:spcPts val="300"/>
              </a:spcAft>
            </a:pPr>
            <a:r>
              <a:rPr sz="1000" b="0">
                <a:solidFill>
                  <a:srgbClr val="5B6372"/>
                </a:solidFill>
                <a:latin typeface="Arial"/>
              </a:rPr>
              <a:t>Infrastructure may be on-premise, cloud, hybrid or containerised — and AI/NLP/RPA are now part of the toolchain.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02  ·  22%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Acquisition and Preparation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Data integration · queries · exploration · missing values · duplication · outliers · cleansing · parsing · formatting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advClick="1">
    <p:push dir="l"/>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DOMAIN COVERS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2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ETL vs ELT</a:t>
            </a:r>
          </a:p>
          <a:p>
            <a:pPr algn="l">
              <a:spcAft>
                <a:spcPts val="300"/>
              </a:spcAft>
            </a:pPr>
            <a:r>
              <a:rPr sz="1000" b="0">
                <a:solidFill>
                  <a:srgbClr val="5B6372"/>
                </a:solidFill>
                <a:latin typeface="Arial"/>
              </a:rPr>
              <a:t>ETL transforms data before it lands in the warehouse; ELT loads it raw into a lake and transforms it later, on demand.</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Where data comes from</a:t>
            </a:r>
          </a:p>
          <a:p>
            <a:pPr algn="l">
              <a:spcAft>
                <a:spcPts val="300"/>
              </a:spcAft>
            </a:pPr>
            <a:r>
              <a:rPr sz="1000" b="0">
                <a:solidFill>
                  <a:srgbClr val="5B6372"/>
                </a:solidFill>
                <a:latin typeface="Arial"/>
              </a:rPr>
              <a:t>Data can be acquired from databases, APIs, web scraping, machine and log data, public repositories, surveys and sampling.</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Profile before you trust</a:t>
            </a:r>
          </a:p>
          <a:p>
            <a:pPr algn="l">
              <a:spcAft>
                <a:spcPts val="300"/>
              </a:spcAft>
            </a:pPr>
            <a:r>
              <a:rPr sz="1000" b="0">
                <a:solidFill>
                  <a:srgbClr val="5B6372"/>
                </a:solidFill>
                <a:latin typeface="Arial"/>
              </a:rPr>
              <a:t>Data profiling is the disciplined first pass: identify the source, the field names and types, the keys, and what the data actually contains.</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The four defect classes</a:t>
            </a:r>
          </a:p>
          <a:p>
            <a:pPr algn="l">
              <a:spcAft>
                <a:spcPts val="300"/>
              </a:spcAft>
            </a:pPr>
            <a:r>
              <a:rPr sz="1000" b="0">
                <a:solidFill>
                  <a:srgbClr val="5B6372"/>
                </a:solidFill>
                <a:latin typeface="Arial"/>
              </a:rPr>
              <a:t>The four recurring data-quality defects are missing values (NULL), duplicated or redundant records, invalid values, and outliers.</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Cleansing techniques</a:t>
            </a:r>
          </a:p>
          <a:p>
            <a:pPr algn="l">
              <a:spcAft>
                <a:spcPts val="300"/>
              </a:spcAft>
            </a:pPr>
            <a:r>
              <a:rPr sz="1000" b="0">
                <a:solidFill>
                  <a:srgbClr val="5B6372"/>
                </a:solidFill>
                <a:latin typeface="Arial"/>
              </a:rPr>
              <a:t>Cleansing techniques include filtering or imputing NULLs, deduplication, trimming invisible characters, and correcting data types.</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Manipulation techniques</a:t>
            </a:r>
          </a:p>
          <a:p>
            <a:pPr algn="l">
              <a:spcAft>
                <a:spcPts val="300"/>
              </a:spcAft>
            </a:pPr>
            <a:r>
              <a:rPr sz="1000" b="0">
                <a:solidFill>
                  <a:srgbClr val="5B6372"/>
                </a:solidFill>
                <a:latin typeface="Arial"/>
              </a:rPr>
              <a:t>Data manipulation covers recoding, derived variables, imputation, aggregation, transposing, appending, merging and parsing.</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Joins, filters and indexes</a:t>
            </a:r>
          </a:p>
          <a:p>
            <a:pPr algn="l">
              <a:spcAft>
                <a:spcPts val="300"/>
              </a:spcAft>
            </a:pPr>
            <a:r>
              <a:rPr sz="1000" b="0">
                <a:solidFill>
                  <a:srgbClr val="5B6372"/>
                </a:solidFill>
                <a:latin typeface="Arial"/>
              </a:rPr>
              <a:t>SQL joins (inner, left, right, full), filters, subqueries, indexes and execution plans are how analysts combine and optimise datasets.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ACQUISITION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ETL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Extract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Pull from the source</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Transform</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Clean, convert, conform</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Load</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Write to the warehouse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Validate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Reconcile the counts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Schedule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Repeat on a cadence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RULE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In ETL the data is transformed BEFORE it lands — so what arrives in the warehouse is already conformed and trustworthy.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INTEGRATION METHODS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ETL vs ELT — When to Use Which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ETL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ELT</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Order</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Extract → Transform → Load</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Extract → Load → Transform</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Transform runs</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In a staging/processing layer</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Inside the target platform</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Target</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Data warehouse</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Data lake / lakehouse / cloud warehouse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Schema</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Schema-on-write, decided up front</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Schema-on-read, decided at query time</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Best when</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Requirements are stable and known</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You want to keep raw data for future, unknown uses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Trade-off</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Clean on arrival, less flexible</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Flexible, but transformation debt accumulates</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Use ELT when you are landing into a data lake — hold the raw data and transform it when the question is known.</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LOADING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Loading Strategies and Frequency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Full load</a:t>
            </a:r>
          </a:p>
          <a:p>
            <a:pPr algn="l">
              <a:spcAft>
                <a:spcPts val="300"/>
              </a:spcAft>
            </a:pPr>
            <a:r>
              <a:rPr sz="1200" b="0">
                <a:solidFill>
                  <a:srgbClr val="5B6372"/>
                </a:solidFill>
                <a:latin typeface="Arial"/>
              </a:rPr>
              <a:t>Every row is loaded every time. Simple and self-correcting, but slow and expensive at scale.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Delta / incremental load</a:t>
            </a:r>
          </a:p>
          <a:p>
            <a:pPr algn="l">
              <a:spcAft>
                <a:spcPts val="300"/>
              </a:spcAft>
            </a:pPr>
            <a:r>
              <a:rPr sz="1200" b="0">
                <a:solidFill>
                  <a:srgbClr val="5B6372"/>
                </a:solidFill>
                <a:latin typeface="Arial"/>
              </a:rPr>
              <a:t>Only new or changed records since the last run. Fast, but you must track the watermark reliably.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Batch processing</a:t>
            </a:r>
          </a:p>
          <a:p>
            <a:pPr algn="l">
              <a:spcAft>
                <a:spcPts val="300"/>
              </a:spcAft>
            </a:pPr>
            <a:r>
              <a:rPr sz="1200" b="0">
                <a:solidFill>
                  <a:srgbClr val="5B6372"/>
                </a:solidFill>
                <a:latin typeface="Arial"/>
              </a:rPr>
              <a:t>Large volumes processed on a schedule — nightly, hourly. The default for reporting.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Real-time / streaming</a:t>
            </a:r>
          </a:p>
          <a:p>
            <a:pPr algn="l">
              <a:spcAft>
                <a:spcPts val="300"/>
              </a:spcAft>
            </a:pPr>
            <a:r>
              <a:rPr sz="1200" b="0">
                <a:solidFill>
                  <a:srgbClr val="5B6372"/>
                </a:solidFill>
                <a:latin typeface="Arial"/>
              </a:rPr>
              <a:t>Records processed as they arrive. Needed when the decision cannot wait for the batch.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Transaction processing</a:t>
            </a:r>
          </a:p>
          <a:p>
            <a:pPr algn="l">
              <a:spcAft>
                <a:spcPts val="300"/>
              </a:spcAft>
            </a:pPr>
            <a:r>
              <a:rPr sz="1200" b="0">
                <a:solidFill>
                  <a:srgbClr val="5B6372"/>
                </a:solidFill>
                <a:latin typeface="Arial"/>
              </a:rPr>
              <a:t>Large volumes of individual transactions handled synchronously as they occur.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Distributed processing</a:t>
            </a:r>
          </a:p>
          <a:p>
            <a:pPr algn="l">
              <a:spcAft>
                <a:spcPts val="300"/>
              </a:spcAft>
            </a:pPr>
            <a:r>
              <a:rPr sz="1200" b="0">
                <a:solidFill>
                  <a:srgbClr val="5B6372"/>
                </a:solidFill>
                <a:latin typeface="Arial"/>
              </a:rPr>
              <a:t>Very large datasets split across many servers so they can be processed in parallel.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APPLICATION PROGRAMMING INTERFACES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API Pull vs Push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Pull model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Push model</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Who initiates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Your system requests the data</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source notifies you when data changes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Timing</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 your schedule — polling</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 the source's event — webhook</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Freshness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As fresh as your polling interval</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Near real-time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Cost</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Wasted calls when nothing changed</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Efficient, but needs a listener endpoint</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Failure mode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You miss changes between polls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missed notification is lost unless retried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Understanding the FREQUENCY of change in the source is what tells you which model you need.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WHERE THE DATA COMES FROM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Acquisition Methods and Their Risks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Database query</a:t>
            </a:r>
          </a:p>
          <a:p>
            <a:pPr algn="l">
              <a:spcAft>
                <a:spcPts val="300"/>
              </a:spcAft>
            </a:pPr>
            <a:r>
              <a:rPr sz="1100" b="0">
                <a:solidFill>
                  <a:srgbClr val="5B6372"/>
                </a:solidFill>
                <a:latin typeface="Arial"/>
              </a:rPr>
              <a:t>Most reliable — typed, documented, joinable. Use it whenever the source offers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API</a:t>
            </a:r>
          </a:p>
          <a:p>
            <a:pPr algn="l">
              <a:spcAft>
                <a:spcPts val="300"/>
              </a:spcAft>
            </a:pPr>
            <a:r>
              <a:rPr sz="1100" b="0">
                <a:solidFill>
                  <a:srgbClr val="5B6372"/>
                </a:solidFill>
                <a:latin typeface="Arial"/>
              </a:rPr>
              <a:t>A defined contract, usually JSON over HTTPS. Watch rate limits, pagination and authentication.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Web scraping</a:t>
            </a:r>
          </a:p>
          <a:p>
            <a:pPr algn="l">
              <a:spcAft>
                <a:spcPts val="300"/>
              </a:spcAft>
            </a:pPr>
            <a:r>
              <a:rPr sz="1100" b="0">
                <a:solidFill>
                  <a:srgbClr val="5B6372"/>
                </a:solidFill>
                <a:latin typeface="Arial"/>
              </a:rPr>
              <a:t>Selenium, BeautifulSoup, Scrapy. FRAGILE — a layout change breaks it — and you must have permission.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Public repositories</a:t>
            </a:r>
          </a:p>
          <a:p>
            <a:pPr algn="l">
              <a:spcAft>
                <a:spcPts val="300"/>
              </a:spcAft>
            </a:pPr>
            <a:r>
              <a:rPr sz="1100" b="0">
                <a:solidFill>
                  <a:srgbClr val="5B6372"/>
                </a:solidFill>
                <a:latin typeface="Arial"/>
              </a:rPr>
              <a:t>data.gov.sg, data.gov, Kaggle, Pew Research, GeoPostcodes. Check the licence and the currency of the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Survey data</a:t>
            </a:r>
          </a:p>
          <a:p>
            <a:pPr algn="l">
              <a:spcAft>
                <a:spcPts val="300"/>
              </a:spcAft>
            </a:pPr>
            <a:r>
              <a:rPr sz="1100" b="0">
                <a:solidFill>
                  <a:srgbClr val="5B6372"/>
                </a:solidFill>
                <a:latin typeface="Arial"/>
              </a:rPr>
              <a:t>Bias is the enemy. Cover the whole range of responses; use a Likert scale for shades of opinion.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Sampling &amp; observation</a:t>
            </a:r>
          </a:p>
          <a:p>
            <a:pPr algn="l">
              <a:spcAft>
                <a:spcPts val="300"/>
              </a:spcAft>
            </a:pPr>
            <a:r>
              <a:rPr sz="1100" b="0">
                <a:solidFill>
                  <a:srgbClr val="5B6372"/>
                </a:solidFill>
                <a:latin typeface="Arial"/>
              </a:rPr>
              <a:t>Random, systematic or stratified sampling reduces volume — but a biased sample invalidates everything downstream.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DATA PROFILING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Profile before you trust. Always.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Data profiling is the disciplined first pass over any new dataset: identify the source, the field names and types, the keys, the row count and what the values actually contain. Skipping it is how a wrong number reaches the board.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EXPLORATION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Data Profiling Procedure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 the source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Where did this come from?</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Inventory the fields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Names and data types</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Find the keys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Primary, natural, foreign</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Quantify defects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Nulls, dupes, outliers</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Document it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Record what you found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THE OUTPUT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written profile that says how bad the data is BEFORE you clean it — your baseline for measuring the cleaning.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DATA EXPLORATION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Defect Classes You Must Find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Missing values (NULL)</a:t>
            </a:r>
          </a:p>
          <a:p>
            <a:pPr algn="l">
              <a:spcAft>
                <a:spcPts val="300"/>
              </a:spcAft>
            </a:pPr>
            <a:r>
              <a:rPr sz="1100" b="0">
                <a:solidFill>
                  <a:srgbClr val="5B6372"/>
                </a:solidFill>
                <a:latin typeface="Arial"/>
              </a:rPr>
              <a:t>Blank, NULL or N/A. Causes: not applicable, never collected, mismatched fields, incomplete survey.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Duplicated data</a:t>
            </a:r>
          </a:p>
          <a:p>
            <a:pPr algn="l">
              <a:spcAft>
                <a:spcPts val="300"/>
              </a:spcAft>
            </a:pPr>
            <a:r>
              <a:rPr sz="1100" b="0">
                <a:solidFill>
                  <a:srgbClr val="5B6372"/>
                </a:solidFill>
                <a:latin typeface="Arial"/>
              </a:rPr>
              <a:t>The same record repeated within one dataset. Inflates every count, sum and average.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Redundant data</a:t>
            </a:r>
          </a:p>
          <a:p>
            <a:pPr algn="l">
              <a:spcAft>
                <a:spcPts val="300"/>
              </a:spcAft>
            </a:pPr>
            <a:r>
              <a:rPr sz="1100" b="0">
                <a:solidFill>
                  <a:srgbClr val="5B6372"/>
                </a:solidFill>
                <a:latin typeface="Arial"/>
              </a:rPr>
              <a:t>Identical data stored in multiple places. Not always wrong — but it must be reconciled.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Invalid data</a:t>
            </a:r>
          </a:p>
          <a:p>
            <a:pPr algn="l">
              <a:spcAft>
                <a:spcPts val="300"/>
              </a:spcAft>
            </a:pPr>
            <a:r>
              <a:rPr sz="1100" b="0">
                <a:solidFill>
                  <a:srgbClr val="5B6372"/>
                </a:solidFill>
                <a:latin typeface="Arial"/>
              </a:rPr>
              <a:t>Wrong type, hard-coded values, invisible/non-printable ASCII characters, leading and trailing spaces.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Outliers</a:t>
            </a:r>
          </a:p>
          <a:p>
            <a:pPr algn="l">
              <a:spcAft>
                <a:spcPts val="300"/>
              </a:spcAft>
            </a:pPr>
            <a:r>
              <a:rPr sz="1100" b="0">
                <a:solidFill>
                  <a:srgbClr val="5B6372"/>
                </a:solidFill>
                <a:latin typeface="Arial"/>
              </a:rPr>
              <a:t>Values far outside the normal distance from the rest. May be an error — or the most important signal.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Specification failures</a:t>
            </a:r>
          </a:p>
          <a:p>
            <a:pPr algn="l">
              <a:spcAft>
                <a:spcPts val="300"/>
              </a:spcAft>
            </a:pPr>
            <a:r>
              <a:rPr sz="1100" b="0">
                <a:solidFill>
                  <a:srgbClr val="5B6372"/>
                </a:solidFill>
                <a:latin typeface="Arial"/>
              </a:rPr>
              <a:t>Data that does not meet the type or quality the schema requires — usually a wrong data type.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HANDLING MISSING VALUES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Value Is Missing. What Do I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Is the value missing at random, or does the missingness itself mean something?</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MISSING AT RANDOM</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Impute it — substitute the mean, median or a modelled estimate — or filter the row out. Document the choice and the count.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MEANINGFUL MISSING</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Keep it as NULL and treat it as a category. 'No answer' may be your most interesting finding — imputing it destroys that signal.</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Whichever you choose, never silently drop rows — always report how many records the decision affected.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DATA TRANSFORMATION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Manipulation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Recoding</a:t>
            </a:r>
          </a:p>
          <a:p>
            <a:pPr algn="l">
              <a:spcAft>
                <a:spcPts val="300"/>
              </a:spcAft>
            </a:pPr>
            <a:r>
              <a:rPr sz="1100" b="0">
                <a:solidFill>
                  <a:srgbClr val="5B6372"/>
                </a:solidFill>
                <a:latin typeface="Arial"/>
              </a:rPr>
              <a:t>Transforming values from one form to another — e.g. banding ages into groups. Decide: overwrite or new column?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Derived variables</a:t>
            </a:r>
          </a:p>
          <a:p>
            <a:pPr algn="l">
              <a:spcAft>
                <a:spcPts val="300"/>
              </a:spcAft>
            </a:pPr>
            <a:r>
              <a:rPr sz="1100" b="0">
                <a:solidFill>
                  <a:srgbClr val="5B6372"/>
                </a:solidFill>
                <a:latin typeface="Arial"/>
              </a:rPr>
              <a:t>A new data point computed from existing fields. Store it (fast reads) or recompute it (saves space).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Imputation</a:t>
            </a:r>
          </a:p>
          <a:p>
            <a:pPr algn="l">
              <a:spcAft>
                <a:spcPts val="300"/>
              </a:spcAft>
            </a:pPr>
            <a:r>
              <a:rPr sz="1100" b="0">
                <a:solidFill>
                  <a:srgbClr val="5B6372"/>
                </a:solidFill>
                <a:latin typeface="Arial"/>
              </a:rPr>
              <a:t>Substituting a missing value with an estimate — mean, median, last-known or modelled.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Aggregation &amp; reduction</a:t>
            </a:r>
          </a:p>
          <a:p>
            <a:pPr algn="l">
              <a:spcAft>
                <a:spcPts val="300"/>
              </a:spcAft>
            </a:pPr>
            <a:r>
              <a:rPr sz="1100" b="0">
                <a:solidFill>
                  <a:srgbClr val="5B6372"/>
                </a:solidFill>
                <a:latin typeface="Arial"/>
              </a:rPr>
              <a:t>Summarising to a coarser grain, or sampling down. Beware introducing bias when you sample.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Transposing / unpivoting</a:t>
            </a:r>
          </a:p>
          <a:p>
            <a:pPr algn="l">
              <a:spcAft>
                <a:spcPts val="300"/>
              </a:spcAft>
            </a:pPr>
            <a:r>
              <a:rPr sz="1100" b="0">
                <a:solidFill>
                  <a:srgbClr val="5B6372"/>
                </a:solidFill>
                <a:latin typeface="Arial"/>
              </a:rPr>
              <a:t>Rotating rows into columns or columns into rows so the shape suits the analysis.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Appending &amp; merging</a:t>
            </a:r>
          </a:p>
          <a:p>
            <a:pPr algn="l">
              <a:spcAft>
                <a:spcPts val="300"/>
              </a:spcAft>
            </a:pPr>
            <a:r>
              <a:rPr sz="1100" b="0">
                <a:solidFill>
                  <a:srgbClr val="5B6372"/>
                </a:solidFill>
                <a:latin typeface="Arial"/>
              </a:rPr>
              <a:t>Inline append discards the originals; intermediate append keeps them and creates a new combined set.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PARSING STRINGS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Parsing a Messy Field with a Regular Expression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One source column holds a name, an e-mail and a phone number. You validate the pattern in RegexLab, then apply it in pandas.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the raw value</a:t>
            </a:r>
          </a:p>
          <a:p>
            <a:pPr>
              <a:spcAft>
                <a:spcPts val="200"/>
              </a:spcAft>
            </a:pPr>
            <a:r>
              <a:rPr sz="1100">
                <a:solidFill>
                  <a:srgbClr val="9CDCFE"/>
                </a:solidFill>
                <a:latin typeface="Consolas"/>
              </a:rPr>
              <a:t>'Mei Tan &lt;mei.tan@example.sg&gt; +65 9123 4567'</a:t>
            </a:r>
          </a:p>
          <a:p>
            <a:pPr>
              <a:spcAft>
                <a:spcPts val="200"/>
              </a:spcAft>
            </a:pPr>
            <a:r>
              <a:rPr sz="1100">
                <a:solidFill>
                  <a:srgbClr val="9CDCFE"/>
                </a:solidFill>
                <a:latin typeface="Consolas"/>
              </a:rPr>
              <a:t/>
            </a:r>
          </a:p>
          <a:p>
            <a:pPr>
              <a:spcAft>
                <a:spcPts val="200"/>
              </a:spcAft>
            </a:pPr>
            <a:r>
              <a:rPr sz="1100">
                <a:solidFill>
                  <a:srgbClr val="6A9955"/>
                </a:solidFill>
                <a:latin typeface="Consolas"/>
              </a:rPr>
              <a:t># validated in RegexLab first, then applied:</a:t>
            </a:r>
          </a:p>
          <a:p>
            <a:pPr>
              <a:spcAft>
                <a:spcPts val="200"/>
              </a:spcAft>
            </a:pPr>
            <a:r>
              <a:rPr sz="1100">
                <a:solidFill>
                  <a:srgbClr val="D4D4D4"/>
                </a:solidFill>
                <a:latin typeface="Consolas"/>
              </a:rPr>
              <a:t>d['name']  = d.contact.str.extract(</a:t>
            </a:r>
          </a:p>
          <a:p>
            <a:pPr>
              <a:spcAft>
                <a:spcPts val="200"/>
              </a:spcAft>
            </a:pPr>
            <a:r>
              <a:rPr sz="1100">
                <a:solidFill>
                  <a:srgbClr val="9CDCFE"/>
                </a:solidFill>
                <a:latin typeface="Consolas"/>
              </a:rPr>
              <a:t>    r'^([A-Za-z ]+?)\s*&lt;')</a:t>
            </a:r>
          </a:p>
          <a:p>
            <a:pPr>
              <a:spcAft>
                <a:spcPts val="200"/>
              </a:spcAft>
            </a:pPr>
            <a:r>
              <a:rPr sz="1100">
                <a:solidFill>
                  <a:srgbClr val="D4D4D4"/>
                </a:solidFill>
                <a:latin typeface="Consolas"/>
              </a:rPr>
              <a:t>d['email'] = d.contact.str.extract(</a:t>
            </a:r>
          </a:p>
          <a:p>
            <a:pPr>
              <a:spcAft>
                <a:spcPts val="200"/>
              </a:spcAft>
            </a:pPr>
            <a:r>
              <a:rPr sz="1100">
                <a:solidFill>
                  <a:srgbClr val="9CDCFE"/>
                </a:solidFill>
                <a:latin typeface="Consolas"/>
              </a:rPr>
              <a:t>    r'([\w.%+-]+@[\w.-]+\.[A-Za-z]{2,})')</a:t>
            </a:r>
          </a:p>
          <a:p>
            <a:pPr>
              <a:spcAft>
                <a:spcPts val="200"/>
              </a:spcAft>
            </a:pPr>
            <a:r>
              <a:rPr sz="1100">
                <a:solidFill>
                  <a:srgbClr val="D4D4D4"/>
                </a:solidFill>
                <a:latin typeface="Consolas"/>
              </a:rPr>
              <a:t>d['phone'] = d.contact.str.extract(</a:t>
            </a:r>
          </a:p>
          <a:p>
            <a:pPr>
              <a:spcAft>
                <a:spcPts val="200"/>
              </a:spcAft>
            </a:pPr>
            <a:r>
              <a:rPr sz="1100">
                <a:solidFill>
                  <a:srgbClr val="9CDCFE"/>
                </a:solidFill>
                <a:latin typeface="Consolas"/>
              </a:rPr>
              <a:t>    r'((?:\+65 ?)?[689]\d{3} ?\d{4})')</a:t>
            </a:r>
          </a:p>
          <a:p>
            <a:pPr>
              <a:spcAft>
                <a:spcPts val="200"/>
              </a:spcAft>
            </a:pPr>
            <a:r>
              <a:rPr sz="1100">
                <a:solidFill>
                  <a:srgbClr val="9CDCFE"/>
                </a:solidFill>
                <a:latin typeface="Consolas"/>
              </a:rPr>
              <a:t/>
            </a:r>
          </a:p>
          <a:p>
            <a:pPr>
              <a:spcAft>
                <a:spcPts val="200"/>
              </a:spcAft>
            </a:pPr>
            <a:r>
              <a:rPr sz="1100">
                <a:solidFill>
                  <a:srgbClr val="6A9955"/>
                </a:solidFill>
                <a:latin typeface="Consolas"/>
              </a:rPr>
              <a:t># then normalise the phone format</a:t>
            </a:r>
          </a:p>
          <a:p>
            <a:pPr>
              <a:spcAft>
                <a:spcPts val="200"/>
              </a:spcAft>
            </a:pPr>
            <a:r>
              <a:rPr sz="1100">
                <a:solidFill>
                  <a:srgbClr val="D4D4D4"/>
                </a:solidFill>
                <a:latin typeface="Consolas"/>
              </a:rPr>
              <a:t>d['phone'] = (d.phone.str</a:t>
            </a:r>
          </a:p>
          <a:p>
            <a:pPr>
              <a:spcAft>
                <a:spcPts val="200"/>
              </a:spcAft>
            </a:pPr>
            <a:r>
              <a:rPr sz="1100">
                <a:solidFill>
                  <a:srgbClr val="D4D4D4"/>
                </a:solidFill>
                <a:latin typeface="Consolas"/>
              </a:rPr>
              <a:t>    .replace(r'[^0-9]', '', regex=True)</a:t>
            </a:r>
          </a:p>
          <a:p>
            <a:pPr>
              <a:spcAft>
                <a:spcPts val="200"/>
              </a:spcAft>
            </a:pPr>
            <a:r>
              <a:rPr sz="1100">
                <a:solidFill>
                  <a:srgbClr val="9CDCFE"/>
                </a:solidFill>
                <a:latin typeface="Consolas"/>
              </a:rPr>
              <a:t>    .str[-8:])</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^([A-Za-z ]+?)\s*&lt;</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Anchored at the start; lazy match up to the first angle bracket gives the name.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[\w.%+-]+@[\w.-]+</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standard e-mail shape — local part, @, domain, then a 2+ letter TLD.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[689]\d{3} ?\d{4}</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Singapore mobile or landline: 8 digits starting 6, 8 or 9, optional +65 and spaces.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Capturing group required</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pandas .str.extract returns the GROUP — without parentheses it returns NaN.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MANIPULATION FUNCTIONS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Text, Date and Logical Functions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Parsing &amp; delimiters</a:t>
            </a:r>
          </a:p>
          <a:p>
            <a:pPr algn="l">
              <a:spcAft>
                <a:spcPts val="300"/>
              </a:spcAft>
            </a:pPr>
            <a:r>
              <a:rPr sz="1100" b="0">
                <a:solidFill>
                  <a:srgbClr val="5B6372"/>
                </a:solidFill>
                <a:latin typeface="Arial"/>
              </a:rPr>
              <a:t>Split text on spaces, commas, periods, pipes or tabs — the power of a delimiter is limited by the source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Date functions</a:t>
            </a:r>
          </a:p>
          <a:p>
            <a:pPr algn="l">
              <a:spcAft>
                <a:spcPts val="300"/>
              </a:spcAft>
            </a:pPr>
            <a:r>
              <a:rPr sz="1100" b="0">
                <a:solidFill>
                  <a:srgbClr val="5B6372"/>
                </a:solidFill>
                <a:latin typeface="Arial"/>
              </a:rPr>
              <a:t>NOW() and TODAY() return the current moment; DATEDIFF() gives the interval between two dates.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Business-day functions</a:t>
            </a:r>
          </a:p>
          <a:p>
            <a:pPr algn="l">
              <a:spcAft>
                <a:spcPts val="300"/>
              </a:spcAft>
            </a:pPr>
            <a:r>
              <a:rPr sz="1100" b="0">
                <a:solidFill>
                  <a:srgbClr val="5B6372"/>
                </a:solidFill>
                <a:latin typeface="Arial"/>
              </a:rPr>
              <a:t>NETWORKDAYS() counts working days (but not public holidays); WEEKDAY(), WEEKNUM(), MONTH() extract parts.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Conditional logic</a:t>
            </a:r>
          </a:p>
          <a:p>
            <a:pPr algn="l">
              <a:spcAft>
                <a:spcPts val="300"/>
              </a:spcAft>
            </a:pPr>
            <a:r>
              <a:rPr sz="1100" b="0">
                <a:solidFill>
                  <a:srgbClr val="5B6372"/>
                </a:solidFill>
                <a:latin typeface="Arial"/>
              </a:rPr>
              <a:t>IF() tests a condition; ISNULL() substitutes a value when the expression is null.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AND vs OR</a:t>
            </a:r>
          </a:p>
          <a:p>
            <a:pPr algn="l">
              <a:spcAft>
                <a:spcPts val="300"/>
              </a:spcAft>
            </a:pPr>
            <a:r>
              <a:rPr sz="1100" b="0">
                <a:solidFill>
                  <a:srgbClr val="5B6372"/>
                </a:solidFill>
                <a:latin typeface="Arial"/>
              </a:rPr>
              <a:t>AND requires BOTH conditions true; OR requires EITHER to be true. Getting this backwards silently changes your filter.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Aggregations</a:t>
            </a:r>
          </a:p>
          <a:p>
            <a:pPr algn="l">
              <a:spcAft>
                <a:spcPts val="300"/>
              </a:spcAft>
            </a:pPr>
            <a:r>
              <a:rPr sz="1100" b="0">
                <a:solidFill>
                  <a:srgbClr val="5B6372"/>
                </a:solidFill>
                <a:latin typeface="Arial"/>
              </a:rPr>
              <a:t>SUM, COUNT, DISTINCT COUNT, AVERAGE, MIN, MAX — DISTINCT COUNT counts each value only once.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QUERYING AND COMBINING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SQL Join Types — What Each One Keeps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Join 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Keeps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use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INNER JOIN</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Only rows matching in BOTH tables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Confirmed transactions with a known customer</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LEFT OUTER JOIN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left rows + matches from the right</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customers, including those with no orders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RIGHT OUTER JOIN</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right rows + matches from the left</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orders, including orphans with no customer</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FULL OUTER JOIN</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Every row from both sides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Reconciling two systems to find what each is missing</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CROSS JOIN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Every combination of both tables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Generating a complete date × product grid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silent killer: an INNER JOIN drops unmatched rows without warning. Always reconcile your record count before and after.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QUERY PERFORMANCE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Query Optimisation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Filtering</a:t>
            </a:r>
          </a:p>
          <a:p>
            <a:pPr algn="l">
              <a:spcAft>
                <a:spcPts val="300"/>
              </a:spcAft>
            </a:pPr>
            <a:r>
              <a:rPr sz="1200" b="0">
                <a:solidFill>
                  <a:srgbClr val="5B6372"/>
                </a:solidFill>
                <a:latin typeface="Arial"/>
              </a:rPr>
              <a:t>WHERE restricts the result to a subset — and cuts the work the database must do.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Indexing</a:t>
            </a:r>
          </a:p>
          <a:p>
            <a:pPr algn="l">
              <a:spcAft>
                <a:spcPts val="300"/>
              </a:spcAft>
            </a:pPr>
            <a:r>
              <a:rPr sz="1200" b="0">
                <a:solidFill>
                  <a:srgbClr val="5B6372"/>
                </a:solidFill>
                <a:latin typeface="Arial"/>
              </a:rPr>
              <a:t>An index speeds up lookups on a column, but costs space, build time and maintenance on every write.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Parameterisation</a:t>
            </a:r>
          </a:p>
          <a:p>
            <a:pPr algn="l">
              <a:spcAft>
                <a:spcPts val="300"/>
              </a:spcAft>
            </a:pPr>
            <a:r>
              <a:rPr sz="1200" b="0">
                <a:solidFill>
                  <a:srgbClr val="5B6372"/>
                </a:solidFill>
                <a:latin typeface="Arial"/>
              </a:rPr>
              <a:t>Replace hard-coded values with parameters so one query serves many cases — and resists SQL injection.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Temporary tables</a:t>
            </a:r>
          </a:p>
          <a:p>
            <a:pPr algn="l">
              <a:spcAft>
                <a:spcPts val="300"/>
              </a:spcAft>
            </a:pPr>
            <a:r>
              <a:rPr sz="1200" b="0">
                <a:solidFill>
                  <a:srgbClr val="5B6372"/>
                </a:solidFill>
                <a:latin typeface="Arial"/>
              </a:rPr>
              <a:t>Hold an intermediate result in memory. Faster, and much easier to reason about than a giant nested query.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Subqueries</a:t>
            </a:r>
          </a:p>
          <a:p>
            <a:pPr algn="l">
              <a:spcAft>
                <a:spcPts val="300"/>
              </a:spcAft>
            </a:pPr>
            <a:r>
              <a:rPr sz="1200" b="0">
                <a:solidFill>
                  <a:srgbClr val="5B6372"/>
                </a:solidFill>
                <a:latin typeface="Arial"/>
              </a:rPr>
              <a:t>A query nested inside another. Readable, but often slower than the equivalent join.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Execution plan</a:t>
            </a:r>
          </a:p>
          <a:p>
            <a:pPr algn="l">
              <a:spcAft>
                <a:spcPts val="300"/>
              </a:spcAft>
            </a:pPr>
            <a:r>
              <a:rPr sz="1200" b="0">
                <a:solidFill>
                  <a:srgbClr val="5B6372"/>
                </a:solidFill>
                <a:latin typeface="Arial"/>
              </a:rPr>
              <a:t>The database's own visual explanation of how it will run your query — read it to find the slow step.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4 — Explore a Dirty Dataset: Missing Values, Duplicates and Outliers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Perform data exploration: find missing values, duplication, redundancy or outliers (Domain 2); LO2 / K1 / A2.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are handed a deliberately dirty sales extract and must profile it before trusting a single number. You quantify every defect class the exam names — nulls, duplicates, redundancy and outliers — and produce a data-quality report that says how bad the data is BEFORE you clean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data-quality profile report quantifying null counts per column, duplicate rows, and outliers detected by z-score.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profile reports 63 rows, 4 null cities, 3 null spends, 2 null order_dates and 3 duplicate rows. Two extreme outliers (99999.00 and 87500.00) are flagged at |z| &gt; 3. The mean spend (~3348) is more than fifteen times the median (~219) — proof the outliers are distorting the mean.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7</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Load it and look at the shape and dtypes fir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2 of 7</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Count DUPLICATE rows and show which ones the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7</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Get the descriptive summary and note how bad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7</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the profile report to a file so the cl</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data-quality profile report quantifying null counts per column, duplicate rows, and outliers detected by z-score.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4 — Explore a Dirty Dataset: Missing Values, Duplicates and Outliers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~/dataplus/lab4 &amp;&amp; cd ~/dataplus/lab4;</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D=lab-04-explore-a-dirty-dataset-missing-values-duplicates-an;</a:t>
            </a:r>
          </a:p>
          <a:p>
            <a:pPr algn="l">
              <a:spcAft>
                <a:spcPts val="0"/>
              </a:spcAft>
            </a:pPr>
            <a:r>
              <a:rPr sz="640" b="0">
                <a:solidFill>
                  <a:srgbClr val="9CDCFE"/>
                </a:solidFill>
                <a:latin typeface="Consolas"/>
              </a:rPr>
              <a:t>   for f in sales_dirty.csv;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Load it and look at the shape and dtypes first — always know how many records you started with.</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740" b="0">
                <a:solidFill>
                  <a:srgbClr val="9CDCFE"/>
                </a:solidFill>
                <a:latin typeface="Consolas"/>
              </a:rPr>
              <a:t>$ python3 -c "import pandas as pd;d=pd.read_csv('sales_dirty.csv');print(d.shape);print(d.dtypes)"</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Count MISSING VALUES per column — the exam's first exploration task.</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740" b="0">
                <a:solidFill>
                  <a:srgbClr val="9CDCFE"/>
                </a:solidFill>
                <a:latin typeface="Consolas"/>
              </a:rPr>
              <a:t>$ python3 -c "import pandas as pd;d=pd.read_csv('sales_dirty.csv');print(d.isnull().sum())"</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4 — Explore a Dirty Dataset: Missing Values, Duplicates and Outliers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Count DUPLICATE rows and show which ones they are.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d=pd.read_csv('sales_dirty.csv');</a:t>
            </a:r>
          </a:p>
          <a:p>
            <a:pPr algn="l">
              <a:spcAft>
                <a:spcPts val="0"/>
              </a:spcAft>
            </a:pPr>
            <a:r>
              <a:rPr sz="640" b="0">
                <a:solidFill>
                  <a:srgbClr val="9CDCFE"/>
                </a:solidFill>
                <a:latin typeface="Consolas"/>
              </a:rPr>
              <a:t>   print('dupes:',d.duplicated().sum());</a:t>
            </a:r>
          </a:p>
          <a:p>
            <a:pPr algn="l">
              <a:spcAft>
                <a:spcPts val="0"/>
              </a:spcAft>
            </a:pPr>
            <a:r>
              <a:rPr sz="640" b="0">
                <a:solidFill>
                  <a:srgbClr val="9CDCFE"/>
                </a:solidFill>
                <a:latin typeface="Consolas"/>
              </a:rPr>
              <a:t>   print(d[d.duplicated(keep=False)])"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Detect OUTLIERS with a z-score — any |z| above 3 is the standard flag.</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d=pd.read_csv('sales_dirty.csv');</a:t>
            </a:r>
          </a:p>
          <a:p>
            <a:pPr algn="l">
              <a:spcAft>
                <a:spcPts val="0"/>
              </a:spcAft>
            </a:pPr>
            <a:r>
              <a:rPr sz="640" b="0">
                <a:solidFill>
                  <a:srgbClr val="9CDCFE"/>
                </a:solidFill>
                <a:latin typeface="Consolas"/>
              </a:rPr>
              <a:t>   s=pd.to_numeric(d['spend'],errors='coerce');</a:t>
            </a:r>
          </a:p>
          <a:p>
            <a:pPr algn="l">
              <a:spcAft>
                <a:spcPts val="0"/>
              </a:spcAft>
            </a:pPr>
            <a:r>
              <a:rPr sz="640" b="0">
                <a:solidFill>
                  <a:srgbClr val="9CDCFE"/>
                </a:solidFill>
                <a:latin typeface="Consolas"/>
              </a:rPr>
              <a:t>   z=(s-s.mean())/s.std();</a:t>
            </a:r>
          </a:p>
          <a:p>
            <a:pPr algn="l">
              <a:spcAft>
                <a:spcPts val="0"/>
              </a:spcAft>
            </a:pPr>
            <a:r>
              <a:rPr sz="640" b="0">
                <a:solidFill>
                  <a:srgbClr val="9CDCFE"/>
                </a:solidFill>
                <a:latin typeface="Consolas"/>
              </a:rPr>
              <a:t>   print(d.loc[z[abs(z)&gt;3].index])"</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Get the descriptive summary and note how badly the 99999 distorts the mean versus the median.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d=pd.read_csv('sales_dirty.csv');</a:t>
            </a:r>
          </a:p>
          <a:p>
            <a:pPr algn="l">
              <a:spcAft>
                <a:spcPts val="0"/>
              </a:spcAft>
            </a:pPr>
            <a:r>
              <a:rPr sz="640" b="0">
                <a:solidFill>
                  <a:srgbClr val="9CDCFE"/>
                </a:solidFill>
                <a:latin typeface="Consolas"/>
              </a:rPr>
              <a:t>   print(d['spend'].describe());</a:t>
            </a:r>
          </a:p>
          <a:p>
            <a:pPr algn="l">
              <a:spcAft>
                <a:spcPts val="0"/>
              </a:spcAft>
            </a:pPr>
            <a:r>
              <a:rPr sz="640" b="0">
                <a:solidFill>
                  <a:srgbClr val="9CDCFE"/>
                </a:solidFill>
                <a:latin typeface="Consolas"/>
              </a:rPr>
              <a:t>   print('median',d['spend'].median())"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4 — Explore a Dirty Dataset: Missing Values, Duplicates and Outliers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Write the profile report to a file so the cleaning lab can be measured against it.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a:t>
            </a:r>
          </a:p>
          <a:p>
            <a:pPr algn="l">
              <a:spcAft>
                <a:spcPts val="0"/>
              </a:spcAft>
            </a:pPr>
            <a:r>
              <a:rPr sz="640" b="0">
                <a:solidFill>
                  <a:srgbClr val="9CDCFE"/>
                </a:solidFill>
                <a:latin typeface="Consolas"/>
              </a:rPr>
              <a:t>   pd;d=pd.read_csv('sales_dirty.csv');open('profile.txt','w').write(str(d.isnull().sum())+'\ndupes:</a:t>
            </a:r>
          </a:p>
          <a:p>
            <a:pPr algn="l">
              <a:spcAft>
                <a:spcPts val="0"/>
              </a:spcAft>
            </a:pPr>
            <a:r>
              <a:rPr sz="640" b="0">
                <a:solidFill>
                  <a:srgbClr val="9CDCFE"/>
                </a:solidFill>
                <a:latin typeface="Consolas"/>
              </a:rPr>
              <a:t>   '+str(d.duplicated().sum())+'\nmean: '+str(d.spend.mean())+'\nmedian: '+str(d.spend.median()))" &amp;&amp; cat</a:t>
            </a:r>
          </a:p>
          <a:p>
            <a:pPr algn="l">
              <a:spcAft>
                <a:spcPts val="0"/>
              </a:spcAft>
            </a:pPr>
            <a:r>
              <a:rPr sz="640" b="0">
                <a:solidFill>
                  <a:srgbClr val="9CDCFE"/>
                </a:solidFill>
                <a:latin typeface="Consolas"/>
              </a:rPr>
              <a:t>   profile.txt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4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profile reports 63 rows, 4 null cities, 3 null spends, 2 null order_dates and 3 duplicate rows. Two extreme outliers (99999.00 and 87500.00) are flagged at |z| &gt; 3. The mean spend (~3348) is more than fifteen times the median (~219) — proof the outliers are distorting the mean.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 pandas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pip3 install pandas. On Killercoda add --break-system-packages if pip refuses.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download produced an empty file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your internet connection and the BASE URL, or copy sales_dirty.csv from the repo folder you cloned.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5 — Build Parsing Patterns in RegexLab and Apply Them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data transformation: cleansing, parsing and formatting data (Domain 2); LO2 / K1.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Real source fields arrive as one messy string — 'Mei Tan &lt;mei.tan@example.sg&gt; +65 9123 4567'. You use RegexLab to build and validate the extraction patterns interactively, then apply the proven patterns in pandas to split one dirty column into three clean, typed fields.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Three validated regex patterns (name, email, phone) and a cleaned CSV with the single contact column parsed into three columns.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RegexLab (https://alfredang.github.io/regexgenerator/), Killercoda Ubuntu, Python 3, pandas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contacts_clean.csv holds 30 rows, each with a name, an email and a normalised 8-digit phone. All 30 rows match all three patterns — no NaN in any column, no angle brackets, no +65 prefixes and no leftover spaces.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9</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Build the EMAIL pattern and watch the match</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9</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Build the NAME pattern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9</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Apply the SAME patterns you validated in Reg</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9</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Save the cleaned, parsed output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9 of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Three validated regex patterns (name, email, phone) and a cleaned CSV with the single contact column parsed into three columns.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5 — Build Parsing Patterns in RegexLab and Apply Them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~/dataplus/lab5 &amp;&amp; cd ~/dataplus/lab5;</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D=lab-05-build-parsing-patterns-in-regexlab-and-apply-them;</a:t>
            </a:r>
          </a:p>
          <a:p>
            <a:pPr algn="l">
              <a:spcAft>
                <a:spcPts val="0"/>
              </a:spcAft>
            </a:pPr>
            <a:r>
              <a:rPr sz="640" b="0">
                <a:solidFill>
                  <a:srgbClr val="9CDCFE"/>
                </a:solidFill>
                <a:latin typeface="Consolas"/>
              </a:rPr>
              <a:t>   for f in contacts.csv;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264408"/>
            <a:ext cx="9692640" cy="1417320"/>
          </a:xfrm>
          <a:prstGeom prst="rect">
            <a:avLst/>
          </a:prstGeom>
          <a:noFill/>
        </p:spPr>
        <p:txBody>
          <a:bodyPr wrap="square" anchor="ctr">
            <a:spAutoFit/>
          </a:bodyPr>
          <a:lstStyle/>
          <a:p>
            <a:pPr algn="l">
              <a:spcAft>
                <a:spcPts val="400"/>
              </a:spcAft>
            </a:pPr>
            <a:r>
              <a:rPr sz="1250" b="0">
                <a:solidFill>
                  <a:srgbClr val="161B26"/>
                </a:solidFill>
                <a:latin typeface="Arial"/>
              </a:rPr>
              <a:t>Paste these three messy contact records into the Test String box:  Mei Tan &lt;mei.tan@example.sg&gt; +65 9123 4567</a:t>
            </a:r>
          </a:p>
        </p:txBody>
      </p:sp>
      <p:sp>
        <p:nvSpPr>
          <p:cNvPr id="19" name="Rectangle 18"/>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EMAIL pattern and watch the match count update live. Confirm it matches all three records.</a:t>
            </a:r>
          </a:p>
        </p:txBody>
      </p:sp>
      <p:sp>
        <p:nvSpPr>
          <p:cNvPr id="24" name="Rectangle 23"/>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5175504"/>
            <a:ext cx="9326880" cy="923544"/>
          </a:xfrm>
          <a:prstGeom prst="rect">
            <a:avLst/>
          </a:prstGeom>
          <a:noFill/>
        </p:spPr>
        <p:txBody>
          <a:bodyPr wrap="none" anchor="ctr">
            <a:spAutoFit/>
          </a:bodyPr>
          <a:lstStyle/>
          <a:p>
            <a:pPr algn="l">
              <a:spcAft>
                <a:spcPts val="0"/>
              </a:spcAft>
            </a:pPr>
            <a:r>
              <a:rPr sz="1050" b="0">
                <a:solidFill>
                  <a:srgbClr val="9CDCFE"/>
                </a:solidFill>
                <a:latin typeface="Consolas"/>
              </a:rPr>
              <a:t>$ [a-zA-Z0-9._%+-]+@[a-zA-Z0-9.-]+\.[a-zA-Z]{2,}</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5 — Build Parsing Patterns in RegexLab and Apply Them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SINGAPORE PHONE pattern — 8 digits starting 6, 8 or 9, with optional +65 and spaces.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(?:\+65[ ]?)?[689][0-9]{3}[ ]?[0-9]{4}</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NAME pattern — everything before the first angle bracket, trimmed.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^([A-Za-z ]+?)\s*&lt;</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Use the Substitution panel to confirm your pattern replaces cleanly before you trust it in code.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5 — Build Parsing Patterns in RegexLab and Apply Them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the SAME patterns you validated in RegexLab, using pandas str.extract.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d=pd.read_csv('contacts.csv');</a:t>
            </a:r>
          </a:p>
          <a:p>
            <a:pPr algn="l">
              <a:spcAft>
                <a:spcPts val="0"/>
              </a:spcAft>
            </a:pPr>
            <a:r>
              <a:rPr sz="640" b="0">
                <a:solidFill>
                  <a:srgbClr val="9CDCFE"/>
                </a:solidFill>
                <a:latin typeface="Consolas"/>
              </a:rPr>
              <a:t>   d['name']=d.contact.str.extract(r'^([A-Za-z ]+?)\s*&lt;');</a:t>
            </a:r>
          </a:p>
          <a:p>
            <a:pPr algn="l">
              <a:spcAft>
                <a:spcPts val="0"/>
              </a:spcAft>
            </a:pPr>
            <a:r>
              <a:rPr sz="640" b="0">
                <a:solidFill>
                  <a:srgbClr val="9CDCFE"/>
                </a:solidFill>
                <a:latin typeface="Consolas"/>
              </a:rPr>
              <a:t>   d['email']=d.contact.str.extract(r'([a-zA-Z0-9._%+-]+@[a-zA-Z0-9.-]+\.[a-zA-Z]{2,})');</a:t>
            </a:r>
          </a:p>
          <a:p>
            <a:pPr algn="l">
              <a:spcAft>
                <a:spcPts val="0"/>
              </a:spcAft>
            </a:pPr>
            <a:r>
              <a:rPr sz="640" b="0">
                <a:solidFill>
                  <a:srgbClr val="9CDCFE"/>
                </a:solidFill>
                <a:latin typeface="Consolas"/>
              </a:rPr>
              <a:t>   d['phone']=d.contact.str.extract(r'((?:\+65 ?)?[689][0-9]{3} ?[0-9]{4})');</a:t>
            </a:r>
          </a:p>
          <a:p>
            <a:pPr algn="l">
              <a:spcAft>
                <a:spcPts val="0"/>
              </a:spcAft>
            </a:pPr>
            <a:r>
              <a:rPr sz="640" b="0">
                <a:solidFill>
                  <a:srgbClr val="9CDCFE"/>
                </a:solidFill>
                <a:latin typeface="Consolas"/>
              </a:rPr>
              <a:t>   print(d[['id','name','email','phone']])"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Normalise the phone format — strip +65 and spaces so every value has the same shape.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pd,re;</a:t>
            </a:r>
          </a:p>
          <a:p>
            <a:pPr algn="l">
              <a:spcAft>
                <a:spcPts val="0"/>
              </a:spcAft>
            </a:pPr>
            <a:r>
              <a:rPr sz="640" b="0">
                <a:solidFill>
                  <a:srgbClr val="9CDCFE"/>
                </a:solidFill>
                <a:latin typeface="Consolas"/>
              </a:rPr>
              <a:t>   d=pd.read_csv('contacts.csv');</a:t>
            </a:r>
          </a:p>
          <a:p>
            <a:pPr algn="l">
              <a:spcAft>
                <a:spcPts val="0"/>
              </a:spcAft>
            </a:pPr>
            <a:r>
              <a:rPr sz="640" b="0">
                <a:solidFill>
                  <a:srgbClr val="9CDCFE"/>
                </a:solidFill>
                <a:latin typeface="Consolas"/>
              </a:rPr>
              <a:t>   d['phone']=d.contact.str.extract(r'((?:\+65 ?)?[689][0-9]{3} ?[0-9]{4})')[0].str.replace(r'[^0-9]','',regex=True).str[-8:];</a:t>
            </a:r>
          </a:p>
          <a:p>
            <a:pPr algn="l">
              <a:spcAft>
                <a:spcPts val="0"/>
              </a:spcAft>
            </a:pPr>
            <a:r>
              <a:rPr sz="640" b="0">
                <a:solidFill>
                  <a:srgbClr val="9CDCFE"/>
                </a:solidFill>
                <a:latin typeface="Consolas"/>
              </a:rPr>
              <a:t>   print(d[['id','phone']])"</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Save the cleaned, parsed output.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pd;d=pd.read_csv('contacts.csv');d['name']=d.contact.str.extract(r'^([A-Za-z</a:t>
            </a:r>
          </a:p>
          <a:p>
            <a:pPr algn="l">
              <a:spcAft>
                <a:spcPts val="0"/>
              </a:spcAft>
            </a:pPr>
            <a:r>
              <a:rPr sz="640" b="0">
                <a:solidFill>
                  <a:srgbClr val="9CDCFE"/>
                </a:solidFill>
                <a:latin typeface="Consolas"/>
              </a:rPr>
              <a:t>   ]+?)\s*&lt;');d['email']=d.contact.str.extract(r'([a-zA-Z0-9._%+-]+@[a-zA-Z0-9.-]+\.[a-zA-Z]{2,})</a:t>
            </a:r>
          </a:p>
          <a:p>
            <a:pPr algn="l">
              <a:spcAft>
                <a:spcPts val="0"/>
              </a:spcAft>
            </a:pPr>
            <a:r>
              <a:rPr sz="640" b="0">
                <a:solidFill>
                  <a:srgbClr val="9CDCFE"/>
                </a:solidFill>
                <a:latin typeface="Consolas"/>
              </a:rPr>
              <a:t>   ');d['phone']=d.contact.str.extract(r'((?:\+65 ?)?[689][0-9]{3}</a:t>
            </a:r>
          </a:p>
          <a:p>
            <a:pPr algn="l">
              <a:spcAft>
                <a:spcPts val="0"/>
              </a:spcAft>
            </a:pPr>
            <a:r>
              <a:rPr sz="640" b="0">
                <a:solidFill>
                  <a:srgbClr val="9CDCFE"/>
                </a:solidFill>
                <a:latin typeface="Consolas"/>
              </a:rPr>
              <a:t>   ?[0-9]{4})')[0].str.replace(r'[^0-9]','',regex=True).str[-8:];d[['id','name','email','phone']].to_csv('contact</a:t>
            </a:r>
          </a:p>
          <a:p>
            <a:pPr algn="l">
              <a:spcAft>
                <a:spcPts val="0"/>
              </a:spcAft>
            </a:pPr>
            <a:r>
              <a:rPr sz="640" b="0">
                <a:solidFill>
                  <a:srgbClr val="9CDCFE"/>
                </a:solidFill>
                <a:latin typeface="Consolas"/>
              </a:rPr>
              <a:t>   s_clean.csv',index=False)" &amp;&amp; cat contacts_clean.csv</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5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contacts_clean.csv holds 30 rows, each with a name, an email and a normalised 8-digit phone. All 30 rows match all three patterns — no NaN in any column, no angle brackets, no +65 prefixes and no leftover spaces.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RegexLab shows 0 matches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flags — you usually want 'g' (global) so every record is matched, not just the first.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extract returns NaN</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pandas needs a capturing group. Confirm your pattern has parentheses around the part you want.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6 — Derive Structured Fields from Raw Address Data (IP Calculator)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data transformation: derived variables and formatting; use data acquisition methods (Domain 2); LO2 / A2.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derived variable is a new field computed from existing data — one of the exam's named manipulation techniques. You take raw CIDR address data, use the IP Calculator to derive the network fields by hand first, then reproduce the same derivation in code and prove the two agree.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dataset enriched with four derived columns (network address, broadcast, usable hosts, subnet class) verified against the calculator.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Calculator (https://alfredang.github.io/ipcalculator/), Killercoda Ubuntu, Python 3, ipaddress module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code and the IP Calculator agree: /24 gives 254 usable hosts, /22 gives 1022, and /29 gives 6. sites_enriched.csv carries the derived columns alongside the original CIDR.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7</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Enter 192</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2 of 7</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Derive the same four fields in code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7</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Decide the storage trade-off the exam asks a</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7</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Save the enriched dataset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dataset enriched with four derived columns (network address, broadcast, usable hosts, subnet class) verified against the calculator.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6 — Derive Structured Fields from Raw Address Data (IP Calculator)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~/dataplus/lab6 &amp;&amp; cd ~/dataplus/lab6;</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D=lab-06-derive-structured-fields-from-raw-address-data-ip-ca;</a:t>
            </a:r>
          </a:p>
          <a:p>
            <a:pPr algn="l">
              <a:spcAft>
                <a:spcPts val="0"/>
              </a:spcAft>
            </a:pPr>
            <a:r>
              <a:rPr sz="640" b="0">
                <a:solidFill>
                  <a:srgbClr val="9CDCFE"/>
                </a:solidFill>
                <a:latin typeface="Consolas"/>
              </a:rPr>
              <a:t>   for f in sites.csv;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264408"/>
            <a:ext cx="9692640" cy="1417320"/>
          </a:xfrm>
          <a:prstGeom prst="rect">
            <a:avLst/>
          </a:prstGeom>
          <a:noFill/>
        </p:spPr>
        <p:txBody>
          <a:bodyPr wrap="square" anchor="ctr">
            <a:spAutoFit/>
          </a:bodyPr>
          <a:lstStyle/>
          <a:p>
            <a:pPr algn="l">
              <a:spcAft>
                <a:spcPts val="400"/>
              </a:spcAft>
            </a:pPr>
            <a:r>
              <a:rPr sz="1250" b="0">
                <a:solidFill>
                  <a:srgbClr val="161B26"/>
                </a:solidFill>
                <a:latin typeface="Arial"/>
              </a:rPr>
              <a:t>Enter 192.168.10.0/24 and record the derived values: network, broadcast, usable host count and mask.</a:t>
            </a:r>
          </a:p>
        </p:txBody>
      </p:sp>
      <p:sp>
        <p:nvSpPr>
          <p:cNvPr id="19" name="Rectangle 18"/>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773168"/>
            <a:ext cx="9692640" cy="1417320"/>
          </a:xfrm>
          <a:prstGeom prst="rect">
            <a:avLst/>
          </a:prstGeom>
          <a:noFill/>
        </p:spPr>
        <p:txBody>
          <a:bodyPr wrap="square" anchor="ctr">
            <a:spAutoFit/>
          </a:bodyPr>
          <a:lstStyle/>
          <a:p>
            <a:pPr algn="l">
              <a:spcAft>
                <a:spcPts val="400"/>
              </a:spcAft>
            </a:pPr>
            <a:r>
              <a:rPr sz="1250" b="0">
                <a:solidFill>
                  <a:srgbClr val="161B26"/>
                </a:solidFill>
                <a:latin typeface="Arial"/>
              </a:rPr>
              <a:t>Repeat for 10.0.5.0/22 and 172.16.8.0/29 — note how the usable-host count changes with the prefix.</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6 — Derive Structured Fields from Raw Address Data (IP Calculator)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Derive the same four fields in code — this is the DERIVED VARIABLE technique from the exam objectives.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pd,ipaddress as</a:t>
            </a:r>
          </a:p>
          <a:p>
            <a:pPr algn="l">
              <a:spcAft>
                <a:spcPts val="0"/>
              </a:spcAft>
            </a:pPr>
            <a:r>
              <a:rPr sz="640" b="0">
                <a:solidFill>
                  <a:srgbClr val="9CDCFE"/>
                </a:solidFill>
                <a:latin typeface="Consolas"/>
              </a:rPr>
              <a:t>   ip;d=pd.read_csv('sites.csv');n=d.cidr.map(ip.ip_network);d['network']=[str(x.network_address) for x in</a:t>
            </a:r>
          </a:p>
          <a:p>
            <a:pPr algn="l">
              <a:spcAft>
                <a:spcPts val="0"/>
              </a:spcAft>
            </a:pPr>
            <a:r>
              <a:rPr sz="640" b="0">
                <a:solidFill>
                  <a:srgbClr val="9CDCFE"/>
                </a:solidFill>
                <a:latin typeface="Consolas"/>
              </a:rPr>
              <a:t>   n];d['broadcast']=[str(x.broadcast_address) for x in n];d['usable_hosts']=[x.num_addresses-2 for x in</a:t>
            </a:r>
          </a:p>
          <a:p>
            <a:pPr algn="l">
              <a:spcAft>
                <a:spcPts val="0"/>
              </a:spcAft>
            </a:pPr>
            <a:r>
              <a:rPr sz="640" b="0">
                <a:solidFill>
                  <a:srgbClr val="9CDCFE"/>
                </a:solidFill>
                <a:latin typeface="Consolas"/>
              </a:rPr>
              <a:t>   n];d['mask']=[str(x.netmask) for x in n];print(d)"</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Compare every derived value against what the IP Calculator gave you — they must match exactly.</a:t>
            </a:r>
          </a:p>
        </p:txBody>
      </p:sp>
      <p:sp>
        <p:nvSpPr>
          <p:cNvPr id="19" name="Rectangle 18"/>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3" name="TextBox 22"/>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Decide the storage trade-off the exam asks about: store the derived columns (fast reads, more space) or recompute on demand (less space, slower). Write your choice and the reason.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6 — Derive Structured Fields from Raw Address Data (IP Calculator)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Save the enriched dataset.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pd,ipaddress as</a:t>
            </a:r>
          </a:p>
          <a:p>
            <a:pPr algn="l">
              <a:spcAft>
                <a:spcPts val="0"/>
              </a:spcAft>
            </a:pPr>
            <a:r>
              <a:rPr sz="640" b="0">
                <a:solidFill>
                  <a:srgbClr val="9CDCFE"/>
                </a:solidFill>
                <a:latin typeface="Consolas"/>
              </a:rPr>
              <a:t>   ip;d=pd.read_csv('sites.csv');n=d.cidr.map(ip.ip_network);d['network']=[str(x.network_address) for x in</a:t>
            </a:r>
          </a:p>
          <a:p>
            <a:pPr algn="l">
              <a:spcAft>
                <a:spcPts val="0"/>
              </a:spcAft>
            </a:pPr>
            <a:r>
              <a:rPr sz="640" b="0">
                <a:solidFill>
                  <a:srgbClr val="9CDCFE"/>
                </a:solidFill>
                <a:latin typeface="Consolas"/>
              </a:rPr>
              <a:t>   n];d['usable_hosts']=[x.num_addresses-2 for x in n];d.to_csv('sites_enriched.csv',index=False)" &amp;&amp; cat</a:t>
            </a:r>
          </a:p>
          <a:p>
            <a:pPr algn="l">
              <a:spcAft>
                <a:spcPts val="0"/>
              </a:spcAft>
            </a:pPr>
            <a:r>
              <a:rPr sz="640" b="0">
                <a:solidFill>
                  <a:srgbClr val="9CDCFE"/>
                </a:solidFill>
                <a:latin typeface="Consolas"/>
              </a:rPr>
              <a:t>   sites_enriched.csv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6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code and the IP Calculator agree: /24 gives 254 usable hosts, /22 gives 1022, and /29 gives 6. sites_enriched.csv carries the derived columns alongside the original CIDR.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ValueError: has host bits set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address is not a valid network address for that prefix. Use ip_network(x, strict=False) or correct the CIDR.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usable_hosts is negative for /31 or /32</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Those prefixes have no usable host range by the -2 convention. Note this edge case in your report.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7 — Integrate Multiple Datasets with SQL Joins and Cleanse the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Use data acquisition methods: data integration and queries to gather and combine data (Domain 2); LO2 / A1 / A2.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This is the integration lab that LO1 and LO2 both rest on. You load three separate source extracts into SQLite, combine them with the four join types, watch how inner versus left join silently changes your record count, and then cleanse the merged result.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single integrated, deduplicated analysis table built from three sources, with the record count reconciled at every join.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SQLite 3, SQL joins, Python 3/pandas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sources hold 31 customers and 81 orders. The INNER JOIN returns only 80 rows — order 999 is dropped because customer 77 has no master record. Four customers have no orders at all and survive only via the LEFT JOIN. The regional table reports every region's revenue against its target.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INNER JOIN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LEFT JOIN from customers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Add the derived performance measure and pers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Reconcile: explain in one line why the inner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single integrated, deduplicated analysis table built from three sources, with the record count reconciled at every join.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7 — Integrate Multiple Datasets with SQL Joins and Cleanse the Result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~/dataplus/lab7 &amp;&amp; cd ~/dataplus/lab7;</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D=lab-07-integrate-multiple-datasets-with-sql-joins-and-clean;</a:t>
            </a:r>
          </a:p>
          <a:p>
            <a:pPr algn="l">
              <a:spcAft>
                <a:spcPts val="0"/>
              </a:spcAft>
            </a:pPr>
            <a:r>
              <a:rPr sz="640" b="0">
                <a:solidFill>
                  <a:srgbClr val="9CDCFE"/>
                </a:solidFill>
                <a:latin typeface="Consolas"/>
              </a:rPr>
              <a:t>   for f in customers.csv orders.csv targets.csv;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Load all three into SQLite in one go.</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1050" b="0">
                <a:solidFill>
                  <a:srgbClr val="9CDCFE"/>
                </a:solidFill>
                <a:latin typeface="Consolas"/>
              </a:rPr>
              <a:t>$ sqlite3 integrate.db &lt;&lt;'EOF'</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INNER JOIN — returns only matched rows. Count them and note what you silently lost.</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sqlite3 -header -column integrate.db "SELECT COUNT(*) AS inner_rows FROM orders o JOIN customers c ON</a:t>
            </a:r>
          </a:p>
          <a:p>
            <a:pPr algn="l">
              <a:spcAft>
                <a:spcPts val="0"/>
              </a:spcAft>
            </a:pPr>
            <a:r>
              <a:rPr sz="640" b="0">
                <a:solidFill>
                  <a:srgbClr val="9CDCFE"/>
                </a:solidFill>
                <a:latin typeface="Consolas"/>
              </a:rPr>
              <a:t>   c.customer_id=o.customer_id;"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7 — Integrate Multiple Datasets with SQL Joins and Cleanse the Result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LEFT JOIN from orders — keeps order 104 whose customer is missing, showing NULL in the master fields.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sqlite3 -header -column integrate.db "SELECT o.order_id, o.customer_id, c.name FROM orders o LEFT JOIN</a:t>
            </a:r>
          </a:p>
          <a:p>
            <a:pPr algn="l">
              <a:spcAft>
                <a:spcPts val="0"/>
              </a:spcAft>
            </a:pPr>
            <a:r>
              <a:rPr sz="640" b="0">
                <a:solidFill>
                  <a:srgbClr val="9CDCFE"/>
                </a:solidFill>
                <a:latin typeface="Consolas"/>
              </a:rPr>
              <a:t>   customers c ON c.customer_id=o.customer_id;"</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LEFT JOIN from customers — keeps John Lee, who has no orders at all.</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sqlite3 -header -column integrate.db "SELECT c.name, o.order_id FROM customers c LEFT JOIN orders o ON</a:t>
            </a:r>
          </a:p>
          <a:p>
            <a:pPr algn="l">
              <a:spcAft>
                <a:spcPts val="0"/>
              </a:spcAft>
            </a:pPr>
            <a:r>
              <a:rPr sz="640" b="0">
                <a:solidFill>
                  <a:srgbClr val="9CDCFE"/>
                </a:solidFill>
                <a:latin typeface="Consolas"/>
              </a:rPr>
              <a:t>   c.customer_id=o.customer_id;"</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integrated analysis table joining all three sources and aggregating per region.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sqlite3 -header -column integrate.db "SELECT c.region, COUNT(o.order_id) AS orders, ROUND(SUM(o.amount),2) AS</a:t>
            </a:r>
          </a:p>
          <a:p>
            <a:pPr algn="l">
              <a:spcAft>
                <a:spcPts val="0"/>
              </a:spcAft>
            </a:pPr>
            <a:r>
              <a:rPr sz="640" b="0">
                <a:solidFill>
                  <a:srgbClr val="9CDCFE"/>
                </a:solidFill>
                <a:latin typeface="Consolas"/>
              </a:rPr>
              <a:t>   revenue, t.target FROM customers c LEFT JOIN orders o ON c.customer_id=o.customer_id JOIN targets t ON</a:t>
            </a:r>
          </a:p>
          <a:p>
            <a:pPr algn="l">
              <a:spcAft>
                <a:spcPts val="0"/>
              </a:spcAft>
            </a:pPr>
            <a:r>
              <a:rPr sz="640" b="0">
                <a:solidFill>
                  <a:srgbClr val="9CDCFE"/>
                </a:solidFill>
                <a:latin typeface="Consolas"/>
              </a:rPr>
              <a:t>   t.region=c.region GROUP BY c.region, t.target;"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7 — Integrate Multiple Datasets with SQL Joins and Cleanse the Result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Add the derived performance measure and persist the result.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sqlite3 -header -column integrate.db "CREATE TABLE regional AS SELECT c.region, COUNT(o.order_id) AS orders,</a:t>
            </a:r>
          </a:p>
          <a:p>
            <a:pPr algn="l">
              <a:spcAft>
                <a:spcPts val="0"/>
              </a:spcAft>
            </a:pPr>
            <a:r>
              <a:rPr sz="640" b="0">
                <a:solidFill>
                  <a:srgbClr val="9CDCFE"/>
                </a:solidFill>
                <a:latin typeface="Consolas"/>
              </a:rPr>
              <a:t>   COALESCE(SUM(o.amount),0) AS revenue, t.target, ROUND(COALESCE(SUM(o.amount),0)*100.0/t.target,1) AS</a:t>
            </a:r>
          </a:p>
          <a:p>
            <a:pPr algn="l">
              <a:spcAft>
                <a:spcPts val="0"/>
              </a:spcAft>
            </a:pPr>
            <a:r>
              <a:rPr sz="640" b="0">
                <a:solidFill>
                  <a:srgbClr val="9CDCFE"/>
                </a:solidFill>
                <a:latin typeface="Consolas"/>
              </a:rPr>
              <a:t>   pct_of_target FROM customers c LEFT JOIN orders o ON c.customer_id=o.customer_id JOIN targets t ON</a:t>
            </a:r>
          </a:p>
          <a:p>
            <a:pPr algn="l">
              <a:spcAft>
                <a:spcPts val="0"/>
              </a:spcAft>
            </a:pPr>
            <a:r>
              <a:rPr sz="640" b="0">
                <a:solidFill>
                  <a:srgbClr val="9CDCFE"/>
                </a:solidFill>
                <a:latin typeface="Consolas"/>
              </a:rPr>
              <a:t>   t.region=c.region GROUP BY c.region,t.target; SELECT * FROM regional;"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Reconcile: explain in one line why the inner join returned 4 rows but there are 5 orders.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7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sources hold 31 customers and 81 orders. The INNER JOIN returns only 80 rows — order 999 is dropped because customer 77 has no master record. Four customers have no orders at all and survive only via the LEFT JOIN. The regional table reports every region's revenue against its target.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'.import' left the header as a data row</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Older SQLite lacks --skip 1. Delete it after import: DELETE FROM customers WHERE customer_id='customer_id';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SUM returns NULL for East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is correct SQL — no rows to sum. COALESCE(...,0) is what turns it into a reportable zero.</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02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Data Acquisition and Preparation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ETL vs ELT</a:t>
            </a:r>
          </a:p>
          <a:p>
            <a:pPr algn="l">
              <a:spcAft>
                <a:spcPts val="300"/>
              </a:spcAft>
            </a:pPr>
            <a:r>
              <a:rPr sz="1000" b="0">
                <a:solidFill>
                  <a:srgbClr val="5B6372"/>
                </a:solidFill>
                <a:latin typeface="Arial"/>
              </a:rPr>
              <a:t>ETL transforms before loading; ELT loads raw and transforms later — choose by how stable your requirements are.</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Data sources</a:t>
            </a:r>
          </a:p>
          <a:p>
            <a:pPr algn="l">
              <a:spcAft>
                <a:spcPts val="300"/>
              </a:spcAft>
            </a:pPr>
            <a:r>
              <a:rPr sz="1000" b="0">
                <a:solidFill>
                  <a:srgbClr val="5B6372"/>
                </a:solidFill>
                <a:latin typeface="Arial"/>
              </a:rPr>
              <a:t>Data comes from databases, APIs, scraping, files, logs and public repositories, each with its own reliability risk.</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Profiling first</a:t>
            </a:r>
          </a:p>
          <a:p>
            <a:pPr algn="l">
              <a:spcAft>
                <a:spcPts val="300"/>
              </a:spcAft>
            </a:pPr>
            <a:r>
              <a:rPr sz="1000" b="0">
                <a:solidFill>
                  <a:srgbClr val="5B6372"/>
                </a:solidFill>
                <a:latin typeface="Arial"/>
              </a:rPr>
              <a:t>Profiling is the disciplined first pass — quantify the defects before you clean, so you can measure the cleaning.</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Defect classes</a:t>
            </a:r>
          </a:p>
          <a:p>
            <a:pPr algn="l">
              <a:spcAft>
                <a:spcPts val="300"/>
              </a:spcAft>
            </a:pPr>
            <a:r>
              <a:rPr sz="1000" b="0">
                <a:solidFill>
                  <a:srgbClr val="5B6372"/>
                </a:solidFill>
                <a:latin typeface="Arial"/>
              </a:rPr>
              <a:t>The defect classes are missing values, duplicates, redundancy, invalid data and outliers.</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Manipulation</a:t>
            </a:r>
          </a:p>
          <a:p>
            <a:pPr algn="l">
              <a:spcAft>
                <a:spcPts val="300"/>
              </a:spcAft>
            </a:pPr>
            <a:r>
              <a:rPr sz="1000" b="0">
                <a:solidFill>
                  <a:srgbClr val="5B6372"/>
                </a:solidFill>
                <a:latin typeface="Arial"/>
              </a:rPr>
              <a:t>Manipulation covers recoding, derived variables, imputation, aggregation, transposing, appending and parsing.</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Joins</a:t>
            </a:r>
          </a:p>
          <a:p>
            <a:pPr algn="l">
              <a:spcAft>
                <a:spcPts val="300"/>
              </a:spcAft>
            </a:pPr>
            <a:r>
              <a:rPr sz="1000" b="0">
                <a:solidFill>
                  <a:srgbClr val="5B6372"/>
                </a:solidFill>
                <a:latin typeface="Arial"/>
              </a:rPr>
              <a:t>Joins combine datasets — and an INNER JOIN silently drops unmatched rows, so always reconcile record counts.</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Query performance</a:t>
            </a:r>
          </a:p>
          <a:p>
            <a:pPr algn="l">
              <a:spcAft>
                <a:spcPts val="300"/>
              </a:spcAft>
            </a:pPr>
            <a:r>
              <a:rPr sz="1000" b="0">
                <a:solidFill>
                  <a:srgbClr val="5B6372"/>
                </a:solidFill>
                <a:latin typeface="Arial"/>
              </a:rPr>
              <a:t>Indexes, filters, parameters, temp tables and the execution plan are how you make a slow query fast.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10B981"/>
                </a:solidFill>
                <a:latin typeface="Arial"/>
              </a:rPr>
              <a:t>15 minutes</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03  ·  24%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Analysis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Descriptive statistics · inferential methods · analysis types · communicating results · troubleshooting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advClick="1">
    <p:push dir="l"/>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HEAVIEST DOMAIN ON THE EXAM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3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Descriptive statistics</a:t>
            </a:r>
          </a:p>
          <a:p>
            <a:pPr algn="l">
              <a:spcAft>
                <a:spcPts val="300"/>
              </a:spcAft>
            </a:pPr>
            <a:r>
              <a:rPr sz="1000" b="0">
                <a:solidFill>
                  <a:srgbClr val="5B6372"/>
                </a:solidFill>
                <a:latin typeface="Arial"/>
              </a:rPr>
              <a:t>Descriptive statistics summarise a dataset: central tendency (mean, median, mode) and dispersion (range, variance, standard deviation).</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Mean vs median</a:t>
            </a:r>
          </a:p>
          <a:p>
            <a:pPr algn="l">
              <a:spcAft>
                <a:spcPts val="300"/>
              </a:spcAft>
            </a:pPr>
            <a:r>
              <a:rPr sz="1000" b="0">
                <a:solidFill>
                  <a:srgbClr val="5B6372"/>
                </a:solidFill>
                <a:latin typeface="Arial"/>
              </a:rPr>
              <a:t>The mean is pulled by outliers; the median resists them — which one you report changes the story the data tells.</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Z-scores find outliers</a:t>
            </a:r>
          </a:p>
          <a:p>
            <a:pPr algn="l">
              <a:spcAft>
                <a:spcPts val="300"/>
              </a:spcAft>
            </a:pPr>
            <a:r>
              <a:rPr sz="1000" b="0">
                <a:solidFill>
                  <a:srgbClr val="5B6372"/>
                </a:solidFill>
                <a:latin typeface="Arial"/>
              </a:rPr>
              <a:t>Z-scores express how many standard deviations a value sits from the mean, and are the standard outlier test.</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The empirical rule</a:t>
            </a:r>
          </a:p>
          <a:p>
            <a:pPr algn="l">
              <a:spcAft>
                <a:spcPts val="300"/>
              </a:spcAft>
            </a:pPr>
            <a:r>
              <a:rPr sz="1000" b="0">
                <a:solidFill>
                  <a:srgbClr val="5B6372"/>
                </a:solidFill>
                <a:latin typeface="Arial"/>
              </a:rPr>
              <a:t>The empirical rule says ~99.7% of normally distributed data falls within three standard deviations of the mean.</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Inferential statistics</a:t>
            </a:r>
          </a:p>
          <a:p>
            <a:pPr algn="l">
              <a:spcAft>
                <a:spcPts val="300"/>
              </a:spcAft>
            </a:pPr>
            <a:r>
              <a:rPr sz="1000" b="0">
                <a:solidFill>
                  <a:srgbClr val="5B6372"/>
                </a:solidFill>
                <a:latin typeface="Arial"/>
              </a:rPr>
              <a:t>Inferential statistics generalise beyond the sample: t-tests, p-values, chi-square, correlation and regression.</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p-values and causation</a:t>
            </a:r>
          </a:p>
          <a:p>
            <a:pPr algn="l">
              <a:spcAft>
                <a:spcPts val="300"/>
              </a:spcAft>
            </a:pPr>
            <a:r>
              <a:rPr sz="1000" b="0">
                <a:solidFill>
                  <a:srgbClr val="5B6372"/>
                </a:solidFill>
                <a:latin typeface="Arial"/>
              </a:rPr>
              <a:t>A p-value below 0.05 indicates the observed difference is unlikely to be due to chance; correlation still never proves causation.</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Choosing the analysis type</a:t>
            </a:r>
          </a:p>
          <a:p>
            <a:pPr algn="l">
              <a:spcAft>
                <a:spcPts val="300"/>
              </a:spcAft>
            </a:pPr>
            <a:r>
              <a:rPr sz="1000" b="0">
                <a:solidFill>
                  <a:srgbClr val="5B6372"/>
                </a:solidFill>
                <a:latin typeface="Arial"/>
              </a:rPr>
              <a:t>Analysis types — exploratory, performance, trend, gap and link analysis — each answer a different business question.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TYPES OF ANALYSIS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Choosing Your Analysis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Exploratory analysis</a:t>
            </a:r>
          </a:p>
          <a:p>
            <a:pPr algn="l">
              <a:spcAft>
                <a:spcPts val="300"/>
              </a:spcAft>
            </a:pPr>
            <a:r>
              <a:rPr sz="1200" b="0">
                <a:solidFill>
                  <a:srgbClr val="5B6372"/>
                </a:solidFill>
                <a:latin typeface="Arial"/>
              </a:rPr>
              <a:t>The first look at a new dataset — what cleaning, profiling and transformation does it need?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Performance analysis</a:t>
            </a:r>
          </a:p>
          <a:p>
            <a:pPr algn="l">
              <a:spcAft>
                <a:spcPts val="300"/>
              </a:spcAft>
            </a:pPr>
            <a:r>
              <a:rPr sz="1200" b="0">
                <a:solidFill>
                  <a:srgbClr val="5B6372"/>
                </a:solidFill>
                <a:latin typeface="Arial"/>
              </a:rPr>
              <a:t>Measures a product, outcome or scenario against a defined objective, using realistic KPIs.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Trend analysis</a:t>
            </a:r>
          </a:p>
          <a:p>
            <a:pPr algn="l">
              <a:spcAft>
                <a:spcPts val="300"/>
              </a:spcAft>
            </a:pPr>
            <a:r>
              <a:rPr sz="1200" b="0">
                <a:solidFill>
                  <a:srgbClr val="5B6372"/>
                </a:solidFill>
                <a:latin typeface="Arial"/>
              </a:rPr>
              <a:t>Uses historical data to project a future outcome. Past performance never guarantees future results.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Gap analysis</a:t>
            </a:r>
          </a:p>
          <a:p>
            <a:pPr algn="l">
              <a:spcAft>
                <a:spcPts val="300"/>
              </a:spcAft>
            </a:pPr>
            <a:r>
              <a:rPr sz="1200" b="0">
                <a:solidFill>
                  <a:srgbClr val="5B6372"/>
                </a:solidFill>
                <a:latin typeface="Arial"/>
              </a:rPr>
              <a:t>The difference (the delta) between the present state and the desired future state.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Link analysis</a:t>
            </a:r>
          </a:p>
          <a:p>
            <a:pPr algn="l">
              <a:spcAft>
                <a:spcPts val="300"/>
              </a:spcAft>
            </a:pPr>
            <a:r>
              <a:rPr sz="1200" b="0">
                <a:solidFill>
                  <a:srgbClr val="5B6372"/>
                </a:solidFill>
                <a:latin typeface="Arial"/>
              </a:rPr>
              <a:t>How one data point connects to others — a network of nodes joined by links.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Hypothesis-driven</a:t>
            </a:r>
          </a:p>
          <a:p>
            <a:pPr algn="l">
              <a:spcAft>
                <a:spcPts val="300"/>
              </a:spcAft>
            </a:pPr>
            <a:r>
              <a:rPr sz="1200" b="0">
                <a:solidFill>
                  <a:srgbClr val="5B6372"/>
                </a:solidFill>
                <a:latin typeface="Arial"/>
              </a:rPr>
              <a:t>Start with a testable statement, then gather evidence to support or reject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DESCRIPTIVE STATISTICS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 Tendency — Three Different 'Averages'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Mean</a:t>
            </a:r>
          </a:p>
          <a:p>
            <a:pPr algn="l">
              <a:spcAft>
                <a:spcPts val="300"/>
              </a:spcAft>
            </a:pPr>
            <a:r>
              <a:rPr sz="1300" b="0">
                <a:solidFill>
                  <a:srgbClr val="5B6372"/>
                </a:solidFill>
                <a:latin typeface="Arial"/>
              </a:rPr>
              <a:t>The sum divided by the count. Uses every value — and is therefore dragged by outliers.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Median</a:t>
            </a:r>
          </a:p>
          <a:p>
            <a:pPr algn="l">
              <a:spcAft>
                <a:spcPts val="300"/>
              </a:spcAft>
            </a:pPr>
            <a:r>
              <a:rPr sz="1300" b="0">
                <a:solidFill>
                  <a:srgbClr val="5B6372"/>
                </a:solidFill>
                <a:latin typeface="Arial"/>
              </a:rPr>
              <a:t>The middle value when sorted. Resistant to outliers, which is why salary and house prices use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Mode</a:t>
            </a:r>
          </a:p>
          <a:p>
            <a:pPr algn="l">
              <a:spcAft>
                <a:spcPts val="300"/>
              </a:spcAft>
            </a:pPr>
            <a:r>
              <a:rPr sz="1300" b="0">
                <a:solidFill>
                  <a:srgbClr val="5B6372"/>
                </a:solidFill>
                <a:latin typeface="Arial"/>
              </a:rPr>
              <a:t>The most frequently occurring value. The only average that works on categorical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Which to report</a:t>
            </a:r>
          </a:p>
          <a:p>
            <a:pPr algn="l">
              <a:spcAft>
                <a:spcPts val="300"/>
              </a:spcAft>
            </a:pPr>
            <a:r>
              <a:rPr sz="1300" b="0">
                <a:solidFill>
                  <a:srgbClr val="5B6372"/>
                </a:solidFill>
                <a:latin typeface="Arial"/>
              </a:rPr>
              <a:t>Symmetric data → mean. Skewed data or outliers present → median. Categories → mode.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THE CHOICE MATTERS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Outlier Effect — Mean vs Median (Lab 8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7C3AED"/>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One executive salary moves the mean by over 2,100 but the median by only 150. When a distribution is skewed, reporting the mean overstates what a typical person earns — which is exactly what you prove in Lab 8.</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DISPERSION AND VARIABILITY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Dispersion — How Spread Out Is the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Minimum / Maximum</a:t>
            </a:r>
          </a:p>
          <a:p>
            <a:pPr algn="l">
              <a:spcAft>
                <a:spcPts val="300"/>
              </a:spcAft>
            </a:pPr>
            <a:r>
              <a:rPr sz="1200" b="0">
                <a:solidFill>
                  <a:srgbClr val="5B6372"/>
                </a:solidFill>
                <a:latin typeface="Arial"/>
              </a:rPr>
              <a:t>The smallest and largest values in the dataset.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Range</a:t>
            </a:r>
          </a:p>
          <a:p>
            <a:pPr algn="l">
              <a:spcAft>
                <a:spcPts val="300"/>
              </a:spcAft>
            </a:pPr>
            <a:r>
              <a:rPr sz="1200" b="0">
                <a:solidFill>
                  <a:srgbClr val="5B6372"/>
                </a:solidFill>
                <a:latin typeface="Arial"/>
              </a:rPr>
              <a:t>Maximum minus minimum. A large range is an early clue that outliers are present.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Variance (σ²)</a:t>
            </a:r>
          </a:p>
          <a:p>
            <a:pPr algn="l">
              <a:spcAft>
                <a:spcPts val="300"/>
              </a:spcAft>
            </a:pPr>
            <a:r>
              <a:rPr sz="1200" b="0">
                <a:solidFill>
                  <a:srgbClr val="5B6372"/>
                </a:solidFill>
                <a:latin typeface="Arial"/>
              </a:rPr>
              <a:t>The average of the squared differences from the mean. Its units are squared, so it is hard to interpret directly.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Standard deviation (σ)</a:t>
            </a:r>
          </a:p>
          <a:p>
            <a:pPr algn="l">
              <a:spcAft>
                <a:spcPts val="300"/>
              </a:spcAft>
            </a:pPr>
            <a:r>
              <a:rPr sz="1200" b="0">
                <a:solidFill>
                  <a:srgbClr val="5B6372"/>
                </a:solidFill>
                <a:latin typeface="Arial"/>
              </a:rPr>
              <a:t>The square root of the variance — back in the original units, so you can actually read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Z-score</a:t>
            </a:r>
          </a:p>
          <a:p>
            <a:pPr algn="l">
              <a:spcAft>
                <a:spcPts val="300"/>
              </a:spcAft>
            </a:pPr>
            <a:r>
              <a:rPr sz="1200" b="0">
                <a:solidFill>
                  <a:srgbClr val="5B6372"/>
                </a:solidFill>
                <a:latin typeface="Arial"/>
              </a:rPr>
              <a:t>How many standard deviations a value sits from the mean: z = (x − x̄) / 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Outlier rule of thumb</a:t>
            </a:r>
          </a:p>
          <a:p>
            <a:pPr algn="l">
              <a:spcAft>
                <a:spcPts val="300"/>
              </a:spcAft>
            </a:pPr>
            <a:r>
              <a:rPr sz="1200" b="0">
                <a:solidFill>
                  <a:srgbClr val="5B6372"/>
                </a:solidFill>
                <a:latin typeface="Arial"/>
              </a:rPr>
              <a:t>|z| &gt; 3 is a strong outlier flag; |z| &gt; 2 is worth investigating.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DISTRIBUTION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Distribution and Frequency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Normal distribution</a:t>
            </a:r>
          </a:p>
          <a:p>
            <a:pPr algn="l">
              <a:spcAft>
                <a:spcPts val="300"/>
              </a:spcAft>
            </a:pPr>
            <a:r>
              <a:rPr sz="1100" b="0">
                <a:solidFill>
                  <a:srgbClr val="5B6372"/>
                </a:solidFill>
                <a:latin typeface="Arial"/>
              </a:rPr>
              <a:t>The symmetric bell curve — the empirical rule says ~99.74% of data lies within 3 standard deviations.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Parametric data</a:t>
            </a:r>
          </a:p>
          <a:p>
            <a:pPr algn="l">
              <a:spcAft>
                <a:spcPts val="300"/>
              </a:spcAft>
            </a:pPr>
            <a:r>
              <a:rPr sz="1100" b="0">
                <a:solidFill>
                  <a:srgbClr val="5B6372"/>
                </a:solidFill>
                <a:latin typeface="Arial"/>
              </a:rPr>
              <a:t>Fits a known distribution (usually normal), so mean-and-SD methods are valid.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Nonparametric data</a:t>
            </a:r>
          </a:p>
          <a:p>
            <a:pPr algn="l">
              <a:spcAft>
                <a:spcPts val="300"/>
              </a:spcAft>
            </a:pPr>
            <a:r>
              <a:rPr sz="1100" b="0">
                <a:solidFill>
                  <a:srgbClr val="5B6372"/>
                </a:solidFill>
                <a:latin typeface="Arial"/>
              </a:rPr>
              <a:t>Does not fit a normal distribution — use distribution-independent methods and the median.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Skew</a:t>
            </a:r>
          </a:p>
          <a:p>
            <a:pPr algn="l">
              <a:spcAft>
                <a:spcPts val="300"/>
              </a:spcAft>
            </a:pPr>
            <a:r>
              <a:rPr sz="1100" b="0">
                <a:solidFill>
                  <a:srgbClr val="5B6372"/>
                </a:solidFill>
                <a:latin typeface="Arial"/>
              </a:rPr>
              <a:t>An asymmetric distribution with a long tail on one side, which pulls the mean away from the median.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many times a value appears; frequency percent expresses it relative to the whole dataset.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Histogram</a:t>
            </a:r>
          </a:p>
          <a:p>
            <a:pPr algn="l">
              <a:spcAft>
                <a:spcPts val="300"/>
              </a:spcAft>
            </a:pPr>
            <a:r>
              <a:rPr sz="1100" b="0">
                <a:solidFill>
                  <a:srgbClr val="5B6372"/>
                </a:solidFill>
                <a:latin typeface="Arial"/>
              </a:rPr>
              <a:t>The chart that shows a distribution — choose your bin count carefully and include the outliers.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INFERENTIAL STATISTICAL METHODS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Inferential statistics let you speak beyond your sample.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Descriptive statistics summarise the data you have. Inferential statistics — t-tests, chi-square, regression — let you draw conclusions about a whole population from a sample, and state how confident you are in that conclusion.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HYPOTHESIS TESTING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Hypothesis Testing,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State H0 and H1</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Before seeing results</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Choose the test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t-test, chi-square, ANOVA</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Set the threshold</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Usually α = 0.05</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Compute the p-value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Run the test</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Decide and report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Reject or fail to reject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THE DISCIPLINE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State the hypotheses BEFORE you look at the result. Choosing the hypothesis to fit the answer you wanted is the most common analytical malpractice.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HYPOTHESIS TESTING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Null vs Alternative Hypothesis, and the Two Errors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Concept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In plain language</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Null hypothesis (H0)</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No relationship between the variables</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new page makes no difference'</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Alternative (H1)</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relationship exists</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new page lifts order value'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p-value</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Probability the difference arose by chance</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Below 0.05 → unlikely to be chance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Reject H0</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evidence supports a real effect</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'We are confident the page works'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Type I error</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Rejecting a TRUE null hypothesis</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False alarm — you ship a change that does nothing</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Type II error</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Failing to reject a FALSE null</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Missed opportunity — you bin a change that worked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p-value below 0.05 means the result is statistically significant — it does NOT tell you the effect is large or commercially important.</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STATISTICAL METHODS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Inferential Tests You Must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T-test</a:t>
            </a:r>
          </a:p>
          <a:p>
            <a:pPr algn="l">
              <a:spcAft>
                <a:spcPts val="300"/>
              </a:spcAft>
            </a:pPr>
            <a:r>
              <a:rPr sz="1100" b="0">
                <a:solidFill>
                  <a:srgbClr val="5B6372"/>
                </a:solidFill>
                <a:latin typeface="Arial"/>
              </a:rPr>
              <a:t>Compares the MEANS of two groups to see whether the difference is significant. Used in every A/B test.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Chi-square</a:t>
            </a:r>
          </a:p>
          <a:p>
            <a:pPr algn="l">
              <a:spcAft>
                <a:spcPts val="300"/>
              </a:spcAft>
            </a:pPr>
            <a:r>
              <a:rPr sz="1100" b="0">
                <a:solidFill>
                  <a:srgbClr val="5B6372"/>
                </a:solidFill>
                <a:latin typeface="Arial"/>
              </a:rPr>
              <a:t>Compares observed counts against expected counts for CATEGORICAL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Chi-square: independence</a:t>
            </a:r>
          </a:p>
          <a:p>
            <a:pPr algn="l">
              <a:spcAft>
                <a:spcPts val="300"/>
              </a:spcAft>
            </a:pPr>
            <a:r>
              <a:rPr sz="1100" b="0">
                <a:solidFill>
                  <a:srgbClr val="5B6372"/>
                </a:solidFill>
                <a:latin typeface="Arial"/>
              </a:rPr>
              <a:t>Tests whether two categorical variables are related to each other.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Chi-square: goodness of fit</a:t>
            </a:r>
          </a:p>
          <a:p>
            <a:pPr algn="l">
              <a:spcAft>
                <a:spcPts val="300"/>
              </a:spcAft>
            </a:pPr>
            <a:r>
              <a:rPr sz="1100" b="0">
                <a:solidFill>
                  <a:srgbClr val="5B6372"/>
                </a:solidFill>
                <a:latin typeface="Arial"/>
              </a:rPr>
              <a:t>Tests whether observed counts match an expected baseline distribution.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Regression analysis</a:t>
            </a:r>
          </a:p>
          <a:p>
            <a:pPr algn="l">
              <a:spcAft>
                <a:spcPts val="300"/>
              </a:spcAft>
            </a:pPr>
            <a:r>
              <a:rPr sz="1100" b="0">
                <a:solidFill>
                  <a:srgbClr val="5B6372"/>
                </a:solidFill>
                <a:latin typeface="Arial"/>
              </a:rPr>
              <a:t>Estimates the relationship between a dependent variable and one or more independent variables.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Confidence interval</a:t>
            </a:r>
          </a:p>
          <a:p>
            <a:pPr algn="l">
              <a:spcAft>
                <a:spcPts val="300"/>
              </a:spcAft>
            </a:pPr>
            <a:r>
              <a:rPr sz="1100" b="0">
                <a:solidFill>
                  <a:srgbClr val="5B6372"/>
                </a:solidFill>
                <a:latin typeface="Arial"/>
              </a:rPr>
              <a:t>The range within which the true population value is likely to fall, at a stated confidence level.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REGRESSION ANALYSIS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Regression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Lab 10 fits revenue against marketing spend. Here is what each number in the output actually tells you.</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C586C0"/>
                </a:solidFill>
                <a:latin typeface="Consolas"/>
              </a:rPr>
              <a:t>from scipy import stats</a:t>
            </a:r>
          </a:p>
          <a:p>
            <a:pPr>
              <a:spcAft>
                <a:spcPts val="200"/>
              </a:spcAft>
            </a:pPr>
            <a:r>
              <a:rPr sz="1100">
                <a:solidFill>
                  <a:srgbClr val="9CDCFE"/>
                </a:solidFill>
                <a:latin typeface="Consolas"/>
              </a:rPr>
              <a:t/>
            </a:r>
          </a:p>
          <a:p>
            <a:pPr>
              <a:spcAft>
                <a:spcPts val="200"/>
              </a:spcAft>
            </a:pPr>
            <a:r>
              <a:rPr sz="1100">
                <a:solidFill>
                  <a:srgbClr val="D4D4D4"/>
                </a:solidFill>
                <a:latin typeface="Consolas"/>
              </a:rPr>
              <a:t>lr = stats.linregress(d.spend, d.revenue)</a:t>
            </a:r>
          </a:p>
          <a:p>
            <a:pPr>
              <a:spcAft>
                <a:spcPts val="200"/>
              </a:spcAft>
            </a:pPr>
            <a:r>
              <a:rPr sz="1100">
                <a:solidFill>
                  <a:srgbClr val="9CDCFE"/>
                </a:solidFill>
                <a:latin typeface="Consolas"/>
              </a:rPr>
              <a:t/>
            </a:r>
          </a:p>
          <a:p>
            <a:pPr>
              <a:spcAft>
                <a:spcPts val="200"/>
              </a:spcAft>
            </a:pPr>
            <a:r>
              <a:rPr sz="1100">
                <a:solidFill>
                  <a:srgbClr val="6A9955"/>
                </a:solidFill>
                <a:latin typeface="Consolas"/>
              </a:rPr>
              <a:t># slope      =  6.598</a:t>
            </a:r>
          </a:p>
          <a:p>
            <a:pPr>
              <a:spcAft>
                <a:spcPts val="200"/>
              </a:spcAft>
            </a:pPr>
            <a:r>
              <a:rPr sz="1100">
                <a:solidFill>
                  <a:srgbClr val="6A9955"/>
                </a:solidFill>
                <a:latin typeface="Consolas"/>
              </a:rPr>
              <a:t># intercept  = 52.114</a:t>
            </a:r>
          </a:p>
          <a:p>
            <a:pPr>
              <a:spcAft>
                <a:spcPts val="200"/>
              </a:spcAft>
            </a:pPr>
            <a:r>
              <a:rPr sz="1100">
                <a:solidFill>
                  <a:srgbClr val="6A9955"/>
                </a:solidFill>
                <a:latin typeface="Consolas"/>
              </a:rPr>
              <a:t># rvalue     =  0.9992</a:t>
            </a:r>
          </a:p>
          <a:p>
            <a:pPr>
              <a:spcAft>
                <a:spcPts val="200"/>
              </a:spcAft>
            </a:pPr>
            <a:r>
              <a:rPr sz="1100">
                <a:solidFill>
                  <a:srgbClr val="6A9955"/>
                </a:solidFill>
                <a:latin typeface="Consolas"/>
              </a:rPr>
              <a:t># pvalue     =  1.4e-12</a:t>
            </a:r>
          </a:p>
          <a:p>
            <a:pPr>
              <a:spcAft>
                <a:spcPts val="200"/>
              </a:spcAft>
            </a:pPr>
            <a:r>
              <a:rPr sz="1100">
                <a:solidFill>
                  <a:srgbClr val="9CDCFE"/>
                </a:solidFill>
                <a:latin typeface="Consolas"/>
              </a:rPr>
              <a:t/>
            </a:r>
          </a:p>
          <a:p>
            <a:pPr>
              <a:spcAft>
                <a:spcPts val="200"/>
              </a:spcAft>
            </a:pPr>
            <a:r>
              <a:rPr sz="1100">
                <a:solidFill>
                  <a:srgbClr val="6A9955"/>
                </a:solidFill>
                <a:latin typeface="Consolas"/>
              </a:rPr>
              <a:t># the fitted model:</a:t>
            </a:r>
          </a:p>
          <a:p>
            <a:pPr>
              <a:spcAft>
                <a:spcPts val="200"/>
              </a:spcAft>
            </a:pPr>
            <a:r>
              <a:rPr sz="1100">
                <a:solidFill>
                  <a:srgbClr val="6A9955"/>
                </a:solidFill>
                <a:latin typeface="Consolas"/>
              </a:rPr>
              <a:t>#   revenue = 6.598 * spend + 52.114</a:t>
            </a:r>
          </a:p>
          <a:p>
            <a:pPr>
              <a:spcAft>
                <a:spcPts val="200"/>
              </a:spcAft>
            </a:pPr>
            <a:r>
              <a:rPr sz="1100">
                <a:solidFill>
                  <a:srgbClr val="9CDCFE"/>
                </a:solidFill>
                <a:latin typeface="Consolas"/>
              </a:rPr>
              <a:t/>
            </a:r>
          </a:p>
          <a:p>
            <a:pPr>
              <a:spcAft>
                <a:spcPts val="200"/>
              </a:spcAft>
            </a:pPr>
            <a:r>
              <a:rPr sz="1100">
                <a:solidFill>
                  <a:srgbClr val="6A9955"/>
                </a:solidFill>
                <a:latin typeface="Consolas"/>
              </a:rPr>
              <a:t># predict at a new spend level</a:t>
            </a:r>
          </a:p>
          <a:p>
            <a:pPr>
              <a:spcAft>
                <a:spcPts val="200"/>
              </a:spcAft>
            </a:pPr>
            <a:r>
              <a:rPr sz="1100">
                <a:solidFill>
                  <a:srgbClr val="9CDCFE"/>
                </a:solidFill>
                <a:latin typeface="Consolas"/>
              </a:rPr>
              <a:t>lr.slope * 40 + lr.intercept</a:t>
            </a:r>
          </a:p>
          <a:p>
            <a:pPr>
              <a:spcAft>
                <a:spcPts val="200"/>
              </a:spcAft>
            </a:pPr>
            <a:r>
              <a:rPr sz="1100">
                <a:solidFill>
                  <a:srgbClr val="6A9955"/>
                </a:solidFill>
                <a:latin typeface="Consolas"/>
              </a:rPr>
              <a:t>#  -&gt; 316.0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Slope = 6.598</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Every extra 1 unit of spend is associated with 6.6 more units of revenue.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Intercept = 52.1</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modelled revenue at zero spend — often not meaningful in the real world.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R² = 0.998</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99.8% of the variation in revenue is explained by spend. Very high — and suspiciously so.</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p = 1.4e-12</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Far below 0.05, so the relationship is statistically significant, not chance.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ANALYST'S DUTY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Two Variables Move Together. Now What?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Have I shown correlation, or have I actually shown causation?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CORRELATION — what you have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Pearson's r measures the strength and direction of a linear relationship. R² is the proportion of variance explained. This is a pattern, nothing more.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CAUSATION — what you need</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controlled experiment, a plausible mechanism, correct time ordering, and the ruling out of confounding variables. Observational data alone can never prove it.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In Lab 10 staff numbers correlate with revenue at r ≈ 0.99 — but growth over time drives both. Correlation is not causation.</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TROUBLESHOOTING ANALYSIS ISSUES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Troubleshooting Your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numbers don't reconcile</a:t>
            </a:r>
          </a:p>
          <a:p>
            <a:pPr algn="l">
              <a:spcAft>
                <a:spcPts val="300"/>
              </a:spcAft>
            </a:pPr>
            <a:r>
              <a:rPr sz="1100" b="0">
                <a:solidFill>
                  <a:srgbClr val="5B6372"/>
                </a:solidFill>
                <a:latin typeface="Arial"/>
              </a:rPr>
              <a:t>Check the record count at every join and filter. An INNER JOIN or a WHERE clause has probably dropped rows.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mean looks wrong</a:t>
            </a:r>
          </a:p>
          <a:p>
            <a:pPr algn="l">
              <a:spcAft>
                <a:spcPts val="300"/>
              </a:spcAft>
            </a:pPr>
            <a:r>
              <a:rPr sz="1100" b="0">
                <a:solidFill>
                  <a:srgbClr val="5B6372"/>
                </a:solidFill>
                <a:latin typeface="Arial"/>
              </a:rPr>
              <a:t>Check for outliers and nulls. pandas skips NaN in a mean — so your denominator may not be what you think.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Everything correlates</a:t>
            </a:r>
          </a:p>
          <a:p>
            <a:pPr algn="l">
              <a:spcAft>
                <a:spcPts val="300"/>
              </a:spcAft>
            </a:pPr>
            <a:r>
              <a:rPr sz="1100" b="0">
                <a:solidFill>
                  <a:srgbClr val="5B6372"/>
                </a:solidFill>
                <a:latin typeface="Arial"/>
              </a:rPr>
              <a:t>You may be measuring the same thing twice, or both variables are driven by time. Plot them before you trust 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result is too clean</a:t>
            </a:r>
          </a:p>
          <a:p>
            <a:pPr algn="l">
              <a:spcAft>
                <a:spcPts val="300"/>
              </a:spcAft>
            </a:pPr>
            <a:r>
              <a:rPr sz="1100" b="0">
                <a:solidFill>
                  <a:srgbClr val="5B6372"/>
                </a:solidFill>
                <a:latin typeface="Arial"/>
              </a:rPr>
              <a:t>Real business data is noisy. A perfect fit usually means leakage, a synthetic dataset, or a duplicated column.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Dates behave strangely</a:t>
            </a:r>
          </a:p>
          <a:p>
            <a:pPr algn="l">
              <a:spcAft>
                <a:spcPts val="300"/>
              </a:spcAft>
            </a:pPr>
            <a:r>
              <a:rPr sz="1100" b="0">
                <a:solidFill>
                  <a:srgbClr val="5B6372"/>
                </a:solidFill>
                <a:latin typeface="Arial"/>
              </a:rPr>
              <a:t>Confirm the parse format and the timezone. A DD/MM vs MM/DD mix-up silently corrupts every time series.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Nobody trusts the number</a:t>
            </a:r>
          </a:p>
          <a:p>
            <a:pPr algn="l">
              <a:spcAft>
                <a:spcPts val="300"/>
              </a:spcAft>
            </a:pPr>
            <a:r>
              <a:rPr sz="1100" b="0">
                <a:solidFill>
                  <a:srgbClr val="5B6372"/>
                </a:solidFill>
                <a:latin typeface="Arial"/>
              </a:rPr>
              <a:t>Show the lineage: the source, the filters applied, the row counts and the date the data was refreshed.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COMMUNICATING ANALYSIS RESULTS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Communicating Results to Different Audiences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C-level executives</a:t>
            </a:r>
          </a:p>
          <a:p>
            <a:pPr algn="l">
              <a:spcAft>
                <a:spcPts val="300"/>
              </a:spcAft>
            </a:pPr>
            <a:r>
              <a:rPr sz="1100" b="0">
                <a:solidFill>
                  <a:srgbClr val="5B6372"/>
                </a:solidFill>
                <a:latin typeface="Arial"/>
              </a:rPr>
              <a:t>The big picture only. Lead with the decision and the number that supports it — never the methodology.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a:t>
            </a:r>
          </a:p>
          <a:p>
            <a:pPr algn="l">
              <a:spcAft>
                <a:spcPts val="300"/>
              </a:spcAft>
            </a:pPr>
            <a:r>
              <a:rPr sz="1100" b="0">
                <a:solidFill>
                  <a:srgbClr val="5B6372"/>
                </a:solidFill>
                <a:latin typeface="Arial"/>
              </a:rPr>
              <a:t>Performance against target, by unit, with the exceptions highlighted and an action attached.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Technical experts</a:t>
            </a:r>
          </a:p>
          <a:p>
            <a:pPr algn="l">
              <a:spcAft>
                <a:spcPts val="300"/>
              </a:spcAft>
            </a:pPr>
            <a:r>
              <a:rPr sz="1100" b="0">
                <a:solidFill>
                  <a:srgbClr val="5B6372"/>
                </a:solidFill>
                <a:latin typeface="Arial"/>
              </a:rPr>
              <a:t>They will ask about your method, your sample and your assumptions. Bring the detail and the caveats.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External stakeholders</a:t>
            </a:r>
          </a:p>
          <a:p>
            <a:pPr algn="l">
              <a:spcAft>
                <a:spcPts val="300"/>
              </a:spcAft>
            </a:pPr>
            <a:r>
              <a:rPr sz="1100" b="0">
                <a:solidFill>
                  <a:srgbClr val="5B6372"/>
                </a:solidFill>
                <a:latin typeface="Arial"/>
              </a:rPr>
              <a:t>Know exactly what may and may not be shared. Aggregate and de-identify before it leaves the building.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General public</a:t>
            </a:r>
          </a:p>
          <a:p>
            <a:pPr algn="l">
              <a:spcAft>
                <a:spcPts val="300"/>
              </a:spcAft>
            </a:pPr>
            <a:r>
              <a:rPr sz="1100" b="0">
                <a:solidFill>
                  <a:srgbClr val="5B6372"/>
                </a:solidFill>
                <a:latin typeface="Arial"/>
              </a:rPr>
              <a:t>Plain language, no jargon, one message per visual, and a clearly stated source.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universal rule</a:t>
            </a:r>
          </a:p>
          <a:p>
            <a:pPr algn="l">
              <a:spcAft>
                <a:spcPts val="300"/>
              </a:spcAft>
            </a:pPr>
            <a:r>
              <a:rPr sz="1100" b="0">
                <a:solidFill>
                  <a:srgbClr val="5B6372"/>
                </a:solidFill>
                <a:latin typeface="Arial"/>
              </a:rPr>
              <a:t>Lead with the answer, then the evidence. Never make your audience assemble the conclusion themselves.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8 — Descriptive Statistics and the Outlier That Moves the Mean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statistical methods: apply basic statistical techniques to data (Domain 3); LO3 / K2 / A3.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compute every descriptive statistic the exam names — mean, median, mode, range, variance, standard deviation and z-score — on a real salary dataset, then remove one outlier and watch which statistics move and which do not. This is the exam's central-tendency-versus-robustness point, proven with numbers.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descriptive-statistics report showing mean, median, mode, range, variance, SD and z-scores, computed with and without the outlier.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statistics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Across 61 employees the mean is ~4978 but the median is only 4550. Removing the single Executive salary drops the mean to ~4628 while the median barely moves (4550 → 4525). E999 is flagged at z ≈ 7.5, far beyond the |z| &gt; 3 threshold. Your report recommends the MEDIAN as the typical salary.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Compute DISPERSION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Now remove the outlier and recompute the SAM</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Compute the departmental summary</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your recommendation: which single numb</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descriptive-statistics report showing mean, median, mode, range, variance, SD and z-scores, computed with and without the outlier.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8 — Descriptive Statistics and the Outlier That Moves the Mean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~/dataplus/lab8 &amp;&amp; cd ~/dataplus/lab8;</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D=lab-08-descriptive-statistics-and-the-outlier-that-moves-th;</a:t>
            </a:r>
          </a:p>
          <a:p>
            <a:pPr algn="l">
              <a:spcAft>
                <a:spcPts val="0"/>
              </a:spcAft>
            </a:pPr>
            <a:r>
              <a:rPr sz="640" b="0">
                <a:solidFill>
                  <a:srgbClr val="9CDCFE"/>
                </a:solidFill>
                <a:latin typeface="Consolas"/>
              </a:rPr>
              <a:t>   for f in salaries.csv;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CENTRAL TENDENCY — mean, median and mode together.</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d=pd.read_csv('salaries.csv');</a:t>
            </a:r>
          </a:p>
          <a:p>
            <a:pPr algn="l">
              <a:spcAft>
                <a:spcPts val="0"/>
              </a:spcAft>
            </a:pPr>
            <a:r>
              <a:rPr sz="640" b="0">
                <a:solidFill>
                  <a:srgbClr val="9CDCFE"/>
                </a:solidFill>
                <a:latin typeface="Consolas"/>
              </a:rPr>
              <a:t>   s=d.salary;</a:t>
            </a:r>
          </a:p>
          <a:p>
            <a:pPr algn="l">
              <a:spcAft>
                <a:spcPts val="0"/>
              </a:spcAft>
            </a:pPr>
            <a:r>
              <a:rPr sz="640" b="0">
                <a:solidFill>
                  <a:srgbClr val="9CDCFE"/>
                </a:solidFill>
                <a:latin typeface="Consolas"/>
              </a:rPr>
              <a:t>   print('mean',round(s.mean(),2));</a:t>
            </a:r>
          </a:p>
          <a:p>
            <a:pPr algn="l">
              <a:spcAft>
                <a:spcPts val="0"/>
              </a:spcAft>
            </a:pPr>
            <a:r>
              <a:rPr sz="640" b="0">
                <a:solidFill>
                  <a:srgbClr val="9CDCFE"/>
                </a:solidFill>
                <a:latin typeface="Consolas"/>
              </a:rPr>
              <a:t>   print('median',s.median());</a:t>
            </a:r>
          </a:p>
          <a:p>
            <a:pPr algn="l">
              <a:spcAft>
                <a:spcPts val="0"/>
              </a:spcAft>
            </a:pPr>
            <a:r>
              <a:rPr sz="640" b="0">
                <a:solidFill>
                  <a:srgbClr val="9CDCFE"/>
                </a:solidFill>
                <a:latin typeface="Consolas"/>
              </a:rPr>
              <a:t>   print('mode',s.mode().tolist())"</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DISPERSION — min, max, range, variance and standard deviation.</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d=pd.read_csv('salaries.csv');</a:t>
            </a:r>
          </a:p>
          <a:p>
            <a:pPr algn="l">
              <a:spcAft>
                <a:spcPts val="0"/>
              </a:spcAft>
            </a:pPr>
            <a:r>
              <a:rPr sz="640" b="0">
                <a:solidFill>
                  <a:srgbClr val="9CDCFE"/>
                </a:solidFill>
                <a:latin typeface="Consolas"/>
              </a:rPr>
              <a:t>   s=d.salary;</a:t>
            </a:r>
          </a:p>
          <a:p>
            <a:pPr algn="l">
              <a:spcAft>
                <a:spcPts val="0"/>
              </a:spcAft>
            </a:pPr>
            <a:r>
              <a:rPr sz="640" b="0">
                <a:solidFill>
                  <a:srgbClr val="9CDCFE"/>
                </a:solidFill>
                <a:latin typeface="Consolas"/>
              </a:rPr>
              <a:t>   print('min',s.min(),'max',s.max(),'range',s.max()-s.min());</a:t>
            </a:r>
          </a:p>
          <a:p>
            <a:pPr algn="l">
              <a:spcAft>
                <a:spcPts val="0"/>
              </a:spcAft>
            </a:pPr>
            <a:r>
              <a:rPr sz="640" b="0">
                <a:solidFill>
                  <a:srgbClr val="9CDCFE"/>
                </a:solidFill>
                <a:latin typeface="Consolas"/>
              </a:rPr>
              <a:t>   print('variance',round(s.var(),2),'sd',round(s.std(),2))"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8 — Descriptive Statistics and the Outlier That Moves the Mean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Z-SCORE for every row and flag anything beyond the standard |z| &gt; 3 threshold.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a:t>
            </a:r>
          </a:p>
          <a:p>
            <a:pPr algn="l">
              <a:spcAft>
                <a:spcPts val="0"/>
              </a:spcAft>
            </a:pPr>
            <a:r>
              <a:rPr sz="640" b="0">
                <a:solidFill>
                  <a:srgbClr val="9CDCFE"/>
                </a:solidFill>
                <a:latin typeface="Consolas"/>
              </a:rPr>
              <a:t>   pd;d=pd.read_csv('salaries.csv');s=d.salary;d['z']=((s-s.mean())/s.std()).round(2);print(d);print('FLAGGED:');</a:t>
            </a:r>
          </a:p>
          <a:p>
            <a:pPr algn="l">
              <a:spcAft>
                <a:spcPts val="0"/>
              </a:spcAft>
            </a:pPr>
            <a:r>
              <a:rPr sz="640" b="0">
                <a:solidFill>
                  <a:srgbClr val="9CDCFE"/>
                </a:solidFill>
                <a:latin typeface="Consolas"/>
              </a:rPr>
              <a:t>   print(d[abs(d.z)&gt;3])"</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Now remove the outlier and recompute the SAME statistics.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d=pd.read_csv('salaries.csv');</a:t>
            </a:r>
          </a:p>
          <a:p>
            <a:pPr algn="l">
              <a:spcAft>
                <a:spcPts val="0"/>
              </a:spcAft>
            </a:pPr>
            <a:r>
              <a:rPr sz="640" b="0">
                <a:solidFill>
                  <a:srgbClr val="9CDCFE"/>
                </a:solidFill>
                <a:latin typeface="Consolas"/>
              </a:rPr>
              <a:t>   c=d[d.salary&lt;20000].salary;</a:t>
            </a:r>
          </a:p>
          <a:p>
            <a:pPr algn="l">
              <a:spcAft>
                <a:spcPts val="0"/>
              </a:spcAft>
            </a:pPr>
            <a:r>
              <a:rPr sz="640" b="0">
                <a:solidFill>
                  <a:srgbClr val="9CDCFE"/>
                </a:solidFill>
                <a:latin typeface="Consolas"/>
              </a:rPr>
              <a:t>   print('mean',round(c.mean(),2));</a:t>
            </a:r>
          </a:p>
          <a:p>
            <a:pPr algn="l">
              <a:spcAft>
                <a:spcPts val="0"/>
              </a:spcAft>
            </a:pPr>
            <a:r>
              <a:rPr sz="640" b="0">
                <a:solidFill>
                  <a:srgbClr val="9CDCFE"/>
                </a:solidFill>
                <a:latin typeface="Consolas"/>
              </a:rPr>
              <a:t>   print('median',c.median());</a:t>
            </a:r>
          </a:p>
          <a:p>
            <a:pPr algn="l">
              <a:spcAft>
                <a:spcPts val="0"/>
              </a:spcAft>
            </a:pPr>
            <a:r>
              <a:rPr sz="640" b="0">
                <a:solidFill>
                  <a:srgbClr val="9CDCFE"/>
                </a:solidFill>
                <a:latin typeface="Consolas"/>
              </a:rPr>
              <a:t>   print('sd',round(c.std(),2))"</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Compare the two runs side by side and record which statistic moved most.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a:t>
            </a:r>
          </a:p>
          <a:p>
            <a:pPr algn="l">
              <a:spcAft>
                <a:spcPts val="0"/>
              </a:spcAft>
            </a:pPr>
            <a:r>
              <a:rPr sz="640" b="0">
                <a:solidFill>
                  <a:srgbClr val="9CDCFE"/>
                </a:solidFill>
                <a:latin typeface="Consolas"/>
              </a:rPr>
              <a:t>   pd;d=pd.read_csv('salaries.csv');a=d.salary;b=d[d.salary&lt;20000].salary;print(f'mean {a.mean():&gt;9.2f} -&gt;</a:t>
            </a:r>
          </a:p>
          <a:p>
            <a:pPr algn="l">
              <a:spcAft>
                <a:spcPts val="0"/>
              </a:spcAft>
            </a:pPr>
            <a:r>
              <a:rPr sz="640" b="0">
                <a:solidFill>
                  <a:srgbClr val="9CDCFE"/>
                </a:solidFill>
                <a:latin typeface="Consolas"/>
              </a:rPr>
              <a:t>   {b.mean():&gt;8.2f}');print(f'median {a.median():&gt;9.2f} -&gt; {b.median():&gt;8.2f}');print(f'sd {a.std():&gt;9.2f} -&gt;</a:t>
            </a:r>
          </a:p>
          <a:p>
            <a:pPr algn="l">
              <a:spcAft>
                <a:spcPts val="0"/>
              </a:spcAft>
            </a:pPr>
            <a:r>
              <a:rPr sz="640" b="0">
                <a:solidFill>
                  <a:srgbClr val="9CDCFE"/>
                </a:solidFill>
                <a:latin typeface="Consolas"/>
              </a:rPr>
              <a:t>   {b.std():&gt;8.2f}')"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8 — Descriptive Statistics and the Outlier That Moves the Mean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departmental summary — this is the aggregation a manager actually asks for.</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780" b="0">
                <a:solidFill>
                  <a:srgbClr val="9CDCFE"/>
                </a:solidFill>
                <a:latin typeface="Consolas"/>
              </a:rPr>
              <a:t>$ python3 -c "import pandas as pd;</a:t>
            </a:r>
          </a:p>
          <a:p>
            <a:pPr algn="l">
              <a:spcAft>
                <a:spcPts val="0"/>
              </a:spcAft>
            </a:pPr>
            <a:r>
              <a:rPr sz="780" b="0">
                <a:solidFill>
                  <a:srgbClr val="9CDCFE"/>
                </a:solidFill>
                <a:latin typeface="Consolas"/>
              </a:rPr>
              <a:t>   d=pd.read_csv('salaries.csv');</a:t>
            </a:r>
          </a:p>
          <a:p>
            <a:pPr algn="l">
              <a:spcAft>
                <a:spcPts val="0"/>
              </a:spcAft>
            </a:pPr>
            <a:r>
              <a:rPr sz="780" b="0">
                <a:solidFill>
                  <a:srgbClr val="9CDCFE"/>
                </a:solidFill>
                <a:latin typeface="Consolas"/>
              </a:rPr>
              <a:t>   print(d.groupby('dept').salary.agg(['count','mean','median','std']).round(2))"</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your recommendation: which single number should be reported to the board, and why.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8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Across 61 employees the mean is ~4978 but the median is only 4550. Removing the single Executive salary drops the mean to ~4628 while the median barely moves (4550 → 4525). E999 is flagged at z ≈ 7.5, far beyond the |z| &gt; 3 threshold. Your report recommends the MEDIAN as the typical salary.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mode returns several values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dataset with no repeated value returns every value. pandas .mode() correctly returns a list — report it as 'no single mode'.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Variance looks enormous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Variance is in squared units. Report the standard deviation (its square root) instead, which is in dollars.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8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8-outlier-mean-median.png"/>
          <p:cNvPicPr>
            <a:picLocks noChangeAspect="1"/>
          </p:cNvPicPr>
          <p:nvPr/>
        </p:nvPicPr>
        <p:blipFill>
          <a:blip r:embed="rId2"/>
          <a:stretch>
            <a:fillRect/>
          </a:stretch>
        </p:blipFill>
        <p:spPr>
          <a:xfrm>
            <a:off x="1564386" y="1783080"/>
            <a:ext cx="9060180" cy="3429000"/>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Across 61 employees the mean is ~4978 but the median is only 4550. Removing the single Executive salary drops the mean to ~4628 while the median barely moves (4550 → 4525).</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9 — Hypothesis Testing: t-test, p-value and the Two Error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statistical methods: inferential techniques, hypothesis testing (Domain 3); LO3 / K2 / A3.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marketing team claims the new checkout page lifts order value. You state the null and alternative hypotheses, run a two-sample t-test, read the p-value against the 0.05 threshold, and state your conclusion in business language — including which error type you would be risking if you are wrong.</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hypothesis test: stated H0/H1, computed t-statistic and p-value, an accept/reject decision, and the business recommendation.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scipy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With 60 observations per group the t-test returns t ≈ -11.3 and p ≈ 1.9e-20, far below 0.05, so you REJECT H0. Group B averages about 49.65 against 41.14 for group A — a lift of roughly 8.5, with a 95% confidence interval that excludes zero.</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Look at the group means first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Apply the 0</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Now the error-type question</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the one-paragraph recommendation a man</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completed hypothesis test: stated H0/H1, computed t-statistic and p-value, an accept/reject decision, and the business recommendation.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9 — Hypothesis Testing: t-test, p-value and the Two Error Types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~/dataplus/lab9 &amp;&amp; cd ~/dataplus/lab9;</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D=lab-09-hypothesis-testing-t-test-p-value-and-the-two-error;</a:t>
            </a:r>
          </a:p>
          <a:p>
            <a:pPr algn="l">
              <a:spcAft>
                <a:spcPts val="0"/>
              </a:spcAft>
            </a:pPr>
            <a:r>
              <a:rPr sz="640" b="0">
                <a:solidFill>
                  <a:srgbClr val="9CDCFE"/>
                </a:solidFill>
                <a:latin typeface="Consolas"/>
              </a:rPr>
              <a:t>   for f in abtest.csv;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264408"/>
            <a:ext cx="9692640" cy="1417320"/>
          </a:xfrm>
          <a:prstGeom prst="rect">
            <a:avLst/>
          </a:prstGeom>
          <a:noFill/>
        </p:spPr>
        <p:txBody>
          <a:bodyPr wrap="square" anchor="ctr">
            <a:spAutoFit/>
          </a:bodyPr>
          <a:lstStyle/>
          <a:p>
            <a:pPr algn="l">
              <a:spcAft>
                <a:spcPts val="400"/>
              </a:spcAft>
            </a:pPr>
            <a:r>
              <a:rPr sz="1250" b="0">
                <a:solidFill>
                  <a:srgbClr val="161B26"/>
                </a:solidFill>
                <a:latin typeface="Arial"/>
              </a:rPr>
              <a:t>STATE THE HYPOTHESES before you look at any result — this is the discipline the exam tests.  H0: there is no difference in mean order value.  H1: the new page has a higher mean order value.</a:t>
            </a:r>
          </a:p>
        </p:txBody>
      </p:sp>
      <p:sp>
        <p:nvSpPr>
          <p:cNvPr id="19" name="Rectangle 18"/>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Look at the group means first — a difference here is necessary but NOT sufficient.</a:t>
            </a:r>
          </a:p>
        </p:txBody>
      </p:sp>
      <p:sp>
        <p:nvSpPr>
          <p:cNvPr id="24" name="Rectangle 23"/>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5175504"/>
            <a:ext cx="9326880" cy="923544"/>
          </a:xfrm>
          <a:prstGeom prst="rect">
            <a:avLst/>
          </a:prstGeom>
          <a:noFill/>
        </p:spPr>
        <p:txBody>
          <a:bodyPr wrap="none" anchor="ctr">
            <a:spAutoFit/>
          </a:bodyPr>
          <a:lstStyle/>
          <a:p>
            <a:pPr algn="l">
              <a:spcAft>
                <a:spcPts val="0"/>
              </a:spcAft>
            </a:pPr>
            <a:r>
              <a:rPr sz="780" b="0">
                <a:solidFill>
                  <a:srgbClr val="9CDCFE"/>
                </a:solidFill>
                <a:latin typeface="Consolas"/>
              </a:rPr>
              <a:t>$ python3 -c "import pandas as pd;</a:t>
            </a:r>
          </a:p>
          <a:p>
            <a:pPr algn="l">
              <a:spcAft>
                <a:spcPts val="0"/>
              </a:spcAft>
            </a:pPr>
            <a:r>
              <a:rPr sz="780" b="0">
                <a:solidFill>
                  <a:srgbClr val="9CDCFE"/>
                </a:solidFill>
                <a:latin typeface="Consolas"/>
              </a:rPr>
              <a:t>   d=pd.read_csv('abtest.csv');</a:t>
            </a:r>
          </a:p>
          <a:p>
            <a:pPr algn="l">
              <a:spcAft>
                <a:spcPts val="0"/>
              </a:spcAft>
            </a:pPr>
            <a:r>
              <a:rPr sz="780" b="0">
                <a:solidFill>
                  <a:srgbClr val="9CDCFE"/>
                </a:solidFill>
                <a:latin typeface="Consolas"/>
              </a:rPr>
              <a:t>   print(d.groupby('group').order_value.agg(['count','mean','std']).round(2))"</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9 — Hypothesis Testing: t-test, p-value and the Two Error Types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Run the two-sample t-test and read the p-value.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740" b="0">
                <a:solidFill>
                  <a:srgbClr val="9CDCFE"/>
                </a:solidFill>
                <a:latin typeface="Consolas"/>
              </a:rPr>
              <a:t>$ python3 -c "import pandas as pd;from scipy import</a:t>
            </a:r>
          </a:p>
          <a:p>
            <a:pPr algn="l">
              <a:spcAft>
                <a:spcPts val="0"/>
              </a:spcAft>
            </a:pPr>
            <a:r>
              <a:rPr sz="740" b="0">
                <a:solidFill>
                  <a:srgbClr val="9CDCFE"/>
                </a:solidFill>
                <a:latin typeface="Consolas"/>
              </a:rPr>
              <a:t>   stats;d=pd.read_csv('abtest.csv');a=d[d.group=='A'].order_value;b=d[d.group=='B'].order_value;t,</a:t>
            </a:r>
          </a:p>
          <a:p>
            <a:pPr algn="l">
              <a:spcAft>
                <a:spcPts val="0"/>
              </a:spcAft>
            </a:pPr>
            <a:r>
              <a:rPr sz="740" b="0">
                <a:solidFill>
                  <a:srgbClr val="9CDCFE"/>
                </a:solidFill>
                <a:latin typeface="Consolas"/>
              </a:rPr>
              <a:t>   p=stats.ttest_ind(a,b);print('t =',round(t,4));print('p =',round(p,6))"</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the 0.05 decision rule explicitly.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pd;from scipy import</a:t>
            </a:r>
          </a:p>
          <a:p>
            <a:pPr algn="l">
              <a:spcAft>
                <a:spcPts val="0"/>
              </a:spcAft>
            </a:pPr>
            <a:r>
              <a:rPr sz="640" b="0">
                <a:solidFill>
                  <a:srgbClr val="9CDCFE"/>
                </a:solidFill>
                <a:latin typeface="Consolas"/>
              </a:rPr>
              <a:t>   stats;d=pd.read_csv('abtest.csv');a=d[d.group=='A'].order_value;b=d[d.group=='B'].order_value;t,</a:t>
            </a:r>
          </a:p>
          <a:p>
            <a:pPr algn="l">
              <a:spcAft>
                <a:spcPts val="0"/>
              </a:spcAft>
            </a:pPr>
            <a:r>
              <a:rPr sz="640" b="0">
                <a:solidFill>
                  <a:srgbClr val="9CDCFE"/>
                </a:solidFill>
                <a:latin typeface="Consolas"/>
              </a:rPr>
              <a:t>   p=stats.ttest_ind(a,b);print('REJECT H0 - the difference is statistically significant' if p&lt;0.05 else 'FAIL TO</a:t>
            </a:r>
          </a:p>
          <a:p>
            <a:pPr algn="l">
              <a:spcAft>
                <a:spcPts val="0"/>
              </a:spcAft>
            </a:pPr>
            <a:r>
              <a:rPr sz="640" b="0">
                <a:solidFill>
                  <a:srgbClr val="9CDCFE"/>
                </a:solidFill>
                <a:latin typeface="Consolas"/>
              </a:rPr>
              <a:t>   REJECT H0')"</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95% confidence interval for the difference so you can report a range, not just a verdict.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pd,numpy as np;from scipy import</a:t>
            </a:r>
          </a:p>
          <a:p>
            <a:pPr algn="l">
              <a:spcAft>
                <a:spcPts val="0"/>
              </a:spcAft>
            </a:pPr>
            <a:r>
              <a:rPr sz="640" b="0">
                <a:solidFill>
                  <a:srgbClr val="9CDCFE"/>
                </a:solidFill>
                <a:latin typeface="Consolas"/>
              </a:rPr>
              <a:t>   stats;d=pd.read_csv('abtest.csv');a=d[d.group=='A'].order_value;b=d[d.group=='B'].order_value;diff=b.mean()</a:t>
            </a:r>
          </a:p>
          <a:p>
            <a:pPr algn="l">
              <a:spcAft>
                <a:spcPts val="0"/>
              </a:spcAft>
            </a:pPr>
            <a:r>
              <a:rPr sz="640" b="0">
                <a:solidFill>
                  <a:srgbClr val="9CDCFE"/>
                </a:solidFill>
                <a:latin typeface="Consolas"/>
              </a:rPr>
              <a:t>   -a.mean();se=np.sqrt(a.var()/len(a)+b.var()/len(b));print('diff',round(diff,2),'95%</a:t>
            </a:r>
          </a:p>
          <a:p>
            <a:pPr algn="l">
              <a:spcAft>
                <a:spcPts val="0"/>
              </a:spcAft>
            </a:pPr>
            <a:r>
              <a:rPr sz="640" b="0">
                <a:solidFill>
                  <a:srgbClr val="9CDCFE"/>
                </a:solidFill>
                <a:latin typeface="Consolas"/>
              </a:rPr>
              <a:t>   CI',(round(diff-1.96*se,2),round(diff+1.96*se,2)))"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9 — Hypothesis Testing: t-test, p-value and the Two Error Types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Now the error-type question. Write down: if you reject H0 and you are WRONG, which error is that (Type I) and what does it cost the business? If you fail to reject and you are wrong (Type II), what does that cost?</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the one-paragraph recommendation a manager could act on — no statistics jargon.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9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With 60 observations per group the t-test returns t ≈ -11.3 and p ≈ 1.9e-20, far below 0.05, so you REJECT H0. Group B averages about 49.65 against 41.14 for group A — a lift of roughly 8.5, with a 95% confidence interval that excludes zero.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 scipy</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pip3 install scipy, adding --break-system-packages if Killercoda's pip refuses.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p-value is nan</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One group has fewer than two values or zero variance. Check your CSV loaded all 16 rows with d.shape.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9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9-abtest.png"/>
          <p:cNvPicPr>
            <a:picLocks noChangeAspect="1"/>
          </p:cNvPicPr>
          <p:nvPr/>
        </p:nvPicPr>
        <p:blipFill>
          <a:blip r:embed="rId2"/>
          <a:stretch>
            <a:fillRect/>
          </a:stretch>
        </p:blipFill>
        <p:spPr>
          <a:xfrm>
            <a:off x="2040601" y="1783080"/>
            <a:ext cx="8107749" cy="3429000"/>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With 60 observations per group the t-test returns t ≈ -11.3 and p ≈ 1.9e-20, far below 0.05, so you REJECT H0.</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10 — Correlation, Regression and the Causation Trap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statistical methods: correlation and regression; troubleshoot analysis issues (Domain 3); LO3 / LO5 / A3 / A4.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measure the relationship between marketing spend and revenue with Pearson's r and R-squared, fit a regression line, use it to predict — and then meet a third dataset where two variables correlate almost perfectly with no causal link at all. Recognising that trap is an exam objective and a professional duty.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correlation matrix, a fitted regression equation with R-squared, a prediction, and a written spurious-correlation analysis.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scipy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Across 36 months spend and revenue correlate at r ≈ 0.991 with R-squared ≈ 0.982, giving revenue ≈ 6.55 × spend + 54.1. Staff headcount ALSO correlates with revenue at r ≈ 0.970 — but growth over time drives both, so that second relationship is not causal.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Get Pearson's r and its p-value for spend ve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Use the model to PREDICT revenue at a spend</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 TRAP</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Explain in writing: does hiring staff CAUSE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correlation matrix, a fitted regression equation with R-squared, a prediction, and a written spurious-correlation analysis.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10 — Correlation, Regression and the Causation Trap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~/dataplus/lab10 &amp;&amp; cd ~/dataplus/lab10;</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D=lab-10-correlation-regression-and-the-causation-trap;</a:t>
            </a:r>
          </a:p>
          <a:p>
            <a:pPr algn="l">
              <a:spcAft>
                <a:spcPts val="0"/>
              </a:spcAft>
            </a:pPr>
            <a:r>
              <a:rPr sz="640" b="0">
                <a:solidFill>
                  <a:srgbClr val="9CDCFE"/>
                </a:solidFill>
                <a:latin typeface="Consolas"/>
              </a:rPr>
              <a:t>   for f in marketing.csv;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full CORRELATION MATRIX — every pair at once.</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780" b="0">
                <a:solidFill>
                  <a:srgbClr val="9CDCFE"/>
                </a:solidFill>
                <a:latin typeface="Consolas"/>
              </a:rPr>
              <a:t>$ python3 -c "import pandas as pd;</a:t>
            </a:r>
          </a:p>
          <a:p>
            <a:pPr algn="l">
              <a:spcAft>
                <a:spcPts val="0"/>
              </a:spcAft>
            </a:pPr>
            <a:r>
              <a:rPr sz="780" b="0">
                <a:solidFill>
                  <a:srgbClr val="9CDCFE"/>
                </a:solidFill>
                <a:latin typeface="Consolas"/>
              </a:rPr>
              <a:t>   d=pd.read_csv('marketing.csv');</a:t>
            </a:r>
          </a:p>
          <a:p>
            <a:pPr algn="l">
              <a:spcAft>
                <a:spcPts val="0"/>
              </a:spcAft>
            </a:pPr>
            <a:r>
              <a:rPr sz="780" b="0">
                <a:solidFill>
                  <a:srgbClr val="9CDCFE"/>
                </a:solidFill>
                <a:latin typeface="Consolas"/>
              </a:rPr>
              <a:t>   print(d[['spend','revenue','staff']].corr().round(4))"</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Get Pearson's r and its p-value for spend versus revenue specifically.</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780" b="0">
                <a:solidFill>
                  <a:srgbClr val="9CDCFE"/>
                </a:solidFill>
                <a:latin typeface="Consolas"/>
              </a:rPr>
              <a:t>$ python3 -c "import pandas as pd;from scipy import</a:t>
            </a:r>
          </a:p>
          <a:p>
            <a:pPr algn="l">
              <a:spcAft>
                <a:spcPts val="0"/>
              </a:spcAft>
            </a:pPr>
            <a:r>
              <a:rPr sz="780" b="0">
                <a:solidFill>
                  <a:srgbClr val="9CDCFE"/>
                </a:solidFill>
                <a:latin typeface="Consolas"/>
              </a:rPr>
              <a:t>   stats;d=pd.read_csv('marketing.csv');r,p=stats.pearsonr(d.spend,d.revenue);print('r</a:t>
            </a:r>
          </a:p>
          <a:p>
            <a:pPr algn="l">
              <a:spcAft>
                <a:spcPts val="0"/>
              </a:spcAft>
            </a:pPr>
            <a:r>
              <a:rPr sz="780" b="0">
                <a:solidFill>
                  <a:srgbClr val="9CDCFE"/>
                </a:solidFill>
                <a:latin typeface="Consolas"/>
              </a:rPr>
              <a:t>   =',round(r,4));print('r-squared =',round(r**2,4));print('p =',round(p,8))"</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10 — Correlation, Regression and the Causation Trap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Fit the REGRESSION LINE and read off the slope and intercept.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from scipy import stats;</a:t>
            </a:r>
          </a:p>
          <a:p>
            <a:pPr algn="l">
              <a:spcAft>
                <a:spcPts val="0"/>
              </a:spcAft>
            </a:pPr>
            <a:r>
              <a:rPr sz="640" b="0">
                <a:solidFill>
                  <a:srgbClr val="9CDCFE"/>
                </a:solidFill>
                <a:latin typeface="Consolas"/>
              </a:rPr>
              <a:t>   d=pd.read_csv('marketing.csv');</a:t>
            </a:r>
          </a:p>
          <a:p>
            <a:pPr algn="l">
              <a:spcAft>
                <a:spcPts val="0"/>
              </a:spcAft>
            </a:pPr>
            <a:r>
              <a:rPr sz="640" b="0">
                <a:solidFill>
                  <a:srgbClr val="9CDCFE"/>
                </a:solidFill>
                <a:latin typeface="Consolas"/>
              </a:rPr>
              <a:t>   lr=stats.linregress(d.spend,d.revenue);</a:t>
            </a:r>
          </a:p>
          <a:p>
            <a:pPr algn="l">
              <a:spcAft>
                <a:spcPts val="0"/>
              </a:spcAft>
            </a:pPr>
            <a:r>
              <a:rPr sz="640" b="0">
                <a:solidFill>
                  <a:srgbClr val="9CDCFE"/>
                </a:solidFill>
                <a:latin typeface="Consolas"/>
              </a:rPr>
              <a:t>   print(f'revenue = {lr.slope:.3f} * spend + {lr.intercept:.3f}');</a:t>
            </a:r>
          </a:p>
          <a:p>
            <a:pPr algn="l">
              <a:spcAft>
                <a:spcPts val="0"/>
              </a:spcAft>
            </a:pPr>
            <a:r>
              <a:rPr sz="640" b="0">
                <a:solidFill>
                  <a:srgbClr val="9CDCFE"/>
                </a:solidFill>
                <a:latin typeface="Consolas"/>
              </a:rPr>
              <a:t>   print('R-squared =',round(lr.rvalue**2,4))"</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Use the model to PREDICT revenue at a spend level you have never observed.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from scipy import stats;</a:t>
            </a:r>
          </a:p>
          <a:p>
            <a:pPr algn="l">
              <a:spcAft>
                <a:spcPts val="0"/>
              </a:spcAft>
            </a:pPr>
            <a:r>
              <a:rPr sz="640" b="0">
                <a:solidFill>
                  <a:srgbClr val="9CDCFE"/>
                </a:solidFill>
                <a:latin typeface="Consolas"/>
              </a:rPr>
              <a:t>   d=pd.read_csv('marketing.csv');</a:t>
            </a:r>
          </a:p>
          <a:p>
            <a:pPr algn="l">
              <a:spcAft>
                <a:spcPts val="0"/>
              </a:spcAft>
            </a:pPr>
            <a:r>
              <a:rPr sz="640" b="0">
                <a:solidFill>
                  <a:srgbClr val="9CDCFE"/>
                </a:solidFill>
                <a:latin typeface="Consolas"/>
              </a:rPr>
              <a:t>   lr=stats.linregress(d.spend,d.revenue);</a:t>
            </a:r>
          </a:p>
          <a:p>
            <a:pPr algn="l">
              <a:spcAft>
                <a:spcPts val="0"/>
              </a:spcAft>
            </a:pPr>
            <a:r>
              <a:rPr sz="640" b="0">
                <a:solidFill>
                  <a:srgbClr val="9CDCFE"/>
                </a:solidFill>
                <a:latin typeface="Consolas"/>
              </a:rPr>
              <a:t>   print('predicted revenue at spend=40:',round(lr.slope*40+lr.intercept,2))"</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State the limit of that prediction: spend=40 is outside the observed range (10–33). Write down why extrapolating beyond your data is the analysis error the exam warns about.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10 — Correlation, Regression and the Causation Trap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THE TRAP — now look at staff versus revenue. The correlation is nearly as strong.</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from scipy import stats;</a:t>
            </a:r>
          </a:p>
          <a:p>
            <a:pPr algn="l">
              <a:spcAft>
                <a:spcPts val="0"/>
              </a:spcAft>
            </a:pPr>
            <a:r>
              <a:rPr sz="640" b="0">
                <a:solidFill>
                  <a:srgbClr val="9CDCFE"/>
                </a:solidFill>
                <a:latin typeface="Consolas"/>
              </a:rPr>
              <a:t>   d=pd.read_csv('marketing.csv');</a:t>
            </a:r>
          </a:p>
          <a:p>
            <a:pPr algn="l">
              <a:spcAft>
                <a:spcPts val="0"/>
              </a:spcAft>
            </a:pPr>
            <a:r>
              <a:rPr sz="640" b="0">
                <a:solidFill>
                  <a:srgbClr val="9CDCFE"/>
                </a:solidFill>
                <a:latin typeface="Consolas"/>
              </a:rPr>
              <a:t>   r,p=stats.pearsonr(d.staff,d.revenue);</a:t>
            </a:r>
          </a:p>
          <a:p>
            <a:pPr algn="l">
              <a:spcAft>
                <a:spcPts val="0"/>
              </a:spcAft>
            </a:pPr>
            <a:r>
              <a:rPr sz="640" b="0">
                <a:solidFill>
                  <a:srgbClr val="9CDCFE"/>
                </a:solidFill>
                <a:latin typeface="Consolas"/>
              </a:rPr>
              <a:t>   print('staff vs revenue r =',round(r,4))"</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Explain in writing: does hiring staff CAUSE revenue? Identify the confounding variable that drives both, and state the one sentence every analyst must be able to defend — correlation is not causation.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10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Across 36 months spend and revenue correlate at r ≈ 0.991 with R-squared ≈ 0.982, giving revenue ≈ 6.55 × spend + 54.1. Staff headcount ALSO correlates with revenue at r ≈ 0.970 — but growth over time drives both, so that second relationship is not causal.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 is exactly 1.0</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Perfect correlation means the data is synthetic and noise-free. Note that real business data never looks like this.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linregress has no attribute rvalue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are on a very old scipy. Use r,p = stats.pearsonr(...) and square r yourself.</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10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0-correlation-trap.png"/>
          <p:cNvPicPr>
            <a:picLocks noChangeAspect="1"/>
          </p:cNvPicPr>
          <p:nvPr/>
        </p:nvPicPr>
        <p:blipFill>
          <a:blip r:embed="rId2"/>
          <a:stretch>
            <a:fillRect/>
          </a:stretch>
        </p:blipFill>
        <p:spPr>
          <a:xfrm>
            <a:off x="1564386" y="1783080"/>
            <a:ext cx="9060180" cy="3429000"/>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Across 36 months spend and revenue correlate at r ≈ 0.991 with R-squared ≈ 0.982, giving revenue ≈ 6.55 × spend + 54.1.</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03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Data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Descriptive stats</a:t>
            </a:r>
          </a:p>
          <a:p>
            <a:pPr algn="l">
              <a:spcAft>
                <a:spcPts val="300"/>
              </a:spcAft>
            </a:pPr>
            <a:r>
              <a:rPr sz="1000" b="0">
                <a:solidFill>
                  <a:srgbClr val="5B6372"/>
                </a:solidFill>
                <a:latin typeface="Arial"/>
              </a:rPr>
              <a:t>Descriptive statistics summarise: mean, median and mode for centre; range, variance and SD for spread.</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Mean vs median</a:t>
            </a:r>
          </a:p>
          <a:p>
            <a:pPr algn="l">
              <a:spcAft>
                <a:spcPts val="300"/>
              </a:spcAft>
            </a:pPr>
            <a:r>
              <a:rPr sz="1000" b="0">
                <a:solidFill>
                  <a:srgbClr val="5B6372"/>
                </a:solidFill>
                <a:latin typeface="Arial"/>
              </a:rPr>
              <a:t>The mean is dragged by outliers and the median resists them — which one you report changes the story.</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Z-scores</a:t>
            </a:r>
          </a:p>
          <a:p>
            <a:pPr algn="l">
              <a:spcAft>
                <a:spcPts val="300"/>
              </a:spcAft>
            </a:pPr>
            <a:r>
              <a:rPr sz="1000" b="0">
                <a:solidFill>
                  <a:srgbClr val="5B6372"/>
                </a:solidFill>
                <a:latin typeface="Arial"/>
              </a:rPr>
              <a:t>Z-scores standardise distance from the mean, and |z| &gt; 3 is the conventional outlier flag.</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Inferential stats</a:t>
            </a:r>
          </a:p>
          <a:p>
            <a:pPr algn="l">
              <a:spcAft>
                <a:spcPts val="300"/>
              </a:spcAft>
            </a:pPr>
            <a:r>
              <a:rPr sz="1000" b="0">
                <a:solidFill>
                  <a:srgbClr val="5B6372"/>
                </a:solidFill>
                <a:latin typeface="Arial"/>
              </a:rPr>
              <a:t>Inferential statistics generalise from a sample: t-tests, chi-square, correlation and regression.</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Hypothesis testing</a:t>
            </a:r>
          </a:p>
          <a:p>
            <a:pPr algn="l">
              <a:spcAft>
                <a:spcPts val="300"/>
              </a:spcAft>
            </a:pPr>
            <a:r>
              <a:rPr sz="1000" b="0">
                <a:solidFill>
                  <a:srgbClr val="5B6372"/>
                </a:solidFill>
                <a:latin typeface="Arial"/>
              </a:rPr>
              <a:t>State H0 and H1 before you test; p &lt; 0.05 rejects the null; Type I is a false alarm, Type II a missed effect.</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Correlation</a:t>
            </a:r>
          </a:p>
          <a:p>
            <a:pPr algn="l">
              <a:spcAft>
                <a:spcPts val="300"/>
              </a:spcAft>
            </a:pPr>
            <a:r>
              <a:rPr sz="1000" b="0">
                <a:solidFill>
                  <a:srgbClr val="5B6372"/>
                </a:solidFill>
                <a:latin typeface="Arial"/>
              </a:rPr>
              <a:t>Correlation measures a pattern; causation requires a mechanism, time ordering and controlled confounders.</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Audience</a:t>
            </a:r>
          </a:p>
          <a:p>
            <a:pPr algn="l">
              <a:spcAft>
                <a:spcPts val="300"/>
              </a:spcAft>
            </a:pPr>
            <a:r>
              <a:rPr sz="1000" b="0">
                <a:solidFill>
                  <a:srgbClr val="5B6372"/>
                </a:solidFill>
                <a:latin typeface="Arial"/>
              </a:rPr>
              <a:t>Match the delivery to the audience — executives get the decision, technical experts get the method.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04  ·  20%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Visualization and Reporting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Chart selection · maps · tables · design elements · dashboards · report types · validation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med" advClick="1">
    <p:push dir="l"/>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DOMAIN COVERS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4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The question picks the chart</a:t>
            </a:r>
          </a:p>
          <a:p>
            <a:pPr algn="l">
              <a:spcAft>
                <a:spcPts val="300"/>
              </a:spcAft>
            </a:pPr>
            <a:r>
              <a:rPr sz="1000" b="0">
                <a:solidFill>
                  <a:srgbClr val="5B6372"/>
                </a:solidFill>
                <a:latin typeface="Arial"/>
              </a:rPr>
              <a:t>Chart choice follows the question: composition, comparison, distribution, relationship or trend over time.</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Time, category, distribution</a:t>
            </a:r>
          </a:p>
          <a:p>
            <a:pPr algn="l">
              <a:spcAft>
                <a:spcPts val="300"/>
              </a:spcAft>
            </a:pPr>
            <a:r>
              <a:rPr sz="1000" b="0">
                <a:solidFill>
                  <a:srgbClr val="5B6372"/>
                </a:solidFill>
                <a:latin typeface="Arial"/>
              </a:rPr>
              <a:t>Line charts carry time series, bar/column charts compare categories, histograms show distribution, scatter plots show relationship.</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Composition and hierarchy</a:t>
            </a:r>
          </a:p>
          <a:p>
            <a:pPr algn="l">
              <a:spcAft>
                <a:spcPts val="300"/>
              </a:spcAft>
            </a:pPr>
            <a:r>
              <a:rPr sz="1000" b="0">
                <a:solidFill>
                  <a:srgbClr val="5B6372"/>
                </a:solidFill>
                <a:latin typeface="Arial"/>
              </a:rPr>
              <a:t>Pie charts suit a few broad parts of a whole; treemaps suit hierarchical subcategories; heat maps encode magnitude in colour.</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Geographic data</a:t>
            </a:r>
          </a:p>
          <a:p>
            <a:pPr algn="l">
              <a:spcAft>
                <a:spcPts val="300"/>
              </a:spcAft>
            </a:pPr>
            <a:r>
              <a:rPr sz="1000" b="0">
                <a:solidFill>
                  <a:srgbClr val="5B6372"/>
                </a:solidFill>
                <a:latin typeface="Arial"/>
              </a:rPr>
              <a:t>Geographic data is shown as dot, filled (choropleth) or layered maps; ArcGIS, Power BI and Tableau all render them.</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Dashboards stay focused</a:t>
            </a:r>
          </a:p>
          <a:p>
            <a:pPr algn="l">
              <a:spcAft>
                <a:spcPts val="300"/>
              </a:spcAft>
            </a:pPr>
            <a:r>
              <a:rPr sz="1000" b="0">
                <a:solidFill>
                  <a:srgbClr val="5B6372"/>
                </a:solidFill>
                <a:latin typeface="Arial"/>
              </a:rPr>
              <a:t>A dashboard tracks a small set of decisions — filters, drillthrough and tooltips keep it simple rather than exhaustive.</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Report types</a:t>
            </a:r>
          </a:p>
          <a:p>
            <a:pPr algn="l">
              <a:spcAft>
                <a:spcPts val="300"/>
              </a:spcAft>
            </a:pPr>
            <a:r>
              <a:rPr sz="1000" b="0">
                <a:solidFill>
                  <a:srgbClr val="5B6372"/>
                </a:solidFill>
                <a:latin typeface="Arial"/>
              </a:rPr>
              <a:t>Reports are static, dynamic, real-time, operational, compliance, ad hoc or self-service — the type follows the audience and cadence.</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Validating accuracy</a:t>
            </a:r>
          </a:p>
          <a:p>
            <a:pPr algn="l">
              <a:spcAft>
                <a:spcPts val="300"/>
              </a:spcAft>
            </a:pPr>
            <a:r>
              <a:rPr sz="1000" b="0">
                <a:solidFill>
                  <a:srgbClr val="5B6372"/>
                </a:solidFill>
                <a:latin typeface="Arial"/>
              </a:rPr>
              <a:t>Reporting accuracy is validated by cross-validation, peer review, record-count checks, recalculation and data audits.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USING THE APPROPRIATE VISUALIZATION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question determines the chart. Not your preference.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Composition, comparison, distribution, relationship or trend — every business question falls into one of these five shapes, and each shape has a chart that fits it. Choose the chart last, after you know the question.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CHART SELECTION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Which Chart Answers Which Question?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The question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The chart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Why</a:t>
            </a:r>
          </a:p>
        </p:txBody>
      </p:sp>
      <p:sp>
        <p:nvSpPr>
          <p:cNvPr id="13" name="Rectangle 12"/>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How is it trending over time?</a:t>
            </a:r>
          </a:p>
        </p:txBody>
      </p:sp>
      <p:sp>
        <p:nvSpPr>
          <p:cNvPr id="15" name="Rectangle 14"/>
          <p:cNvSpPr/>
          <p:nvPr/>
        </p:nvSpPr>
        <p:spPr>
          <a:xfrm>
            <a:off x="3542202"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Line chart</a:t>
            </a:r>
          </a:p>
        </p:txBody>
      </p:sp>
      <p:sp>
        <p:nvSpPr>
          <p:cNvPr id="17" name="Rectangle 16"/>
          <p:cNvSpPr/>
          <p:nvPr/>
        </p:nvSpPr>
        <p:spPr>
          <a:xfrm>
            <a:off x="7476957"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A continuous line reads as a sequence</a:t>
            </a:r>
          </a:p>
        </p:txBody>
      </p:sp>
      <p:sp>
        <p:nvSpPr>
          <p:cNvPr id="19" name="Rectangle 18"/>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Which category is biggest?</a:t>
            </a:r>
          </a:p>
        </p:txBody>
      </p:sp>
      <p:sp>
        <p:nvSpPr>
          <p:cNvPr id="21" name="Rectangle 20"/>
          <p:cNvSpPr/>
          <p:nvPr/>
        </p:nvSpPr>
        <p:spPr>
          <a:xfrm>
            <a:off x="3542202"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Bar / column chart</a:t>
            </a:r>
          </a:p>
        </p:txBody>
      </p:sp>
      <p:sp>
        <p:nvSpPr>
          <p:cNvPr id="23" name="Rectangle 22"/>
          <p:cNvSpPr/>
          <p:nvPr/>
        </p:nvSpPr>
        <p:spPr>
          <a:xfrm>
            <a:off x="7476957"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Length is the easiest visual comparison</a:t>
            </a:r>
          </a:p>
        </p:txBody>
      </p:sp>
      <p:sp>
        <p:nvSpPr>
          <p:cNvPr id="25" name="Rectangle 24"/>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What share of the whole?</a:t>
            </a:r>
          </a:p>
        </p:txBody>
      </p:sp>
      <p:sp>
        <p:nvSpPr>
          <p:cNvPr id="27" name="Rectangle 26"/>
          <p:cNvSpPr/>
          <p:nvPr/>
        </p:nvSpPr>
        <p:spPr>
          <a:xfrm>
            <a:off x="3542202"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Pie chart (few slices)</a:t>
            </a:r>
          </a:p>
        </p:txBody>
      </p:sp>
      <p:sp>
        <p:nvSpPr>
          <p:cNvPr id="29" name="Rectangle 28"/>
          <p:cNvSpPr/>
          <p:nvPr/>
        </p:nvSpPr>
        <p:spPr>
          <a:xfrm>
            <a:off x="7476957"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Angle shows parts of one whole</a:t>
            </a:r>
          </a:p>
        </p:txBody>
      </p:sp>
      <p:sp>
        <p:nvSpPr>
          <p:cNvPr id="31" name="Rectangle 30"/>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How is one variable spread?</a:t>
            </a:r>
          </a:p>
        </p:txBody>
      </p:sp>
      <p:sp>
        <p:nvSpPr>
          <p:cNvPr id="33" name="Rectangle 32"/>
          <p:cNvSpPr/>
          <p:nvPr/>
        </p:nvSpPr>
        <p:spPr>
          <a:xfrm>
            <a:off x="3542202"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Histogram</a:t>
            </a:r>
          </a:p>
        </p:txBody>
      </p:sp>
      <p:sp>
        <p:nvSpPr>
          <p:cNvPr id="35" name="Rectangle 34"/>
          <p:cNvSpPr/>
          <p:nvPr/>
        </p:nvSpPr>
        <p:spPr>
          <a:xfrm>
            <a:off x="7476957"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Bins reveal the shape of a distribution</a:t>
            </a:r>
          </a:p>
        </p:txBody>
      </p:sp>
      <p:sp>
        <p:nvSpPr>
          <p:cNvPr id="37" name="Rectangle 3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Do two variables relate?</a:t>
            </a:r>
          </a:p>
        </p:txBody>
      </p:sp>
      <p:sp>
        <p:nvSpPr>
          <p:cNvPr id="39" name="Rectangle 38"/>
          <p:cNvSpPr/>
          <p:nvPr/>
        </p:nvSpPr>
        <p:spPr>
          <a:xfrm>
            <a:off x="3542202"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Scatter plot</a:t>
            </a:r>
          </a:p>
        </p:txBody>
      </p:sp>
      <p:sp>
        <p:nvSpPr>
          <p:cNvPr id="41" name="Rectangle 40"/>
          <p:cNvSpPr/>
          <p:nvPr/>
        </p:nvSpPr>
        <p:spPr>
          <a:xfrm>
            <a:off x="7476957"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Position on two axes exposes a pattern</a:t>
            </a:r>
          </a:p>
        </p:txBody>
      </p:sp>
      <p:sp>
        <p:nvSpPr>
          <p:cNvPr id="43" name="Rectangle 42"/>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Where is it happening?</a:t>
            </a:r>
          </a:p>
        </p:txBody>
      </p:sp>
      <p:sp>
        <p:nvSpPr>
          <p:cNvPr id="45" name="Rectangle 44"/>
          <p:cNvSpPr/>
          <p:nvPr/>
        </p:nvSpPr>
        <p:spPr>
          <a:xfrm>
            <a:off x="3542202"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Map (dot / filled / layered)</a:t>
            </a:r>
          </a:p>
        </p:txBody>
      </p:sp>
      <p:sp>
        <p:nvSpPr>
          <p:cNvPr id="47" name="Rectangle 46"/>
          <p:cNvSpPr/>
          <p:nvPr/>
        </p:nvSpPr>
        <p:spPr>
          <a:xfrm>
            <a:off x="7476957"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Geography is its own dimension</a:t>
            </a:r>
          </a:p>
        </p:txBody>
      </p:sp>
      <p:sp>
        <p:nvSpPr>
          <p:cNvPr id="49" name="Rectangle 48"/>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How does a total build up?</a:t>
            </a:r>
          </a:p>
        </p:txBody>
      </p:sp>
      <p:sp>
        <p:nvSpPr>
          <p:cNvPr id="51" name="Rectangle 50"/>
          <p:cNvSpPr/>
          <p:nvPr/>
        </p:nvSpPr>
        <p:spPr>
          <a:xfrm>
            <a:off x="3542202"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Waterfall chart</a:t>
            </a:r>
          </a:p>
        </p:txBody>
      </p:sp>
      <p:sp>
        <p:nvSpPr>
          <p:cNvPr id="53" name="Rectangle 52"/>
          <p:cNvSpPr/>
          <p:nvPr/>
        </p:nvSpPr>
        <p:spPr>
          <a:xfrm>
            <a:off x="7476957"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Shows each contribution to a change</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Get this wrong and the visual actively misleads — in Lab 11 you build a deliberately wrong chart to see it happen.</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VISUALIZATION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Specialist Chart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Tree map</a:t>
            </a:r>
          </a:p>
          <a:p>
            <a:pPr algn="l">
              <a:spcAft>
                <a:spcPts val="300"/>
              </a:spcAft>
            </a:pPr>
            <a:r>
              <a:rPr sz="1200" b="0">
                <a:solidFill>
                  <a:srgbClr val="5B6372"/>
                </a:solidFill>
                <a:latin typeface="Arial"/>
              </a:rPr>
              <a:t>Hierarchical data as nested rectangles sized by value. Label only the large categories.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Heat map</a:t>
            </a:r>
          </a:p>
          <a:p>
            <a:pPr algn="l">
              <a:spcAft>
                <a:spcPts val="300"/>
              </a:spcAft>
            </a:pPr>
            <a:r>
              <a:rPr sz="1200" b="0">
                <a:solidFill>
                  <a:srgbClr val="5B6372"/>
                </a:solidFill>
                <a:latin typeface="Arial"/>
              </a:rPr>
              <a:t>Colour encodes magnitude across two dimensions — excellent for spotting concentration.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Bubble chart</a:t>
            </a:r>
          </a:p>
          <a:p>
            <a:pPr algn="l">
              <a:spcAft>
                <a:spcPts val="300"/>
              </a:spcAft>
            </a:pPr>
            <a:r>
              <a:rPr sz="1200" b="0">
                <a:solidFill>
                  <a:srgbClr val="5B6372"/>
                </a:solidFill>
                <a:latin typeface="Arial"/>
              </a:rPr>
              <a:t>A scatter plot with a third variable encoded as the size of the 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Combination chart</a:t>
            </a:r>
          </a:p>
          <a:p>
            <a:pPr algn="l">
              <a:spcAft>
                <a:spcPts val="300"/>
              </a:spcAft>
            </a:pPr>
            <a:r>
              <a:rPr sz="1200" b="0">
                <a:solidFill>
                  <a:srgbClr val="5B6372"/>
                </a:solidFill>
                <a:latin typeface="Arial"/>
              </a:rPr>
              <a:t>Two chart types on shared axes — e.g. revenue columns with a margin-percentage line.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Word cloud</a:t>
            </a:r>
          </a:p>
          <a:p>
            <a:pPr algn="l">
              <a:spcAft>
                <a:spcPts val="300"/>
              </a:spcAft>
            </a:pPr>
            <a:r>
              <a:rPr sz="1200" b="0">
                <a:solidFill>
                  <a:srgbClr val="5B6372"/>
                </a:solidFill>
                <a:latin typeface="Arial"/>
              </a:rPr>
              <a:t>Word frequency as text size. Eye-catching, but imprecise — never use it for a real measurement.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Infographic</a:t>
            </a:r>
          </a:p>
          <a:p>
            <a:pPr algn="l">
              <a:spcAft>
                <a:spcPts val="300"/>
              </a:spcAft>
            </a:pPr>
            <a:r>
              <a:rPr sz="1200" b="0">
                <a:solidFill>
                  <a:srgbClr val="5B6372"/>
                </a:solidFill>
                <a:latin typeface="Arial"/>
              </a:rPr>
              <a:t>A designed narrative combining data and graphics. Built for marketing, not for analysis.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MAPS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Geographic Visualisation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Dot map</a:t>
            </a:r>
          </a:p>
          <a:p>
            <a:pPr algn="l">
              <a:spcAft>
                <a:spcPts val="300"/>
              </a:spcAft>
            </a:pPr>
            <a:r>
              <a:rPr sz="1300" b="0">
                <a:solidFill>
                  <a:srgbClr val="5B6372"/>
                </a:solidFill>
                <a:latin typeface="Arial"/>
              </a:rPr>
              <a:t>Markers placed at specific coordinates — each dot is one event or location.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Filled (choropleth) map</a:t>
            </a:r>
          </a:p>
          <a:p>
            <a:pPr algn="l">
              <a:spcAft>
                <a:spcPts val="300"/>
              </a:spcAft>
            </a:pPr>
            <a:r>
              <a:rPr sz="1300" b="0">
                <a:solidFill>
                  <a:srgbClr val="5B6372"/>
                </a:solidFill>
                <a:latin typeface="Arial"/>
              </a:rPr>
              <a:t>Shading fills a bounded region by value. Beware: large regions look more important than they are.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Layered map</a:t>
            </a:r>
          </a:p>
          <a:p>
            <a:pPr algn="l">
              <a:spcAft>
                <a:spcPts val="300"/>
              </a:spcAft>
            </a:pPr>
            <a:r>
              <a:rPr sz="1300" b="0">
                <a:solidFill>
                  <a:srgbClr val="5B6372"/>
                </a:solidFill>
                <a:latin typeface="Arial"/>
              </a:rPr>
              <a:t>Two dimensions at once — e.g. shaded regions for revenue, sized dots for store count.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Tools</a:t>
            </a:r>
          </a:p>
          <a:p>
            <a:pPr algn="l">
              <a:spcAft>
                <a:spcPts val="300"/>
              </a:spcAft>
            </a:pPr>
            <a:r>
              <a:rPr sz="1300" b="0">
                <a:solidFill>
                  <a:srgbClr val="5B6372"/>
                </a:solidFill>
                <a:latin typeface="Arial"/>
              </a:rPr>
              <a:t>ArcGIS for serious geospatial work; Power BI and Tableau both render maps directly from postal or lat/long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EXPRESSING BUSINESS REQUIREMENTS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Requirement to Delivered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Define the audience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Who decides what?</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Agree the questions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What must it answer?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Document the sources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Where does data come from?</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Build and validate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Draw it, then check it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Deliver on cadence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Who gets it, how often?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DISTRIBUTION LIST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Agree who receives the report BEFORE you build it — the audience determines the level of detail and what may legally be shared.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DOCUMENTATION ELEMENTS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Report and Dashboard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Report header</a:t>
            </a:r>
          </a:p>
          <a:p>
            <a:pPr algn="l">
              <a:spcAft>
                <a:spcPts val="300"/>
              </a:spcAft>
            </a:pPr>
            <a:r>
              <a:rPr sz="1100" b="0">
                <a:solidFill>
                  <a:srgbClr val="5B6372"/>
                </a:solidFill>
                <a:latin typeface="Arial"/>
              </a:rPr>
              <a:t>First page only — the title, the version number and the reporting period.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Page header / footer</a:t>
            </a:r>
          </a:p>
          <a:p>
            <a:pPr algn="l">
              <a:spcAft>
                <a:spcPts val="300"/>
              </a:spcAft>
            </a:pPr>
            <a:r>
              <a:rPr sz="1100" b="0">
                <a:solidFill>
                  <a:srgbClr val="5B6372"/>
                </a:solidFill>
                <a:latin typeface="Arial"/>
              </a:rPr>
              <a:t>Repeat on every page — field headings at the top, page numbers and references at the bottom.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Report footer</a:t>
            </a:r>
          </a:p>
          <a:p>
            <a:pPr algn="l">
              <a:spcAft>
                <a:spcPts val="300"/>
              </a:spcAft>
            </a:pPr>
            <a:r>
              <a:rPr sz="1100" b="0">
                <a:solidFill>
                  <a:srgbClr val="5B6372"/>
                </a:solidFill>
                <a:latin typeface="Arial"/>
              </a:rPr>
              <a:t>Last page only — summary information and credit to the authors.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Watermark</a:t>
            </a:r>
          </a:p>
          <a:p>
            <a:pPr algn="l">
              <a:spcAft>
                <a:spcPts val="300"/>
              </a:spcAft>
            </a:pPr>
            <a:r>
              <a:rPr sz="1100" b="0">
                <a:solidFill>
                  <a:srgbClr val="5B6372"/>
                </a:solidFill>
                <a:latin typeface="Arial"/>
              </a:rPr>
              <a:t>Signals handling restrictions: DRAFT, CONFIDENTIAL, INTERNAL USE ONLY.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Refresh date</a:t>
            </a:r>
          </a:p>
          <a:p>
            <a:pPr algn="l">
              <a:spcAft>
                <a:spcPts val="300"/>
              </a:spcAft>
            </a:pPr>
            <a:r>
              <a:rPr sz="1100" b="0">
                <a:solidFill>
                  <a:srgbClr val="5B6372"/>
                </a:solidFill>
                <a:latin typeface="Arial"/>
              </a:rPr>
              <a:t>When the DATA was last updated — the single most-forgotten and most-important element.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Print date</a:t>
            </a:r>
          </a:p>
          <a:p>
            <a:pPr algn="l">
              <a:spcAft>
                <a:spcPts val="300"/>
              </a:spcAft>
            </a:pPr>
            <a:r>
              <a:rPr sz="1100" b="0">
                <a:solidFill>
                  <a:srgbClr val="5B6372"/>
                </a:solidFill>
                <a:latin typeface="Arial"/>
              </a:rPr>
              <a:t>When this copy was produced. Different from the refresh date, and both matter in an audit.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DISTINGUISHING REPORT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Report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Static / point-in-time</a:t>
            </a:r>
          </a:p>
          <a:p>
            <a:pPr algn="l">
              <a:spcAft>
                <a:spcPts val="300"/>
              </a:spcAft>
            </a:pPr>
            <a:r>
              <a:rPr sz="1100" b="0">
                <a:solidFill>
                  <a:srgbClr val="5B6372"/>
                </a:solidFill>
                <a:latin typeface="Arial"/>
              </a:rPr>
              <a:t>A fixed snapshot that does not update. The record of what was true at that moment.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Dynamic / real-time</a:t>
            </a:r>
          </a:p>
          <a:p>
            <a:pPr algn="l">
              <a:spcAft>
                <a:spcPts val="300"/>
              </a:spcAft>
            </a:pPr>
            <a:r>
              <a:rPr sz="1100" b="0">
                <a:solidFill>
                  <a:srgbClr val="5B6372"/>
                </a:solidFill>
                <a:latin typeface="Arial"/>
              </a:rPr>
              <a:t>Refreshes on access or on a schedule — always shows the current state.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Operational</a:t>
            </a:r>
          </a:p>
          <a:p>
            <a:pPr algn="l">
              <a:spcAft>
                <a:spcPts val="300"/>
              </a:spcAft>
            </a:pPr>
            <a:r>
              <a:rPr sz="1100" b="0">
                <a:solidFill>
                  <a:srgbClr val="5B6372"/>
                </a:solidFill>
                <a:latin typeface="Arial"/>
              </a:rPr>
              <a:t>The status of projects, products or processes, usually daily and detailed.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Compliance</a:t>
            </a:r>
          </a:p>
          <a:p>
            <a:pPr algn="l">
              <a:spcAft>
                <a:spcPts val="300"/>
              </a:spcAft>
            </a:pPr>
            <a:r>
              <a:rPr sz="1100" b="0">
                <a:solidFill>
                  <a:srgbClr val="5B6372"/>
                </a:solidFill>
                <a:latin typeface="Arial"/>
              </a:rPr>
              <a:t>Produced to satisfy a regulator. The format and cadence are usually prescribed for you.</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 hoc</a:t>
            </a:r>
          </a:p>
          <a:p>
            <a:pPr algn="l">
              <a:spcAft>
                <a:spcPts val="300"/>
              </a:spcAft>
            </a:pPr>
            <a:r>
              <a:rPr sz="1100" b="0">
                <a:solidFill>
                  <a:srgbClr val="5B6372"/>
                </a:solidFill>
                <a:latin typeface="Arial"/>
              </a:rPr>
              <a:t>Generated once to answer a specific one-off question.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Self-service</a:t>
            </a:r>
          </a:p>
          <a:p>
            <a:pPr algn="l">
              <a:spcAft>
                <a:spcPts val="300"/>
              </a:spcAft>
            </a:pPr>
            <a:r>
              <a:rPr sz="1100" b="0">
                <a:solidFill>
                  <a:srgbClr val="5B6372"/>
                </a:solidFill>
                <a:latin typeface="Arial"/>
              </a:rPr>
              <a:t>The platform lets end users build their own — which shifts governance onto the data model.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DESIGNING DASHBOARDS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Dashboard Design Principles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One purpose</a:t>
            </a:r>
          </a:p>
          <a:p>
            <a:pPr algn="l">
              <a:spcAft>
                <a:spcPts val="300"/>
              </a:spcAft>
            </a:pPr>
            <a:r>
              <a:rPr sz="1100" b="0">
                <a:solidFill>
                  <a:srgbClr val="5B6372"/>
                </a:solidFill>
                <a:latin typeface="Arial"/>
              </a:rPr>
              <a:t>A dashboard tracks a small set of decisions. If it answers everything, it answers nothing.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Consistent colour</a:t>
            </a:r>
          </a:p>
          <a:p>
            <a:pPr algn="l">
              <a:spcAft>
                <a:spcPts val="300"/>
              </a:spcAft>
            </a:pPr>
            <a:r>
              <a:rPr sz="1100" b="0">
                <a:solidFill>
                  <a:srgbClr val="5B6372"/>
                </a:solidFill>
                <a:latin typeface="Arial"/>
              </a:rPr>
              <a:t>Never pick colours at random. One meaning per colour, applied identically on every panel.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Filters and sorting</a:t>
            </a:r>
          </a:p>
          <a:p>
            <a:pPr algn="l">
              <a:spcAft>
                <a:spcPts val="300"/>
              </a:spcAft>
            </a:pPr>
            <a:r>
              <a:rPr sz="1100" b="0">
                <a:solidFill>
                  <a:srgbClr val="5B6372"/>
                </a:solidFill>
                <a:latin typeface="Arial"/>
              </a:rPr>
              <a:t>Hardcoded, interactive, visual and date filters; natural order, multi-sort, top/bottom-N and custom sorts.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Drillthrough &amp; tooltips</a:t>
            </a:r>
          </a:p>
          <a:p>
            <a:pPr algn="l">
              <a:spcAft>
                <a:spcPts val="300"/>
              </a:spcAft>
            </a:pPr>
            <a:r>
              <a:rPr sz="1100" b="0">
                <a:solidFill>
                  <a:srgbClr val="5B6372"/>
                </a:solidFill>
                <a:latin typeface="Arial"/>
              </a:rPr>
              <a:t>Keep the surface simple, and let the detail live one click away.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Labels and legends</a:t>
            </a:r>
          </a:p>
          <a:p>
            <a:pPr algn="l">
              <a:spcAft>
                <a:spcPts val="300"/>
              </a:spcAft>
            </a:pPr>
            <a:r>
              <a:rPr sz="1100" b="0">
                <a:solidFill>
                  <a:srgbClr val="5B6372"/>
                </a:solidFill>
                <a:latin typeface="Arial"/>
              </a:rPr>
              <a:t>Every axis labelled, every unit stated. An unlabelled number is not a finding.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Test before deploy</a:t>
            </a:r>
          </a:p>
          <a:p>
            <a:pPr algn="l">
              <a:spcAft>
                <a:spcPts val="300"/>
              </a:spcAft>
            </a:pPr>
            <a:r>
              <a:rPr sz="1100" b="0">
                <a:solidFill>
                  <a:srgbClr val="5B6372"/>
                </a:solidFill>
                <a:latin typeface="Arial"/>
              </a:rPr>
              <a:t>Check the labels, test the filters, confirm permissions and licensing, then document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VALIDATE REPORTING ACCURACY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Validating Reporting Accuracy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Record count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Does it cover every row?</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Recalculate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Get the total a second way</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Cross-validate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Check another source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Peer review</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 second analyst checks it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Data audit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Verify the whole chain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TEST OF A GOOD PROCESS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validation process that has never caught an error has not been proven. In Lab 12 you plant an error deliberately to prove yours works.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QUALITY CHECKS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Validation vs Data Verification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Validation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Verification</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Checks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FORMAT and STRUCTURE of the data</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ACCURACY of the data</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Question asked</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Is it the right shape and type?</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Is it actually true and correct?</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date field contains a parseable date</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date matches the source system's record</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When it runs</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 entry and on import — often automated</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 review — record counts, recalculation, peer review</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Catches</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Wrong types, invalid values, missing fields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Wrong joins, wrong formulas, transposed figures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Both are required. Data can be perfectly valid in format and still be completely wrong in fact.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11 — Choose the Right Chart: Five Questions, Five Chart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Create effective visuals: use charts, maps, tables and design elements (Domain 4); LO4 / K3 / A5.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Chart choice is not decoration — it is determined by the question being asked. You take ONE dataset and answer five different business questions from it, each demanding a different chart type, then build a deliberately wrong chart so you can articulate exactly why it misleads.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Five correctly chosen charts (line, bar, pie, histogram, scatter) as PNG files, plus one annotated 'wrong chart' example.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matplotlib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Six PNG files exist, built from 24 rows covering 6 months × 4 regions. Each of the five correct charts answers its stated question, and your critique of the wrong chart explains that a pie destroys the sequence and makes a trend impossible to read.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9</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Q2 'Which region sells most?' → BAR CHART, b</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9</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Q4 'How are order sizes distributed?' → HIST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9</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Now build the WRONG chart on purpose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9</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Write the critique of 06_wrong</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9 of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Five correctly chosen charts (line, bar, pie, histogram, scatter) as PNG files, plus one annotated 'wrong chart' example.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11 — Choose the Right Chart: Five Questions, Five Chart Types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~/dataplus/lab11 &amp;&amp; cd ~/dataplus/lab11;</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D=lab-11-choose-the-right-chart-five-questions-five-chart-typ;</a:t>
            </a:r>
          </a:p>
          <a:p>
            <a:pPr algn="l">
              <a:spcAft>
                <a:spcPts val="0"/>
              </a:spcAft>
            </a:pPr>
            <a:r>
              <a:rPr sz="640" b="0">
                <a:solidFill>
                  <a:srgbClr val="9CDCFE"/>
                </a:solidFill>
                <a:latin typeface="Consolas"/>
              </a:rPr>
              <a:t>   for f in sales.csv;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Q1 'How is revenue trending?' → LINE CHART, because the x-axis is time.</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pd,matplotlib;matplotlib.use('Agg');import matplotlib.pyplot as</a:t>
            </a:r>
          </a:p>
          <a:p>
            <a:pPr algn="l">
              <a:spcAft>
                <a:spcPts val="0"/>
              </a:spcAft>
            </a:pPr>
            <a:r>
              <a:rPr sz="640" b="0">
                <a:solidFill>
                  <a:srgbClr val="9CDCFE"/>
                </a:solidFill>
                <a:latin typeface="Consolas"/>
              </a:rPr>
              <a:t>   plt;d=pd.read_csv('sales.csv');p=d.pivot_table(index='month',columns='region',values='revenue')</a:t>
            </a:r>
          </a:p>
          <a:p>
            <a:pPr algn="l">
              <a:spcAft>
                <a:spcPts val="0"/>
              </a:spcAft>
            </a:pPr>
            <a:r>
              <a:rPr sz="640" b="0">
                <a:solidFill>
                  <a:srgbClr val="9CDCFE"/>
                </a:solidFill>
                <a:latin typeface="Consolas"/>
              </a:rPr>
              <a:t>   .reindex(['Jan','Feb','Mar']);p.plot(marker='o');plt.title('Revenue Trend by Region');plt.ylabel('Revenue (SGD</a:t>
            </a:r>
          </a:p>
          <a:p>
            <a:pPr algn="l">
              <a:spcAft>
                <a:spcPts val="0"/>
              </a:spcAft>
            </a:pPr>
            <a:r>
              <a:rPr sz="640" b="0">
                <a:solidFill>
                  <a:srgbClr val="9CDCFE"/>
                </a:solidFill>
                <a:latin typeface="Consolas"/>
              </a:rPr>
              <a:t>   k)');plt.tight_layout();plt.savefig('01_line.png',dpi=120)"</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Q2 'Which region sells most?' → BAR CHART, because you are comparing categories.</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pd,matplotlib;matplotlib.use('Agg');import matplotlib.pyplot as</a:t>
            </a:r>
          </a:p>
          <a:p>
            <a:pPr algn="l">
              <a:spcAft>
                <a:spcPts val="0"/>
              </a:spcAft>
            </a:pPr>
            <a:r>
              <a:rPr sz="640" b="0">
                <a:solidFill>
                  <a:srgbClr val="9CDCFE"/>
                </a:solidFill>
                <a:latin typeface="Consolas"/>
              </a:rPr>
              <a:t>   plt;d=pd.read_csv('sales.csv');d.groupby('region').revenue.sum().sort_values().plot(kind='barh',</a:t>
            </a:r>
          </a:p>
          <a:p>
            <a:pPr algn="l">
              <a:spcAft>
                <a:spcPts val="0"/>
              </a:spcAft>
            </a:pPr>
            <a:r>
              <a:rPr sz="640" b="0">
                <a:solidFill>
                  <a:srgbClr val="9CDCFE"/>
                </a:solidFill>
                <a:latin typeface="Consolas"/>
              </a:rPr>
              <a:t>   color='#1F6FEB');plt.title('Total Revenue by Region');plt.xlabel('Revenue (SGD</a:t>
            </a:r>
          </a:p>
          <a:p>
            <a:pPr algn="l">
              <a:spcAft>
                <a:spcPts val="0"/>
              </a:spcAft>
            </a:pPr>
            <a:r>
              <a:rPr sz="640" b="0">
                <a:solidFill>
                  <a:srgbClr val="9CDCFE"/>
                </a:solidFill>
                <a:latin typeface="Consolas"/>
              </a:rPr>
              <a:t>   k)');plt.tight_layout();plt.savefig('02_bar.png',dpi=120)"</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11 — Choose the Right Chart: Five Questions, Five Chart Types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Q3 'What share does each region hold?' → PIE CHART, because it is parts of one whole (and only 3 slices).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pd,matplotlib;matplotlib.use('Agg');import matplotlib.pyplot as</a:t>
            </a:r>
          </a:p>
          <a:p>
            <a:pPr algn="l">
              <a:spcAft>
                <a:spcPts val="0"/>
              </a:spcAft>
            </a:pPr>
            <a:r>
              <a:rPr sz="640" b="0">
                <a:solidFill>
                  <a:srgbClr val="9CDCFE"/>
                </a:solidFill>
                <a:latin typeface="Consolas"/>
              </a:rPr>
              <a:t>   plt;d=pd.read_csv('sales.csv');d.groupby('region').revenue.sum().plot(kind='pie',autopct='%1.1f%%',</a:t>
            </a:r>
          </a:p>
          <a:p>
            <a:pPr algn="l">
              <a:spcAft>
                <a:spcPts val="0"/>
              </a:spcAft>
            </a:pPr>
            <a:r>
              <a:rPr sz="640" b="0">
                <a:solidFill>
                  <a:srgbClr val="9CDCFE"/>
                </a:solidFill>
                <a:latin typeface="Consolas"/>
              </a:rPr>
              <a:t>   colors=['#1F6FEB','#10B981','#7C3AED']);plt.title('Revenue Share by</a:t>
            </a:r>
          </a:p>
          <a:p>
            <a:pPr algn="l">
              <a:spcAft>
                <a:spcPts val="0"/>
              </a:spcAft>
            </a:pPr>
            <a:r>
              <a:rPr sz="640" b="0">
                <a:solidFill>
                  <a:srgbClr val="9CDCFE"/>
                </a:solidFill>
                <a:latin typeface="Consolas"/>
              </a:rPr>
              <a:t>   Region');plt.ylabel('');plt.tight_layout();plt.savefig('03_pie.png',dpi=120)"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Q4 'How are order sizes distributed?' → HISTOGRAM, because you want the shape of one variable.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pd,matplotlib;matplotlib.use('Agg');import matplotlib.pyplot as</a:t>
            </a:r>
          </a:p>
          <a:p>
            <a:pPr algn="l">
              <a:spcAft>
                <a:spcPts val="0"/>
              </a:spcAft>
            </a:pPr>
            <a:r>
              <a:rPr sz="640" b="0">
                <a:solidFill>
                  <a:srgbClr val="9CDCFE"/>
                </a:solidFill>
                <a:latin typeface="Consolas"/>
              </a:rPr>
              <a:t>   plt;d=pd.read_csv('sales.csv');d.orders.plot(kind='hist',bins=5,color='#F59E0B',edgecolor='white');</a:t>
            </a:r>
          </a:p>
          <a:p>
            <a:pPr algn="l">
              <a:spcAft>
                <a:spcPts val="0"/>
              </a:spcAft>
            </a:pPr>
            <a:r>
              <a:rPr sz="640" b="0">
                <a:solidFill>
                  <a:srgbClr val="9CDCFE"/>
                </a:solidFill>
                <a:latin typeface="Consolas"/>
              </a:rPr>
              <a:t>   plt.title('Distribution of Order Counts');plt.xlabel('Orders per</a:t>
            </a:r>
          </a:p>
          <a:p>
            <a:pPr algn="l">
              <a:spcAft>
                <a:spcPts val="0"/>
              </a:spcAft>
            </a:pPr>
            <a:r>
              <a:rPr sz="640" b="0">
                <a:solidFill>
                  <a:srgbClr val="9CDCFE"/>
                </a:solidFill>
                <a:latin typeface="Consolas"/>
              </a:rPr>
              <a:t>   region-month');plt.tight_layout();plt.savefig('04_hist.png',dpi=120)"</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Q5 'Do more orders mean higher revenue?' → SCATTER PLOT, because you are testing a relationship.</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pd,matplotlib;matplotlib.use('Agg');import matplotlib.pyplot as</a:t>
            </a:r>
          </a:p>
          <a:p>
            <a:pPr algn="l">
              <a:spcAft>
                <a:spcPts val="0"/>
              </a:spcAft>
            </a:pPr>
            <a:r>
              <a:rPr sz="640" b="0">
                <a:solidFill>
                  <a:srgbClr val="9CDCFE"/>
                </a:solidFill>
                <a:latin typeface="Consolas"/>
              </a:rPr>
              <a:t>   plt;d=pd.read_csv('sales.csv');plt.scatter(d.orders,d.revenue,c='#7C3AED',s=80);plt.title('Orders vs</a:t>
            </a:r>
          </a:p>
          <a:p>
            <a:pPr algn="l">
              <a:spcAft>
                <a:spcPts val="0"/>
              </a:spcAft>
            </a:pPr>
            <a:r>
              <a:rPr sz="640" b="0">
                <a:solidFill>
                  <a:srgbClr val="9CDCFE"/>
                </a:solidFill>
                <a:latin typeface="Consolas"/>
              </a:rPr>
              <a:t>   Revenue');plt.xlabel('Orders');plt.ylabel('Revenue (SGD</a:t>
            </a:r>
          </a:p>
          <a:p>
            <a:pPr algn="l">
              <a:spcAft>
                <a:spcPts val="0"/>
              </a:spcAft>
            </a:pPr>
            <a:r>
              <a:rPr sz="640" b="0">
                <a:solidFill>
                  <a:srgbClr val="9CDCFE"/>
                </a:solidFill>
                <a:latin typeface="Consolas"/>
              </a:rPr>
              <a:t>   k)');plt.tight_layout();plt.savefig('05_scatter.png',dpi=120)"</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11 — Choose the Right Chart: Five Questions, Five Chart Types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Now build the WRONG chart on purpose — a pie chart of a time series, which destroys the time ordering.</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pd,matplotlib;matplotlib.use('Agg');import matplotlib.pyplot as</a:t>
            </a:r>
          </a:p>
          <a:p>
            <a:pPr algn="l">
              <a:spcAft>
                <a:spcPts val="0"/>
              </a:spcAft>
            </a:pPr>
            <a:r>
              <a:rPr sz="640" b="0">
                <a:solidFill>
                  <a:srgbClr val="9CDCFE"/>
                </a:solidFill>
                <a:latin typeface="Consolas"/>
              </a:rPr>
              <a:t>   plt;d=pd.read_csv('sales.csv');d.groupby('month').revenue.sum().plot(kind='pie',autopct='%1.1f%%');</a:t>
            </a:r>
          </a:p>
          <a:p>
            <a:pPr algn="l">
              <a:spcAft>
                <a:spcPts val="0"/>
              </a:spcAft>
            </a:pPr>
            <a:r>
              <a:rPr sz="640" b="0">
                <a:solidFill>
                  <a:srgbClr val="9CDCFE"/>
                </a:solidFill>
                <a:latin typeface="Consolas"/>
              </a:rPr>
              <a:t>   plt.title('WRONG: revenue by month as a</a:t>
            </a:r>
          </a:p>
          <a:p>
            <a:pPr algn="l">
              <a:spcAft>
                <a:spcPts val="0"/>
              </a:spcAft>
            </a:pPr>
            <a:r>
              <a:rPr sz="640" b="0">
                <a:solidFill>
                  <a:srgbClr val="9CDCFE"/>
                </a:solidFill>
                <a:latin typeface="Consolas"/>
              </a:rPr>
              <a:t>   pie');plt.ylabel('');plt.tight_layout();plt.savefig('06_wrong.png',dpi=120)"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List the generated files and write one line per chart stating the question it answers.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ls -1 *.png</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the critique of 06_wrong.png: what does a pie chart hide that a line chart shows?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11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Six PNG files exist, built from 24 rows covering 6 months × 4 regions. Each of the five correct charts answers its stated question, and your critique of the wrong chart explains that a pie destroys the sequence and makes a trend impossible to read.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display / tkinter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must set matplotlib.use('Agg') BEFORE importing pyplot — headless terminals have no display.</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PNG is blank</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saved after calling plt.show() or a new figure. Call plt.savefig() before any clf/show, and use plt.close() between charts.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11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1-chart-selection.png"/>
          <p:cNvPicPr>
            <a:picLocks noChangeAspect="1"/>
          </p:cNvPicPr>
          <p:nvPr/>
        </p:nvPicPr>
        <p:blipFill>
          <a:blip r:embed="rId2"/>
          <a:stretch>
            <a:fillRect/>
          </a:stretch>
        </p:blipFill>
        <p:spPr>
          <a:xfrm>
            <a:off x="2753045" y="1783080"/>
            <a:ext cx="6682862" cy="3429000"/>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Six PNG files exist, built from 24 rows covering 6 months × 4 regions.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12 — Build a KPI Dashboard and Validate Its Accuracy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Deliver reports: dashboards and summaries; validate reporting accuracy (Domain 4); LO4 / K3 / A5.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assemble a four-panel executive dashboard from the integrated dataset, then run the validation checks the exam requires — record-count reconciliation, recalculation and cross-validation — and deliberately plant one error so you can prove your validation process actually catches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four-panel KPI dashboard PNG plus a signed validation checklist that catches a planted reporting error.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matplotlib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dashboard.png shows four panels built from 24 rows. Total revenue validates at 3021.3 by two independent methods. After the planted error the total jumps to 4456.8 and North reports 276.9% of target — an impossible figure your validation catches immediately. Restoring the value returns the total to 3021.3.</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10</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Build the four-panel dashboard in one script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10</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VALIDATION 3</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10</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Re-run validation 2 and 3 and confirm your c</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10</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Sign off the validation checklist: record co</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10 of 10</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four-panel KPI dashboard PNG plus a signed validation checklist that catches a planted reporting error.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12 — Build a KPI Dashboard and Validate Its Accuracy — Procedure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~/dataplus/lab12 &amp;&amp; cd ~/dataplus/lab12;</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D=lab-12-build-a-kpi-dashboard-and-validate-its-accuracy;</a:t>
            </a:r>
          </a:p>
          <a:p>
            <a:pPr algn="l">
              <a:spcAft>
                <a:spcPts val="0"/>
              </a:spcAft>
            </a:pPr>
            <a:r>
              <a:rPr sz="640" b="0">
                <a:solidFill>
                  <a:srgbClr val="9CDCFE"/>
                </a:solidFill>
                <a:latin typeface="Consolas"/>
              </a:rPr>
              <a:t>   for f in kpi.csv;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headline KPIs first — you must know the true numbers BEFORE you draw anything.</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d=pd.read_csv('kpi.csv');</a:t>
            </a:r>
          </a:p>
          <a:p>
            <a:pPr algn="l">
              <a:spcAft>
                <a:spcPts val="0"/>
              </a:spcAft>
            </a:pPr>
            <a:r>
              <a:rPr sz="640" b="0">
                <a:solidFill>
                  <a:srgbClr val="9CDCFE"/>
                </a:solidFill>
                <a:latin typeface="Consolas"/>
              </a:rPr>
              <a:t>   print('total revenue',d.revenue.sum());</a:t>
            </a:r>
          </a:p>
          <a:p>
            <a:pPr algn="l">
              <a:spcAft>
                <a:spcPts val="0"/>
              </a:spcAft>
            </a:pPr>
            <a:r>
              <a:rPr sz="640" b="0">
                <a:solidFill>
                  <a:srgbClr val="9CDCFE"/>
                </a:solidFill>
                <a:latin typeface="Consolas"/>
              </a:rPr>
              <a:t>   print('total orders',d.orders.sum());</a:t>
            </a:r>
          </a:p>
          <a:p>
            <a:pPr algn="l">
              <a:spcAft>
                <a:spcPts val="0"/>
              </a:spcAft>
            </a:pPr>
            <a:r>
              <a:rPr sz="640" b="0">
                <a:solidFill>
                  <a:srgbClr val="9CDCFE"/>
                </a:solidFill>
                <a:latin typeface="Consolas"/>
              </a:rPr>
              <a:t>   print('avg order value',round(d.revenue.sum()*1000/d.orders.sum(),2));</a:t>
            </a:r>
          </a:p>
          <a:p>
            <a:pPr algn="l">
              <a:spcAft>
                <a:spcPts val="0"/>
              </a:spcAft>
            </a:pPr>
            <a:r>
              <a:rPr sz="640" b="0">
                <a:solidFill>
                  <a:srgbClr val="9CDCFE"/>
                </a:solidFill>
                <a:latin typeface="Consolas"/>
              </a:rPr>
              <a:t>   print('vs target',round(d.revenue.sum()*100/d.target.sum(),1),'%')"</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four-panel dashboard in one script.</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1050" b="0">
                <a:solidFill>
                  <a:srgbClr val="9CDCFE"/>
                </a:solidFill>
                <a:latin typeface="Consolas"/>
              </a:rPr>
              <a:t>$ cat &gt; dashboard.py &lt;&lt;'EOF'   # full script in the Learner Guide / lab README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12 — Build a KPI Dashboard and Validate Its Accuracy — Procedure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VALIDATION 1 — record count. Does the dashboard cover every source row?</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d=pd.read_csv('kpi.csv');</a:t>
            </a:r>
          </a:p>
          <a:p>
            <a:pPr algn="l">
              <a:spcAft>
                <a:spcPts val="0"/>
              </a:spcAft>
            </a:pPr>
            <a:r>
              <a:rPr sz="640" b="0">
                <a:solidFill>
                  <a:srgbClr val="9CDCFE"/>
                </a:solidFill>
                <a:latin typeface="Consolas"/>
              </a:rPr>
              <a:t>   print('source rows',len(d));</a:t>
            </a:r>
          </a:p>
          <a:p>
            <a:pPr algn="l">
              <a:spcAft>
                <a:spcPts val="0"/>
              </a:spcAft>
            </a:pPr>
            <a:r>
              <a:rPr sz="640" b="0">
                <a:solidFill>
                  <a:srgbClr val="9CDCFE"/>
                </a:solidFill>
                <a:latin typeface="Consolas"/>
              </a:rPr>
              <a:t>   print('rows charted',d.groupby(['month','region']).ngroups)"</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VALIDATION 2 — recalculate the headline total a second, independent way.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d=pd.read_csv('kpi.csv');</a:t>
            </a:r>
          </a:p>
          <a:p>
            <a:pPr algn="l">
              <a:spcAft>
                <a:spcPts val="0"/>
              </a:spcAft>
            </a:pPr>
            <a:r>
              <a:rPr sz="640" b="0">
                <a:solidFill>
                  <a:srgbClr val="9CDCFE"/>
                </a:solidFill>
                <a:latin typeface="Consolas"/>
              </a:rPr>
              <a:t>   a=d.revenue.sum();</a:t>
            </a:r>
          </a:p>
          <a:p>
            <a:pPr algn="l">
              <a:spcAft>
                <a:spcPts val="0"/>
              </a:spcAft>
            </a:pPr>
            <a:r>
              <a:rPr sz="640" b="0">
                <a:solidFill>
                  <a:srgbClr val="9CDCFE"/>
                </a:solidFill>
                <a:latin typeface="Consolas"/>
              </a:rPr>
              <a:t>   b=sum(d.groupby('region').revenue.sum());</a:t>
            </a:r>
          </a:p>
          <a:p>
            <a:pPr algn="l">
              <a:spcAft>
                <a:spcPts val="0"/>
              </a:spcAft>
            </a:pPr>
            <a:r>
              <a:rPr sz="640" b="0">
                <a:solidFill>
                  <a:srgbClr val="9CDCFE"/>
                </a:solidFill>
                <a:latin typeface="Consolas"/>
              </a:rPr>
              <a:t>   print('method A',a,'method B',b,'MATCH' if a==b else 'MISMATCH')"</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VALIDATION 3 — cross-validate the % of target figure against a hand calculation.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d=pd.read_csv('kpi.csv');</a:t>
            </a:r>
          </a:p>
          <a:p>
            <a:pPr algn="l">
              <a:spcAft>
                <a:spcPts val="0"/>
              </a:spcAft>
            </a:pPr>
            <a:r>
              <a:rPr sz="640" b="0">
                <a:solidFill>
                  <a:srgbClr val="9CDCFE"/>
                </a:solidFill>
                <a:latin typeface="Consolas"/>
              </a:rPr>
              <a:t>   print('Central', round(d[d.region=='Central'].revenue.sum()/d[d.region=='Central'].target.sum()*100,1),'% expected 102.9')"</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12 — Build a KPI Dashboard and Validate Its Accuracy — Procedure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Now PLANT AN ERROR — corrupt one revenue value and rebuild the dashboard.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sed -i 's/Mar,North,159.5/Mar,North,1595/' kpi.csv &amp;&amp; python3 dashboard.py</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Re-run validation 2 and 3 and confirm your checks CATCH the planted error.</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d=pd.read_csv('kpi.csv');</a:t>
            </a:r>
          </a:p>
          <a:p>
            <a:pPr algn="l">
              <a:spcAft>
                <a:spcPts val="0"/>
              </a:spcAft>
            </a:pPr>
            <a:r>
              <a:rPr sz="640" b="0">
                <a:solidFill>
                  <a:srgbClr val="9CDCFE"/>
                </a:solidFill>
                <a:latin typeface="Consolas"/>
              </a:rPr>
              <a:t>   print('total now',round(d.revenue.sum(),1),'(was 3021.3)');</a:t>
            </a:r>
          </a:p>
          <a:p>
            <a:pPr algn="l">
              <a:spcAft>
                <a:spcPts val="0"/>
              </a:spcAft>
            </a:pPr>
            <a:r>
              <a:rPr sz="640" b="0">
                <a:solidFill>
                  <a:srgbClr val="9CDCFE"/>
                </a:solidFill>
                <a:latin typeface="Consolas"/>
              </a:rPr>
              <a:t>   print('North % of target',round(d[d.region=='North'].revenue.sum()/d[d.region=='North'].target.sum()*100,1),'%')"</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Restore the correct value and confirm the dashboard returns to its validated state.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sed -i 's/Mar,North,1595/Mar,North,159.5/' kpi.csv &amp;&amp; python3 dashboard.py &amp;&amp; python3 -c "import pandas as pd;</a:t>
            </a:r>
          </a:p>
          <a:p>
            <a:pPr algn="l">
              <a:spcAft>
                <a:spcPts val="0"/>
              </a:spcAft>
            </a:pPr>
            <a:r>
              <a:rPr sz="640" b="0">
                <a:solidFill>
                  <a:srgbClr val="9CDCFE"/>
                </a:solidFill>
                <a:latin typeface="Consolas"/>
              </a:rPr>
              <a:t>   print('total',pd.read_csv('kpi.csv').revenue.sum())"</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12 — Build a KPI Dashboard and Validate Its Accuracy — Procedure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Sign off the validation checklist: record count, recalculation, cross-validation, and visual review.</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12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dashboard.png shows four panels built from 24 rows. Total revenue validates at 3021.3 by two independent methods. After the planted error the total jumps to 4456.8 and North reports 276.9% of target — an impossible figure your validation catches immediately. Restoring the value returns the total to 3021.3.</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Panels overlap or the title is cut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Use plt.tight_layout(rect=[0,0,1,0.95]) so the suptitle gets its own space.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sed did not change anything</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sed needs a BYTE-EXACT match. Run grep 'Mar,North' kpi.csv and copy the value from the output — 159.5 is not the same string as 159.50 or 161.</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12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2-dashboard.png"/>
          <p:cNvPicPr>
            <a:picLocks noChangeAspect="1"/>
          </p:cNvPicPr>
          <p:nvPr/>
        </p:nvPicPr>
        <p:blipFill>
          <a:blip r:embed="rId2"/>
          <a:stretch>
            <a:fillRect/>
          </a:stretch>
        </p:blipFill>
        <p:spPr>
          <a:xfrm>
            <a:off x="2973583" y="1783080"/>
            <a:ext cx="6241786" cy="3428999"/>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dashboard.png shows four panels built from 24 rows. Total revenue validates at 3021.3 by two independent methods.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04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Visualization and Reporting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Question first</a:t>
            </a:r>
          </a:p>
          <a:p>
            <a:pPr algn="l">
              <a:spcAft>
                <a:spcPts val="300"/>
              </a:spcAft>
            </a:pPr>
            <a:r>
              <a:rPr sz="1000" b="0">
                <a:solidFill>
                  <a:srgbClr val="5B6372"/>
                </a:solidFill>
                <a:latin typeface="Arial"/>
              </a:rPr>
              <a:t>The business question determines the chart: composition, comparison, distribution, relationship or trend.</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Chart selection</a:t>
            </a:r>
          </a:p>
          <a:p>
            <a:pPr algn="l">
              <a:spcAft>
                <a:spcPts val="300"/>
              </a:spcAft>
            </a:pPr>
            <a:r>
              <a:rPr sz="1000" b="0">
                <a:solidFill>
                  <a:srgbClr val="5B6372"/>
                </a:solidFill>
                <a:latin typeface="Arial"/>
              </a:rPr>
              <a:t>Line for time, bar for categories, pie for a few parts of a whole, histogram for distribution, scatter for relationship.</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Maps &amp; magnitude</a:t>
            </a:r>
          </a:p>
          <a:p>
            <a:pPr algn="l">
              <a:spcAft>
                <a:spcPts val="300"/>
              </a:spcAft>
            </a:pPr>
            <a:r>
              <a:rPr sz="1000" b="0">
                <a:solidFill>
                  <a:srgbClr val="5B6372"/>
                </a:solidFill>
                <a:latin typeface="Arial"/>
              </a:rPr>
              <a:t>Maps come as dot, filled (choropleth) or layered; heat maps and tree maps encode magnitude and hierarchy.</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Audience &amp; sharing</a:t>
            </a:r>
          </a:p>
          <a:p>
            <a:pPr algn="l">
              <a:spcAft>
                <a:spcPts val="300"/>
              </a:spcAft>
            </a:pPr>
            <a:r>
              <a:rPr sz="1000" b="0">
                <a:solidFill>
                  <a:srgbClr val="5B6372"/>
                </a:solidFill>
                <a:latin typeface="Arial"/>
              </a:rPr>
              <a:t>Agree the audience and the distribution list before you build — they set the detail level and what may be shared.</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Report types</a:t>
            </a:r>
          </a:p>
          <a:p>
            <a:pPr algn="l">
              <a:spcAft>
                <a:spcPts val="300"/>
              </a:spcAft>
            </a:pPr>
            <a:r>
              <a:rPr sz="1000" b="0">
                <a:solidFill>
                  <a:srgbClr val="5B6372"/>
                </a:solidFill>
                <a:latin typeface="Arial"/>
              </a:rPr>
              <a:t>Reports are static, dynamic, operational, compliance, ad hoc or self-service, and each carries standard elements.</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Dashboard design</a:t>
            </a:r>
          </a:p>
          <a:p>
            <a:pPr algn="l">
              <a:spcAft>
                <a:spcPts val="300"/>
              </a:spcAft>
            </a:pPr>
            <a:r>
              <a:rPr sz="1000" b="0">
                <a:solidFill>
                  <a:srgbClr val="5B6372"/>
                </a:solidFill>
                <a:latin typeface="Arial"/>
              </a:rPr>
              <a:t>A good dashboard has one purpose, consistent colour, labelled axes and detail hidden behind drillthrough.</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Validation</a:t>
            </a:r>
          </a:p>
          <a:p>
            <a:pPr algn="l">
              <a:spcAft>
                <a:spcPts val="300"/>
              </a:spcAft>
            </a:pPr>
            <a:r>
              <a:rPr sz="1000" b="0">
                <a:solidFill>
                  <a:srgbClr val="5B6372"/>
                </a:solidFill>
                <a:latin typeface="Arial"/>
              </a:rPr>
              <a:t>Validate by record count, recalculation, cross-validation, peer review and audit — and prove the process catches errors.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10B981"/>
                </a:solidFill>
                <a:latin typeface="Arial"/>
              </a:rPr>
              <a:t>15 minutes</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05  ·  14%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Governance, Quality and Controls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Documentation · versioning · lineage · compliance · retention · privacy · encryption · masking · quality assurance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med" advClick="1">
    <p:push dir="l"/>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DOMAIN COVERS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5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Governance spans the lifecycle</a:t>
            </a:r>
          </a:p>
          <a:p>
            <a:pPr algn="l">
              <a:spcAft>
                <a:spcPts val="300"/>
              </a:spcAft>
            </a:pPr>
            <a:r>
              <a:rPr sz="1000" b="0">
                <a:solidFill>
                  <a:srgbClr val="5B6372"/>
                </a:solidFill>
                <a:latin typeface="Arial"/>
              </a:rPr>
              <a:t>Data governance keeps data high-quality and controlled across its full lifecycle: creation, storage, use, archive and destruction.</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Roles split accountability</a:t>
            </a:r>
          </a:p>
          <a:p>
            <a:pPr algn="l">
              <a:spcAft>
                <a:spcPts val="300"/>
              </a:spcAft>
            </a:pPr>
            <a:r>
              <a:rPr sz="1000" b="0">
                <a:solidFill>
                  <a:srgbClr val="5B6372"/>
                </a:solidFill>
                <a:latin typeface="Arial"/>
              </a:rPr>
              <a:t>Data roles separate accountability: data owner, data steward, data custodian and privacy officer.</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Classification and data types</a:t>
            </a:r>
          </a:p>
          <a:p>
            <a:pPr algn="l">
              <a:spcAft>
                <a:spcPts val="300"/>
              </a:spcAft>
            </a:pPr>
            <a:r>
              <a:rPr sz="1000" b="0">
                <a:solidFill>
                  <a:srgbClr val="5B6372"/>
                </a:solidFill>
                <a:latin typeface="Arial"/>
              </a:rPr>
              <a:t>Data is classified by sensitivity (public, internal, sensitive, confidential/restricted) and tagged by type (PII, PHI, PIFI, IP).</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Compliance obligations</a:t>
            </a:r>
          </a:p>
          <a:p>
            <a:pPr algn="l">
              <a:spcAft>
                <a:spcPts val="300"/>
              </a:spcAft>
            </a:pPr>
            <a:r>
              <a:rPr sz="1000" b="0">
                <a:solidFill>
                  <a:srgbClr val="5B6372"/>
                </a:solidFill>
                <a:latin typeface="Arial"/>
              </a:rPr>
              <a:t>Regulations impose retention, audit and sovereignty duties — Singapore's PDPA, the EU GDPR, HIPAA and SOX are the common examples.</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Layered protection</a:t>
            </a:r>
          </a:p>
          <a:p>
            <a:pPr algn="l">
              <a:spcAft>
                <a:spcPts val="300"/>
              </a:spcAft>
            </a:pPr>
            <a:r>
              <a:rPr sz="1000" b="0">
                <a:solidFill>
                  <a:srgbClr val="5B6372"/>
                </a:solidFill>
                <a:latin typeface="Arial"/>
              </a:rPr>
              <a:t>Protection strategies layer access control (role-based, group-based), encryption at rest/in transit/in use, masking and de-identification.</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Lineage and version control</a:t>
            </a:r>
          </a:p>
          <a:p>
            <a:pPr algn="l">
              <a:spcAft>
                <a:spcPts val="300"/>
              </a:spcAft>
            </a:pPr>
            <a:r>
              <a:rPr sz="1000" b="0">
                <a:solidFill>
                  <a:srgbClr val="5B6372"/>
                </a:solidFill>
                <a:latin typeface="Arial"/>
              </a:rPr>
              <a:t>Data lineage, a data dictionary and version control make a pipeline auditable and reproducible.</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Continuous quality assurance</a:t>
            </a:r>
          </a:p>
          <a:p>
            <a:pPr algn="l">
              <a:spcAft>
                <a:spcPts val="300"/>
              </a:spcAft>
            </a:pPr>
            <a:r>
              <a:rPr sz="1000" b="0">
                <a:solidFill>
                  <a:srgbClr val="5B6372"/>
                </a:solidFill>
                <a:latin typeface="Arial"/>
              </a:rPr>
              <a:t>Quality assurance runs continuously: profiling, automated validation on entry, monitoring, and testing against agreed quality dimensions.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DATA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Governance is a set of decisions, not a document.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Data governance is an organisation's capability to ensure high-quality data exists across the complete data lifecycle, with controls implemented to support its business objectives. Every control is somebody's decision, written down and enforced.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Data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Creation</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Entry, capture or import</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Storage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At rest, permission-controlled</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Use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View, process, modify</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Archive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Retained but not active</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Destruction</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Beyond its useful life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DRIVES POLICY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governance policy you write must say what happens at each of these five stages — otherwise there is a stage where nobody is accountable.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ROLES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Roles and Accountability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owner</a:t>
            </a:r>
          </a:p>
          <a:p>
            <a:pPr algn="l">
              <a:spcAft>
                <a:spcPts val="300"/>
              </a:spcAft>
            </a:pPr>
            <a:r>
              <a:rPr sz="1100" b="0">
                <a:solidFill>
                  <a:srgbClr val="5B6372"/>
                </a:solidFill>
                <a:latin typeface="Arial"/>
              </a:rPr>
              <a:t>A senior executive accountable for the confidentiality, integrity and availability of the data asset.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steward</a:t>
            </a:r>
          </a:p>
          <a:p>
            <a:pPr algn="l">
              <a:spcAft>
                <a:spcPts val="300"/>
              </a:spcAft>
            </a:pPr>
            <a:r>
              <a:rPr sz="1100" b="0">
                <a:solidFill>
                  <a:srgbClr val="5B6372"/>
                </a:solidFill>
                <a:latin typeface="Arial"/>
              </a:rPr>
              <a:t>Ensures data is properly labelled, identified, collected and stored. The day-to-day quality role.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custodian</a:t>
            </a:r>
          </a:p>
          <a:p>
            <a:pPr algn="l">
              <a:spcAft>
                <a:spcPts val="300"/>
              </a:spcAft>
            </a:pPr>
            <a:r>
              <a:rPr sz="1100" b="0">
                <a:solidFill>
                  <a:srgbClr val="5B6372"/>
                </a:solidFill>
                <a:latin typeface="Arial"/>
              </a:rPr>
              <a:t>Manages the SYSTEM the data lives on — the technical operator of storage and backup.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Privacy officer</a:t>
            </a:r>
          </a:p>
          <a:p>
            <a:pPr algn="l">
              <a:spcAft>
                <a:spcPts val="300"/>
              </a:spcAft>
            </a:pPr>
            <a:r>
              <a:rPr sz="1100" b="0">
                <a:solidFill>
                  <a:srgbClr val="5B6372"/>
                </a:solidFill>
                <a:latin typeface="Arial"/>
              </a:rPr>
              <a:t>Oversees privacy-related data, and owns minimisation, sovereignty, retention and destruction policy.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separate them</a:t>
            </a:r>
          </a:p>
          <a:p>
            <a:pPr algn="l">
              <a:spcAft>
                <a:spcPts val="300"/>
              </a:spcAft>
            </a:pPr>
            <a:r>
              <a:rPr sz="1100" b="0">
                <a:solidFill>
                  <a:srgbClr val="5B6372"/>
                </a:solidFill>
                <a:latin typeface="Arial"/>
              </a:rPr>
              <a:t>Separation of duties: the person who authorises access should not be the person who grants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 practice</a:t>
            </a:r>
          </a:p>
          <a:p>
            <a:pPr algn="l">
              <a:spcAft>
                <a:spcPts val="300"/>
              </a:spcAft>
            </a:pPr>
            <a:r>
              <a:rPr sz="1100" b="0">
                <a:solidFill>
                  <a:srgbClr val="5B6372"/>
                </a:solidFill>
                <a:latin typeface="Arial"/>
              </a:rPr>
              <a:t>In Lab 14 you build the access matrix that assigns each of these roles a specific level of access.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DATA CLASSIFICATION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Classification — Commercial and Government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Level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Commercial sector</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Government sector</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Lowest</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Public — the front-facing website</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Unclassified — public information</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Low-mid</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Sensitive — financial data</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Controlled Unclassified (CUI) — medical records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Mid</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Private — personnel records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Confidential — trade secrets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High</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Confidential — intellectual property</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Secret — military plans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Highest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Restricted — regulated or contractual</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Top Secret — weapon blueprints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Classification sets the sensitivity. A separate DATA TYPE tag — PII, PHI, PIFI, IP — says what kind of data it is.</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COMPLIANCE REQUIREMENTS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Compliance and Regulation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Regulation vs compliance</a:t>
            </a:r>
          </a:p>
          <a:p>
            <a:pPr algn="l">
              <a:spcAft>
                <a:spcPts val="300"/>
              </a:spcAft>
            </a:pPr>
            <a:r>
              <a:rPr sz="1100" b="0">
                <a:solidFill>
                  <a:srgbClr val="5B6372"/>
                </a:solidFill>
                <a:latin typeface="Arial"/>
              </a:rPr>
              <a:t>A regulation is a rule backed by law. Compliance is demonstrating that you meet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Singapore PDPA</a:t>
            </a:r>
          </a:p>
          <a:p>
            <a:pPr algn="l">
              <a:spcAft>
                <a:spcPts val="300"/>
              </a:spcAft>
            </a:pPr>
            <a:r>
              <a:rPr sz="1100" b="0">
                <a:solidFill>
                  <a:srgbClr val="5B6372"/>
                </a:solidFill>
                <a:latin typeface="Arial"/>
              </a:rPr>
              <a:t>Governs collection, use and disclosure of personal data, and mandates breach notification.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GDPR (EU)</a:t>
            </a:r>
          </a:p>
          <a:p>
            <a:pPr algn="l">
              <a:spcAft>
                <a:spcPts val="300"/>
              </a:spcAft>
            </a:pPr>
            <a:r>
              <a:rPr sz="1100" b="0">
                <a:solidFill>
                  <a:srgbClr val="5B6372"/>
                </a:solidFill>
                <a:latin typeface="Arial"/>
              </a:rPr>
              <a:t>Rights of access, rectification, erasure and portability — applies to EU residents' data wherever it is held.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HIPAA / SOX</a:t>
            </a:r>
          </a:p>
          <a:p>
            <a:pPr algn="l">
              <a:spcAft>
                <a:spcPts val="300"/>
              </a:spcAft>
            </a:pPr>
            <a:r>
              <a:rPr sz="1100" b="0">
                <a:solidFill>
                  <a:srgbClr val="5B6372"/>
                </a:solidFill>
                <a:latin typeface="Arial"/>
              </a:rPr>
              <a:t>US health information privacy; and financial reporting controls with retention obligations.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sovereignty</a:t>
            </a:r>
          </a:p>
          <a:p>
            <a:pPr algn="l">
              <a:spcAft>
                <a:spcPts val="300"/>
              </a:spcAft>
            </a:pPr>
            <a:r>
              <a:rPr sz="1100" b="0">
                <a:solidFill>
                  <a:srgbClr val="5B6372"/>
                </a:solidFill>
                <a:latin typeface="Arial"/>
              </a:rPr>
              <a:t>The jurisdiction whose law governs the data — usually determined by where it is physically stored.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Audits</a:t>
            </a:r>
          </a:p>
          <a:p>
            <a:pPr algn="l">
              <a:spcAft>
                <a:spcPts val="300"/>
              </a:spcAft>
            </a:pPr>
            <a:r>
              <a:rPr sz="1100" b="0">
                <a:solidFill>
                  <a:srgbClr val="5B6372"/>
                </a:solidFill>
                <a:latin typeface="Arial"/>
              </a:rPr>
              <a:t>Periodic independent verification that the controls you documented are actually operating.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RETENTION AND DESTRUCTION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Retention, Preservation and Destruction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retention</a:t>
            </a:r>
          </a:p>
          <a:p>
            <a:pPr algn="l">
              <a:spcAft>
                <a:spcPts val="300"/>
              </a:spcAft>
            </a:pPr>
            <a:r>
              <a:rPr sz="1100" b="0">
                <a:solidFill>
                  <a:srgbClr val="5B6372"/>
                </a:solidFill>
                <a:latin typeface="Arial"/>
              </a:rPr>
              <a:t>Keeping data for a defined period to satisfy business policy and applicable law. Consult legal counsel.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preservation</a:t>
            </a:r>
          </a:p>
          <a:p>
            <a:pPr algn="l">
              <a:spcAft>
                <a:spcPts val="300"/>
              </a:spcAft>
            </a:pPr>
            <a:r>
              <a:rPr sz="1100" b="0">
                <a:solidFill>
                  <a:srgbClr val="5B6372"/>
                </a:solidFill>
                <a:latin typeface="Arial"/>
              </a:rPr>
              <a:t>Holding data for a specific purpose OUTSIDE the retention policy — for example, a litigation hold.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removal</a:t>
            </a:r>
          </a:p>
          <a:p>
            <a:pPr algn="l">
              <a:spcAft>
                <a:spcPts val="300"/>
              </a:spcAft>
            </a:pPr>
            <a:r>
              <a:rPr sz="1100" b="0">
                <a:solidFill>
                  <a:srgbClr val="5B6372"/>
                </a:solidFill>
                <a:latin typeface="Arial"/>
              </a:rPr>
              <a:t>Deleting data or making it inaccessible. Appropriate only for the least sensitive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destruction</a:t>
            </a:r>
          </a:p>
          <a:p>
            <a:pPr algn="l">
              <a:spcAft>
                <a:spcPts val="300"/>
              </a:spcAft>
            </a:pPr>
            <a:r>
              <a:rPr sz="1100" b="0">
                <a:solidFill>
                  <a:srgbClr val="5B6372"/>
                </a:solidFill>
                <a:latin typeface="Arial"/>
              </a:rPr>
              <a:t>Deleting the data AND destroying the underlying medium so it cannot be reconstructed.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sanitisation</a:t>
            </a:r>
          </a:p>
          <a:p>
            <a:pPr algn="l">
              <a:spcAft>
                <a:spcPts val="300"/>
              </a:spcAft>
            </a:pPr>
            <a:r>
              <a:rPr sz="1100" b="0">
                <a:solidFill>
                  <a:srgbClr val="5B6372"/>
                </a:solidFill>
                <a:latin typeface="Arial"/>
              </a:rPr>
              <a:t>The verification step that PROVES the data was wiped and is no longer recoverable.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Document it</a:t>
            </a:r>
          </a:p>
          <a:p>
            <a:pPr algn="l">
              <a:spcAft>
                <a:spcPts val="300"/>
              </a:spcAft>
            </a:pPr>
            <a:r>
              <a:rPr sz="1100" b="0">
                <a:solidFill>
                  <a:srgbClr val="5B6372"/>
                </a:solidFill>
                <a:latin typeface="Arial"/>
              </a:rPr>
              <a:t>An undocumented retention period is itself an audit finding — record the period and its rationale.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PRIVACY AND PROTECTION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Protection Strategies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Technique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Reversible?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Analysis still possible?</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Access control</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Restricts WHO can see the data</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for authorised users</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Encryption</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Scrambles data into ciphertext</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with the key</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Only after decryption</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Masking</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Hides part of the value (S****A)</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Partially — recognition only</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De-identification</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Removes the identifying fields</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on remaining fields</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Pseudonymisation</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Replaces the ID with a surrogate key</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Only with the mapping</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 joins still work</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You apply masking, de-identification and pseudonymisation to the same dataset in Lab 13 — and prove the analysis survives.</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SECURITY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Encryption and Access Control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at rest</a:t>
            </a:r>
          </a:p>
          <a:p>
            <a:pPr algn="l">
              <a:spcAft>
                <a:spcPts val="300"/>
              </a:spcAft>
            </a:pPr>
            <a:r>
              <a:rPr sz="1100" b="0">
                <a:solidFill>
                  <a:srgbClr val="5B6372"/>
                </a:solidFill>
                <a:latin typeface="Arial"/>
              </a:rPr>
              <a:t>Stored as ciphertext on disk; re-encrypted on every write.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in transit</a:t>
            </a:r>
          </a:p>
          <a:p>
            <a:pPr algn="l">
              <a:spcAft>
                <a:spcPts val="300"/>
              </a:spcAft>
            </a:pPr>
            <a:r>
              <a:rPr sz="1100" b="0">
                <a:solidFill>
                  <a:srgbClr val="5B6372"/>
                </a:solidFill>
                <a:latin typeface="Arial"/>
              </a:rPr>
              <a:t>Encrypted while moving between systems — TLS/HTTPS is the baseline expectation.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in use</a:t>
            </a:r>
          </a:p>
          <a:p>
            <a:pPr algn="l">
              <a:spcAft>
                <a:spcPts val="300"/>
              </a:spcAft>
            </a:pPr>
            <a:r>
              <a:rPr sz="1100" b="0">
                <a:solidFill>
                  <a:srgbClr val="5B6372"/>
                </a:solidFill>
                <a:latin typeface="Arial"/>
              </a:rPr>
              <a:t>Being processed in memory. The hardest state to protect, and the target of modern attacks.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Read/write permissions</a:t>
            </a:r>
          </a:p>
          <a:p>
            <a:pPr algn="l">
              <a:spcAft>
                <a:spcPts val="300"/>
              </a:spcAft>
            </a:pPr>
            <a:r>
              <a:rPr sz="1100" b="0">
                <a:solidFill>
                  <a:srgbClr val="5B6372"/>
                </a:solidFill>
                <a:latin typeface="Arial"/>
              </a:rPr>
              <a:t>The most basic control: who may read, and who may also 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Role-based access (RBAC)</a:t>
            </a:r>
          </a:p>
          <a:p>
            <a:pPr algn="l">
              <a:spcAft>
                <a:spcPts val="300"/>
              </a:spcAft>
            </a:pPr>
            <a:r>
              <a:rPr sz="1100" b="0">
                <a:solidFill>
                  <a:srgbClr val="5B6372"/>
                </a:solidFill>
                <a:latin typeface="Arial"/>
              </a:rPr>
              <a:t>Access assigned by JOB FUNCTION, not by individual. Scales, and survives staff changes.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User-group permissions</a:t>
            </a:r>
          </a:p>
          <a:p>
            <a:pPr algn="l">
              <a:spcAft>
                <a:spcPts val="300"/>
              </a:spcAft>
            </a:pPr>
            <a:r>
              <a:rPr sz="1100" b="0">
                <a:solidFill>
                  <a:srgbClr val="5B6372"/>
                </a:solidFill>
                <a:latin typeface="Arial"/>
              </a:rPr>
              <a:t>Access granted by group membership. Simple, but drifts unless it is reviewed regularly.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MANAGEMENT PRACTICES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Documentation, Versioning and Lineage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lineage</a:t>
            </a:r>
          </a:p>
          <a:p>
            <a:pPr algn="l">
              <a:spcAft>
                <a:spcPts val="300"/>
              </a:spcAft>
            </a:pPr>
            <a:r>
              <a:rPr sz="1100" b="0">
                <a:solidFill>
                  <a:srgbClr val="5B6372"/>
                </a:solidFill>
                <a:latin typeface="Arial"/>
              </a:rPr>
              <a:t>The traceable path from origin through every transformation to the final report. Answers 'where did this number come from?'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dictionary</a:t>
            </a:r>
          </a:p>
          <a:p>
            <a:pPr algn="l">
              <a:spcAft>
                <a:spcPts val="300"/>
              </a:spcAft>
            </a:pPr>
            <a:r>
              <a:rPr sz="1100" b="0">
                <a:solidFill>
                  <a:srgbClr val="5B6372"/>
                </a:solidFill>
                <a:latin typeface="Arial"/>
              </a:rPr>
              <a:t>Defines every field: its meaning, type, valid values, owner and source. The reference everyone shares.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Version control</a:t>
            </a:r>
          </a:p>
          <a:p>
            <a:pPr algn="l">
              <a:spcAft>
                <a:spcPts val="300"/>
              </a:spcAft>
            </a:pPr>
            <a:r>
              <a:rPr sz="1100" b="0">
                <a:solidFill>
                  <a:srgbClr val="5B6372"/>
                </a:solidFill>
                <a:latin typeface="Arial"/>
              </a:rPr>
              <a:t>Tracks changes to queries, models and reports over time, so any figure can be reproduced later.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Entity relationship models</a:t>
            </a:r>
          </a:p>
          <a:p>
            <a:pPr algn="l">
              <a:spcAft>
                <a:spcPts val="300"/>
              </a:spcAft>
            </a:pPr>
            <a:r>
              <a:rPr sz="1100" b="0">
                <a:solidFill>
                  <a:srgbClr val="5B6372"/>
                </a:solidFill>
                <a:latin typeface="Arial"/>
              </a:rPr>
              <a:t>Conceptual (what exists), logical (fields and relationships), physical (actual tables and types).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constraints</a:t>
            </a:r>
          </a:p>
          <a:p>
            <a:pPr algn="l">
              <a:spcAft>
                <a:spcPts val="300"/>
              </a:spcAft>
            </a:pPr>
            <a:r>
              <a:rPr sz="1100" b="0">
                <a:solidFill>
                  <a:srgbClr val="5B6372"/>
                </a:solidFill>
                <a:latin typeface="Arial"/>
              </a:rPr>
              <a:t>Integrity rules limiting what may enter a column — the schema enforcing quality automatically.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Record linkage</a:t>
            </a:r>
          </a:p>
          <a:p>
            <a:pPr algn="l">
              <a:spcAft>
                <a:spcPts val="300"/>
              </a:spcAft>
            </a:pPr>
            <a:r>
              <a:rPr sz="1100" b="0">
                <a:solidFill>
                  <a:srgbClr val="5B6372"/>
                </a:solidFill>
                <a:latin typeface="Arial"/>
              </a:rPr>
              <a:t>Matching records across datasets — with link restrictions preventing protected sets being combined.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IMPLEMENT QUALITY ASSURANCE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Data Quality Dimensions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Completeness</a:t>
            </a:r>
          </a:p>
          <a:p>
            <a:pPr algn="l">
              <a:spcAft>
                <a:spcPts val="300"/>
              </a:spcAft>
            </a:pPr>
            <a:r>
              <a:rPr sz="1100" b="0">
                <a:solidFill>
                  <a:srgbClr val="5B6372"/>
                </a:solidFill>
                <a:latin typeface="Arial"/>
              </a:rPr>
              <a:t>No required data is missing. Measured as the null rate on mandatory fields.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Accuracy</a:t>
            </a:r>
          </a:p>
          <a:p>
            <a:pPr algn="l">
              <a:spcAft>
                <a:spcPts val="300"/>
              </a:spcAft>
            </a:pPr>
            <a:r>
              <a:rPr sz="1100" b="0">
                <a:solidFill>
                  <a:srgbClr val="5B6372"/>
                </a:solidFill>
                <a:latin typeface="Arial"/>
              </a:rPr>
              <a:t>The values are actually correct — they match the real-world fact they describe.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Consistency</a:t>
            </a:r>
          </a:p>
          <a:p>
            <a:pPr algn="l">
              <a:spcAft>
                <a:spcPts val="300"/>
              </a:spcAft>
            </a:pPr>
            <a:r>
              <a:rPr sz="1100" b="0">
                <a:solidFill>
                  <a:srgbClr val="5B6372"/>
                </a:solidFill>
                <a:latin typeface="Arial"/>
              </a:rPr>
              <a:t>The same thing is recorded the same way everywhere. 'SG', 'Singapore' and 'sg' break this.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Uniqueness</a:t>
            </a:r>
          </a:p>
          <a:p>
            <a:pPr algn="l">
              <a:spcAft>
                <a:spcPts val="300"/>
              </a:spcAft>
            </a:pPr>
            <a:r>
              <a:rPr sz="1100" b="0">
                <a:solidFill>
                  <a:srgbClr val="5B6372"/>
                </a:solidFill>
                <a:latin typeface="Arial"/>
              </a:rPr>
              <a:t>No unintended duplicates. The primary key must identify exactly one record.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Validity</a:t>
            </a:r>
          </a:p>
          <a:p>
            <a:pPr algn="l">
              <a:spcAft>
                <a:spcPts val="300"/>
              </a:spcAft>
            </a:pPr>
            <a:r>
              <a:rPr sz="1100" b="0">
                <a:solidFill>
                  <a:srgbClr val="5B6372"/>
                </a:solidFill>
                <a:latin typeface="Arial"/>
              </a:rPr>
              <a:t>Values conform to the defined format, type, range and domain.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Timeliness</a:t>
            </a:r>
          </a:p>
          <a:p>
            <a:pPr algn="l">
              <a:spcAft>
                <a:spcPts val="300"/>
              </a:spcAft>
            </a:pPr>
            <a:r>
              <a:rPr sz="1100" b="0">
                <a:solidFill>
                  <a:srgbClr val="5B6372"/>
                </a:solidFill>
                <a:latin typeface="Arial"/>
              </a:rPr>
              <a:t>The data is current enough for the decision it supports. A stale figure is a wrong figure.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PROFILE · MONITOR · TEST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Quality Assurance in Operation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Profile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Measure the current state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Define rules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One rule per dimension</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Automate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Validate on entry</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Monitor</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Run every load, score it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Act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Block load, alert owner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WHAT MAKES IT MONITORING</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report tells you the data was bad. A non-zero exit code STOPS the bad data loading — that is the difference you build in Lab 15.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MASTER DATA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Master Data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Master data</a:t>
            </a:r>
          </a:p>
          <a:p>
            <a:pPr algn="l">
              <a:spcAft>
                <a:spcPts val="300"/>
              </a:spcAft>
            </a:pPr>
            <a:r>
              <a:rPr sz="1100" b="0">
                <a:solidFill>
                  <a:srgbClr val="5B6372"/>
                </a:solidFill>
                <a:latin typeface="Arial"/>
              </a:rPr>
              <a:t>The golden record — the single authoritative version of a core entity such as a customer or product.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MDM</a:t>
            </a:r>
          </a:p>
          <a:p>
            <a:pPr algn="l">
              <a:spcAft>
                <a:spcPts val="300"/>
              </a:spcAft>
            </a:pPr>
            <a:r>
              <a:rPr sz="1100" b="0">
                <a:solidFill>
                  <a:srgbClr val="5B6372"/>
                </a:solidFill>
                <a:latin typeface="Arial"/>
              </a:rPr>
              <a:t>The discipline of creating and maintaining that golden record across every system that holds a copy.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How golden records are built</a:t>
            </a:r>
          </a:p>
          <a:p>
            <a:pPr algn="l">
              <a:spcAft>
                <a:spcPts val="300"/>
              </a:spcAft>
            </a:pPr>
            <a:r>
              <a:rPr sz="1100" b="0">
                <a:solidFill>
                  <a:srgbClr val="5B6372"/>
                </a:solidFill>
                <a:latin typeface="Arial"/>
              </a:rPr>
              <a:t>Consolidate duplicate fields, fill gaps from other systems, and standardise the field formats.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Without it, Finance, Sales and Support each report a different customer count — all defensible, all different.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MDM and governance</a:t>
            </a:r>
          </a:p>
          <a:p>
            <a:pPr algn="l">
              <a:spcAft>
                <a:spcPts val="300"/>
              </a:spcAft>
            </a:pPr>
            <a:r>
              <a:rPr sz="1100" b="0">
                <a:solidFill>
                  <a:srgbClr val="5B6372"/>
                </a:solidFill>
                <a:latin typeface="Arial"/>
              </a:rPr>
              <a:t>They work together: governance sets the rules, MDM enforces them on the core entities.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Tooling</a:t>
            </a:r>
          </a:p>
          <a:p>
            <a:pPr algn="l">
              <a:spcAft>
                <a:spcPts val="300"/>
              </a:spcAft>
            </a:pPr>
            <a:r>
              <a:rPr sz="1100" b="0">
                <a:solidFill>
                  <a:srgbClr val="5B6372"/>
                </a:solidFill>
                <a:latin typeface="Arial"/>
              </a:rPr>
              <a:t>Informatica and Reltio are common enterprise MDM platforms.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13 — Classify, Mask and De-Identify a Dataset (PDPA/GDPR)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privacy and protection strategies: access control, encryption and masking (Domain 5); LO5 / A4.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receive a customer extract containing NRIC numbers, emails and salaries. You classify every column by sensitivity, then apply the three protection techniques the exam distinguishes — masking, de-identification and pseudonymisation via a surrogate index field — and prove the analytical value survives the treatment.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classification matrix for every column plus three protected versions of the dataset (masked, de-identified, pseudonymised) with the analysis still working.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hashlib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Across 40 records masking shows the NRIC as S****G form. De-identification drops name, nric and email. Pseudonymisation gives a stable 12-character key, and the departmental salary averages (Operations 4006.25, Sales 4518.75, Technology 5431.25, Finance 4612.50, Marketing 4268.75) are identical to those computed on the raw data.</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Apply MASKING</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Apply PSEUDONYMISATION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Test the re-identification risk: group by po</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Save the release-ready pseudonymised extract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classification matrix for every column plus three protected versions of the dataset (masked, de-identified, pseudonymised) with the analysis still working.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13 — Classify, Mask and De-Identify a Dataset (PDPA/GDPR)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~/dataplus/lab13 &amp;&amp; cd ~/dataplus/lab13;</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D=lab-13-classify-mask-and-de-identify-a-dataset-pdpa-gdpr;</a:t>
            </a:r>
          </a:p>
          <a:p>
            <a:pPr algn="l">
              <a:spcAft>
                <a:spcPts val="0"/>
              </a:spcAft>
            </a:pPr>
            <a:r>
              <a:rPr sz="640" b="0">
                <a:solidFill>
                  <a:srgbClr val="9CDCFE"/>
                </a:solidFill>
                <a:latin typeface="Consolas"/>
              </a:rPr>
              <a:t>   for f in customers.csv;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264408"/>
            <a:ext cx="9692640" cy="1417320"/>
          </a:xfrm>
          <a:prstGeom prst="rect">
            <a:avLst/>
          </a:prstGeom>
          <a:noFill/>
        </p:spPr>
        <p:txBody>
          <a:bodyPr wrap="square" anchor="ctr">
            <a:spAutoFit/>
          </a:bodyPr>
          <a:lstStyle/>
          <a:p>
            <a:pPr algn="l">
              <a:spcAft>
                <a:spcPts val="400"/>
              </a:spcAft>
            </a:pPr>
            <a:r>
              <a:rPr sz="1250" b="0">
                <a:solidFill>
                  <a:srgbClr val="161B26"/>
                </a:solidFill>
                <a:latin typeface="Arial"/>
              </a:rPr>
              <a:t>CLASSIFY first. For each column write down its classification (public / internal / sensitive / confidential) and its data type tag (PII, PIFI, none). NRIC is confidential PII; salary is sensitive PIFI; dept is internal.</a:t>
            </a:r>
          </a:p>
        </p:txBody>
      </p:sp>
      <p:sp>
        <p:nvSpPr>
          <p:cNvPr id="19" name="Rectangle 18"/>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MASKING — the value stays partly visible so it can still be recognised by an authorised human.</a:t>
            </a:r>
          </a:p>
        </p:txBody>
      </p:sp>
      <p:sp>
        <p:nvSpPr>
          <p:cNvPr id="24" name="Rectangle 23"/>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517550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d=pd.read_csv('customers.csv');</a:t>
            </a:r>
          </a:p>
          <a:p>
            <a:pPr algn="l">
              <a:spcAft>
                <a:spcPts val="0"/>
              </a:spcAft>
            </a:pPr>
            <a:r>
              <a:rPr sz="640" b="0">
                <a:solidFill>
                  <a:srgbClr val="9CDCFE"/>
                </a:solidFill>
                <a:latin typeface="Consolas"/>
              </a:rPr>
              <a:t>   d['nric']=d.nric.str[0]+'****'+d.nric.str[-1];</a:t>
            </a:r>
          </a:p>
          <a:p>
            <a:pPr algn="l">
              <a:spcAft>
                <a:spcPts val="0"/>
              </a:spcAft>
            </a:pPr>
            <a:r>
              <a:rPr sz="640" b="0">
                <a:solidFill>
                  <a:srgbClr val="9CDCFE"/>
                </a:solidFill>
                <a:latin typeface="Consolas"/>
              </a:rPr>
              <a:t>   d['email']=d.email.str.replace(r'(.).*(@.*)',r'\1****\2',regex=True);</a:t>
            </a:r>
          </a:p>
          <a:p>
            <a:pPr algn="l">
              <a:spcAft>
                <a:spcPts val="0"/>
              </a:spcAft>
            </a:pPr>
            <a:r>
              <a:rPr sz="640" b="0">
                <a:solidFill>
                  <a:srgbClr val="9CDCFE"/>
                </a:solidFill>
                <a:latin typeface="Consolas"/>
              </a:rPr>
              <a:t>   print(d[['cust_id','name','nric','email']])"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13 — Classify, Mask and De-Identify a Dataset (PDPA/GDPR)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DE-IDENTIFICATION — the identifying columns are removed outright.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a:t>
            </a:r>
          </a:p>
          <a:p>
            <a:pPr algn="l">
              <a:spcAft>
                <a:spcPts val="0"/>
              </a:spcAft>
            </a:pPr>
            <a:r>
              <a:rPr sz="640" b="0">
                <a:solidFill>
                  <a:srgbClr val="9CDCFE"/>
                </a:solidFill>
                <a:latin typeface="Consolas"/>
              </a:rPr>
              <a:t>   d=pd.read_csv('customers.csv');</a:t>
            </a:r>
          </a:p>
          <a:p>
            <a:pPr algn="l">
              <a:spcAft>
                <a:spcPts val="0"/>
              </a:spcAft>
            </a:pPr>
            <a:r>
              <a:rPr sz="640" b="0">
                <a:solidFill>
                  <a:srgbClr val="9CDCFE"/>
                </a:solidFill>
                <a:latin typeface="Consolas"/>
              </a:rPr>
              <a:t>   deid=d.drop(columns=['name','nric','email']);</a:t>
            </a:r>
          </a:p>
          <a:p>
            <a:pPr algn="l">
              <a:spcAft>
                <a:spcPts val="0"/>
              </a:spcAft>
            </a:pPr>
            <a:r>
              <a:rPr sz="640" b="0">
                <a:solidFill>
                  <a:srgbClr val="9CDCFE"/>
                </a:solidFill>
                <a:latin typeface="Consolas"/>
              </a:rPr>
              <a:t>   print(deid)"</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PSEUDONYMISATION — replace the identifier with a non-reversible surrogate INDEX FIELD.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pd,hashlib;</a:t>
            </a:r>
          </a:p>
          <a:p>
            <a:pPr algn="l">
              <a:spcAft>
                <a:spcPts val="0"/>
              </a:spcAft>
            </a:pPr>
            <a:r>
              <a:rPr sz="640" b="0">
                <a:solidFill>
                  <a:srgbClr val="9CDCFE"/>
                </a:solidFill>
                <a:latin typeface="Consolas"/>
              </a:rPr>
              <a:t>   d=pd.read_csv('customers.csv');</a:t>
            </a:r>
          </a:p>
          <a:p>
            <a:pPr algn="l">
              <a:spcAft>
                <a:spcPts val="0"/>
              </a:spcAft>
            </a:pPr>
            <a:r>
              <a:rPr sz="640" b="0">
                <a:solidFill>
                  <a:srgbClr val="9CDCFE"/>
                </a:solidFill>
                <a:latin typeface="Consolas"/>
              </a:rPr>
              <a:t>   d['subject_key']=d.nric.map(lambda v: hashlib.sha256(v.encode()).hexdigest()[:12]);</a:t>
            </a:r>
          </a:p>
          <a:p>
            <a:pPr algn="l">
              <a:spcAft>
                <a:spcPts val="0"/>
              </a:spcAft>
            </a:pPr>
            <a:r>
              <a:rPr sz="640" b="0">
                <a:solidFill>
                  <a:srgbClr val="9CDCFE"/>
                </a:solidFill>
                <a:latin typeface="Consolas"/>
              </a:rPr>
              <a:t>   print(d[['cust_id','subject_key','dept','salary']])"</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Prove the ANALYSIS STILL WORKS on the protected data — this is the whole point of the technique.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pd,hashlib;</a:t>
            </a:r>
          </a:p>
          <a:p>
            <a:pPr algn="l">
              <a:spcAft>
                <a:spcPts val="0"/>
              </a:spcAft>
            </a:pPr>
            <a:r>
              <a:rPr sz="640" b="0">
                <a:solidFill>
                  <a:srgbClr val="9CDCFE"/>
                </a:solidFill>
                <a:latin typeface="Consolas"/>
              </a:rPr>
              <a:t>   d=pd.read_csv('customers.csv');</a:t>
            </a:r>
          </a:p>
          <a:p>
            <a:pPr algn="l">
              <a:spcAft>
                <a:spcPts val="0"/>
              </a:spcAft>
            </a:pPr>
            <a:r>
              <a:rPr sz="640" b="0">
                <a:solidFill>
                  <a:srgbClr val="9CDCFE"/>
                </a:solidFill>
                <a:latin typeface="Consolas"/>
              </a:rPr>
              <a:t>   d['subject_key']=d.nric.map(lambda v: hashlib.sha256(v.encode()).hexdigest()[:12]);</a:t>
            </a:r>
          </a:p>
          <a:p>
            <a:pPr algn="l">
              <a:spcAft>
                <a:spcPts val="0"/>
              </a:spcAft>
            </a:pPr>
            <a:r>
              <a:rPr sz="640" b="0">
                <a:solidFill>
                  <a:srgbClr val="9CDCFE"/>
                </a:solidFill>
                <a:latin typeface="Consolas"/>
              </a:rPr>
              <a:t>   print(d.groupby('dept').salary.mean().round(2))"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13 — Classify, Mask and De-Identify a Dataset (PDPA/GDPR)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Test the re-identification risk: group by postal code and find the SMALLEST group. Any group of 1 is uniquely identifying. Discuss why small groups defeat de-identification (the k-anonymity…</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740" b="0">
                <a:solidFill>
                  <a:srgbClr val="9CDCFE"/>
                </a:solidFill>
                <a:latin typeface="Consolas"/>
              </a:rPr>
              <a:t>$ python3 -c "import pandas as pd;d=pd.read_csv('customers.csv');print(d.groupby('postal').size())"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Save the release-ready pseudonymised extract and note who may access it under which role.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python3 -c "import pandas as pd,hashlib;d=pd.read_csv('customers.csv');d['subject_key']=d.nric.map(lambda v:</a:t>
            </a:r>
          </a:p>
          <a:p>
            <a:pPr algn="l">
              <a:spcAft>
                <a:spcPts val="0"/>
              </a:spcAft>
            </a:pPr>
            <a:r>
              <a:rPr sz="640" b="0">
                <a:solidFill>
                  <a:srgbClr val="9CDCFE"/>
                </a:solidFill>
                <a:latin typeface="Consolas"/>
              </a:rPr>
              <a:t>   hashlib.sha256(v.encode()).hexdigest()[:12]);d[['subject_key','postal','dept',</a:t>
            </a:r>
          </a:p>
          <a:p>
            <a:pPr algn="l">
              <a:spcAft>
                <a:spcPts val="0"/>
              </a:spcAft>
            </a:pPr>
            <a:r>
              <a:rPr sz="640" b="0">
                <a:solidFill>
                  <a:srgbClr val="9CDCFE"/>
                </a:solidFill>
                <a:latin typeface="Consolas"/>
              </a:rPr>
              <a:t>   'salary']].to_csv('customers_release.csv',index=False)" &amp;&amp; cat customers_release.csv</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13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Across 40 records masking shows the NRIC as S****G form. De-identification drops name, nric and email. Pseudonymisation gives a stable 12-character key, and the departmental salary averages (Operations 4006.25, Sales 4518.75, Technology 5431.25, Finance 4612.50, Marketing 4268.75) are identical to those computed on the raw data.</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email regex did not mask</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regex=True is passed to str.replace and the backreferences use \1 and \2.</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hash changes between runs</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SHA-256 is deterministic — if it changes, your input has stray whitespace. Strip it first.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14 — Assess Data-Leakage Risk and Set Access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Summarize compliance requirements; compare privacy and protection strategies (Domain 5); LO5 / A4.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Governance is a set of decisions, not a document. You use the Cybersecurity Threat Simulator's data-leakage risk estimator to score a realistic set of handling practices, then translate the score into a concrete role-based access matrix and a retention schedule for the Lab 13 dataset.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risk assessment with a before/after score, a role-based access control matrix, and a retention &amp; destruction schedule.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Threat Simulator (https://alfredang.github.io/cybersecuritysimulator/), the Lab 13 dataset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risk score drops from Critical to Medium or lower once encryption, RBAC, review and retention are enabled. Your access matrix gives the Analyst the pseudonymised release ONLY, never the raw NRIC.</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Open the Cybersecurity Threat Simulator and</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Now switch on the controls one at a time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Open the Password Strength Analyzer and test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the RETENTION SCHEDULE: how long is ea</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Map each decision to its compliance driver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completed risk assessment with a before/after score, a role-based access control matrix, and a retention &amp; destruction schedule.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14 — Assess Data-Leakage Risk and Set Access Controls — Procedure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Cybersecurity Threat Simulator and go to the Data Leakage Risk Estimator.</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Set the toggles to describe a BAD baseline: no encryption, shared logins, no access review, data kept forever. Record the risk score and its level (Critical / High / Medium).</a:t>
            </a:r>
          </a:p>
        </p:txBody>
      </p:sp>
      <p:sp>
        <p:nvSpPr>
          <p:cNvPr id="17" name="Rectangle 16"/>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Now switch on the controls one at a time — encryption at rest, role-based access, periodic review, defined retention. Record how much each single control moves the score.</a:t>
            </a:r>
          </a:p>
        </p:txBody>
      </p:sp>
      <p:sp>
        <p:nvSpPr>
          <p:cNvPr id="22" name="Rectangle 21"/>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Note which single control reduced the risk most. That is where governance effort pays off first.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14 — Assess Data-Leakage Risk and Set Access Controls — Procedure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Password Strength Analyzer and test a weak versus a strong credential — this is the access control layer protecting everything you built in Lab 13.</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Build the ACCESS MATRIX for the Lab 13 dataset. For each of the four roles (Data Owner, Data Steward, Data Custodian, Analyst) decide access to: raw NRIC, masked extract, pseudonymised release, salary.</a:t>
            </a:r>
          </a:p>
        </p:txBody>
      </p:sp>
      <p:sp>
        <p:nvSpPr>
          <p:cNvPr id="17" name="Rectangle 16"/>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1" name="TextBox 20"/>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the RETENTION SCHEDULE: how long is each artefact kept, what triggers destruction, and which method is used (removal vs destruction vs sanitisation)?</a:t>
            </a:r>
          </a:p>
        </p:txBody>
      </p:sp>
      <p:sp>
        <p:nvSpPr>
          <p:cNvPr id="22" name="Rectangle 21"/>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6" name="TextBox 25"/>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Map each decision to its compliance driver — Singapore PDPA for the personal data, and the organisation's own audit requirement for the retention log.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14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risk score drops from Critical to Medium or lower once encryption, RBAC, review and retention are enabled. Your access matrix gives the Analyst the pseudonymised release ONLY, never the raw NRIC.</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score does not change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Some toggles only affect certain threat categories. Change one at a time and re-read the score after each.</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Unsure which role gets what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least privilege: the Analyst needs the analytical columns, never the identifiers. Only the Data Owner authorises raw access.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Retention period unclear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Where no statutory period applies, set it from business need and document the rationale — an undocumented period is itself an audit finding.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15 — Automated Quality Assurance: Profile, Rule, Monitor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Implement quality assurance: profiling, monitoring and testing for data quality; explain data management practices (Domain 5); LO5 / A4.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capstone governance lab. You write an automated data-quality suite that tests a daily feed against explicit rules across the exam's quality dimensions — completeness, accuracy, consistency, uniqueness and validity — then run it against a clean file and a broken one so it proves it can actually fail.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reusable dq_check.py suite that scores five quality dimensions, exits non-zero on failure, and produces a dated quality report.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feed_good.csv (40 rows) scores 5/5 and exits 0. feed_bad.csv (40 rows) fails ALL FIVE dimensions — 2 nulls, 2 duplicate order_ids, 2 negative amounts, 2 invalid status values and 1 unparseable date — so it scores 0/5, exits 1, and the 'LOAD BLOCKED' branch fires.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Download this lab's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7</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Write the quality suite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2 of 7</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Run it against the BROKEN feed</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7</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Save a dated quality report so you build a q</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7</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Add the lineage note: record the source, the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7</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reusable dq_check.py suite that scores five quality dimensions, exits non-zero on failure, and produces a dated quality report.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15 — Automated Quality Assurance: Profile, Rule, Monitor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2814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2814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Download this lab's dataset. The same files ship in the course repo under this lab's data/ folder.</a:t>
            </a:r>
          </a:p>
        </p:txBody>
      </p:sp>
      <p:sp>
        <p:nvSpPr>
          <p:cNvPr id="12" name="Rectangle 11"/>
          <p:cNvSpPr/>
          <p:nvPr/>
        </p:nvSpPr>
        <p:spPr>
          <a:xfrm>
            <a:off x="1481328" y="215798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923544"/>
          </a:xfrm>
          <a:prstGeom prst="rect">
            <a:avLst/>
          </a:prstGeom>
          <a:noFill/>
        </p:spPr>
        <p:txBody>
          <a:bodyPr wrap="none" anchor="ctr">
            <a:spAutoFit/>
          </a:bodyPr>
          <a:lstStyle/>
          <a:p>
            <a:pPr algn="l">
              <a:spcAft>
                <a:spcPts val="0"/>
              </a:spcAft>
            </a:pPr>
            <a:r>
              <a:rPr sz="640" b="0">
                <a:solidFill>
                  <a:srgbClr val="9CDCFE"/>
                </a:solidFill>
                <a:latin typeface="Consolas"/>
              </a:rPr>
              <a:t>$ mkdir -p ~/dataplus/lab15 &amp;&amp; cd ~/dataplus/lab15;</a:t>
            </a:r>
          </a:p>
          <a:p>
            <a:pPr algn="l">
              <a:spcAft>
                <a:spcPts val="0"/>
              </a:spcAft>
            </a:pPr>
            <a:r>
              <a:rPr sz="640" b="0">
                <a:solidFill>
                  <a:srgbClr val="9CDCFE"/>
                </a:solidFill>
                <a:latin typeface="Consolas"/>
              </a:rPr>
              <a:t>   R=https://raw.githubusercontent.com/tertiarycourses;</a:t>
            </a:r>
          </a:p>
          <a:p>
            <a:pPr algn="l">
              <a:spcAft>
                <a:spcPts val="0"/>
              </a:spcAft>
            </a:pPr>
            <a:r>
              <a:rPr sz="640" b="0">
                <a:solidFill>
                  <a:srgbClr val="9CDCFE"/>
                </a:solidFill>
                <a:latin typeface="Consolas"/>
              </a:rPr>
              <a:t>   B=$R/TGS-2024049212-CompTIA-Certified-Data-Training/main/labs;</a:t>
            </a:r>
          </a:p>
          <a:p>
            <a:pPr algn="l">
              <a:spcAft>
                <a:spcPts val="0"/>
              </a:spcAft>
            </a:pPr>
            <a:r>
              <a:rPr sz="640" b="0">
                <a:solidFill>
                  <a:srgbClr val="9CDCFE"/>
                </a:solidFill>
                <a:latin typeface="Consolas"/>
              </a:rPr>
              <a:t>   D=lab-15-automated-quality-assurance-profile-rule-monitor;</a:t>
            </a:r>
          </a:p>
          <a:p>
            <a:pPr algn="l">
              <a:spcAft>
                <a:spcPts val="0"/>
              </a:spcAft>
            </a:pPr>
            <a:r>
              <a:rPr sz="640" b="0">
                <a:solidFill>
                  <a:srgbClr val="9CDCFE"/>
                </a:solidFill>
                <a:latin typeface="Consolas"/>
              </a:rPr>
              <a:t>   for f in feed_good.csv feed_bad.csv; do curl -fsSO $B/$D/data/$f || echo FAILED $f; done; ls -l</a:t>
            </a:r>
          </a:p>
        </p:txBody>
      </p:sp>
      <p:sp>
        <p:nvSpPr>
          <p:cNvPr id="14" name="Rectangle 13"/>
          <p:cNvSpPr/>
          <p:nvPr/>
        </p:nvSpPr>
        <p:spPr>
          <a:xfrm>
            <a:off x="777240" y="326440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264408"/>
            <a:ext cx="82296"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79018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79018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330098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Write the quality suite — one function per quality dimension.</a:t>
            </a:r>
          </a:p>
        </p:txBody>
      </p:sp>
      <p:sp>
        <p:nvSpPr>
          <p:cNvPr id="19" name="Rectangle 18"/>
          <p:cNvSpPr/>
          <p:nvPr/>
        </p:nvSpPr>
        <p:spPr>
          <a:xfrm>
            <a:off x="1481328" y="366674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666744"/>
            <a:ext cx="9326880" cy="923544"/>
          </a:xfrm>
          <a:prstGeom prst="rect">
            <a:avLst/>
          </a:prstGeom>
          <a:noFill/>
        </p:spPr>
        <p:txBody>
          <a:bodyPr wrap="none" anchor="ctr">
            <a:spAutoFit/>
          </a:bodyPr>
          <a:lstStyle/>
          <a:p>
            <a:pPr algn="l">
              <a:spcAft>
                <a:spcPts val="0"/>
              </a:spcAft>
            </a:pPr>
            <a:r>
              <a:rPr sz="1050" b="0">
                <a:solidFill>
                  <a:srgbClr val="9CDCFE"/>
                </a:solidFill>
                <a:latin typeface="Consolas"/>
              </a:rPr>
              <a:t>$ cat &gt; dq_check.py &lt;&lt;'EOF'   # full script in the Learner Guide / lab README</a:t>
            </a:r>
          </a:p>
        </p:txBody>
      </p:sp>
      <p:sp>
        <p:nvSpPr>
          <p:cNvPr id="21" name="Rectangle 20"/>
          <p:cNvSpPr/>
          <p:nvPr/>
        </p:nvSpPr>
        <p:spPr>
          <a:xfrm>
            <a:off x="777240" y="4773168"/>
            <a:ext cx="10634472" cy="1417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773168"/>
            <a:ext cx="82296"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529894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2989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80974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Run the suite against the GOOD feed — it must pass all five and exit 0.</a:t>
            </a:r>
          </a:p>
        </p:txBody>
      </p:sp>
      <p:sp>
        <p:nvSpPr>
          <p:cNvPr id="26" name="Rectangle 25"/>
          <p:cNvSpPr/>
          <p:nvPr/>
        </p:nvSpPr>
        <p:spPr>
          <a:xfrm>
            <a:off x="1481328" y="5175504"/>
            <a:ext cx="9601200" cy="92354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5175504"/>
            <a:ext cx="9326880" cy="923544"/>
          </a:xfrm>
          <a:prstGeom prst="rect">
            <a:avLst/>
          </a:prstGeom>
          <a:noFill/>
        </p:spPr>
        <p:txBody>
          <a:bodyPr wrap="none" anchor="ctr">
            <a:spAutoFit/>
          </a:bodyPr>
          <a:lstStyle/>
          <a:p>
            <a:pPr algn="l">
              <a:spcAft>
                <a:spcPts val="0"/>
              </a:spcAft>
            </a:pPr>
            <a:r>
              <a:rPr sz="1050" b="0">
                <a:solidFill>
                  <a:srgbClr val="9CDCFE"/>
                </a:solidFill>
                <a:latin typeface="Consolas"/>
              </a:rPr>
              <a:t>$ python3 dq_check.py feed_good.csv; echo "exit code: $?"</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15 — Automated Quality Assurance: Profile, Rule, Monitor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Run it against the BROKEN feed — it must fail four dimensions and exit 1.</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1050" b="0">
                <a:solidFill>
                  <a:srgbClr val="9CDCFE"/>
                </a:solidFill>
                <a:latin typeface="Consolas"/>
              </a:rPr>
              <a:t>$ python3 dq_check.py feed_bad.csv; echo "exit code: $?"</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This exit code is what makes it MONITORING rather than a report — a scheduler can now block a bad load.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python3 dq_check.py feed_bad.csv &gt; /dev/null 2&gt;&amp;1 &amp;&amp; echo 'LOAD APPROVED' || echo 'LOAD BLOCKED - do not</a:t>
            </a:r>
          </a:p>
          <a:p>
            <a:pPr algn="l">
              <a:spcAft>
                <a:spcPts val="0"/>
              </a:spcAft>
            </a:pPr>
            <a:r>
              <a:rPr sz="640" b="0">
                <a:solidFill>
                  <a:srgbClr val="9CDCFE"/>
                </a:solidFill>
                <a:latin typeface="Consolas"/>
              </a:rPr>
              <a:t>   ingest'</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Save a dated quality report so you build a quality history, not just a snapshot.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none" anchor="ctr">
            <a:spAutoFit/>
          </a:bodyPr>
          <a:lstStyle/>
          <a:p>
            <a:pPr algn="l">
              <a:spcAft>
                <a:spcPts val="0"/>
              </a:spcAft>
            </a:pPr>
            <a:r>
              <a:rPr sz="740" b="0">
                <a:solidFill>
                  <a:srgbClr val="9CDCFE"/>
                </a:solidFill>
                <a:latin typeface="Consolas"/>
              </a:rPr>
              <a:t>$ python3 dq_check.py feed_good.csv &gt; dq_report_$(date +%Y%m%d).txt; ls -1 dq_report_*.txt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15 — Automated Quality Assurance: Profile, Rule, Monitor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Add the lineage note: record the source, the owner, the rule version and the run date. This is the documentation half of the exam's data-management objective.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none" anchor="ctr">
            <a:spAutoFit/>
          </a:bodyPr>
          <a:lstStyle/>
          <a:p>
            <a:pPr algn="l">
              <a:spcAft>
                <a:spcPts val="0"/>
              </a:spcAft>
            </a:pPr>
            <a:r>
              <a:rPr sz="640" b="0">
                <a:solidFill>
                  <a:srgbClr val="9CDCFE"/>
                </a:solidFill>
                <a:latin typeface="Consolas"/>
              </a:rPr>
              <a:t>$ printf 'source: orders feed (daily)\nowner: Sales Ops\nsteward: Data Quality team\nrules version: 1.0\nrun:</a:t>
            </a:r>
          </a:p>
          <a:p>
            <a:pPr algn="l">
              <a:spcAft>
                <a:spcPts val="0"/>
              </a:spcAft>
            </a:pPr>
            <a:r>
              <a:rPr sz="640" b="0">
                <a:solidFill>
                  <a:srgbClr val="9CDCFE"/>
                </a:solidFill>
                <a:latin typeface="Consolas"/>
              </a:rPr>
              <a:t>   %s\n' "$(date +%F)" &gt; lineage.txt &amp;&amp; cat lineage.txt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15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feed_good.csv (40 rows) scores 5/5 and exits 0. feed_bad.csv (40 rows) fails ALL FIVE dimensions — 2 nulls, 2 duplicate order_ids, 2 negative amounts, 2 invalid status values and 1 unparseable date — so it scores 0/5, exits 1, and the 'LOAD BLOCKED' branch fires.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CSV contains '404: Not Found'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curl wrote the error page into the file. Confirm the BASE URL, re-run with -fsSO so curl fails loudly, or copy the files from the repo folder you cloned.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heredoc breaks on the f-strings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Ensure you used &lt;&lt;'EOF' with the quotes — that stops the shell expanding anything inside.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Exit code is always 0</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ran it inside another command. Test with python3 dq_check.py feed_bad.csv; echo $? on its own line.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05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Data Governance, Quality and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Lifecycle</a:t>
            </a:r>
          </a:p>
          <a:p>
            <a:pPr algn="l">
              <a:spcAft>
                <a:spcPts val="300"/>
              </a:spcAft>
            </a:pPr>
            <a:r>
              <a:rPr sz="1000" b="0">
                <a:solidFill>
                  <a:srgbClr val="5B6372"/>
                </a:solidFill>
                <a:latin typeface="Arial"/>
              </a:rPr>
              <a:t>Governance ensures quality data across the full lifecycle: creation, storage, use, archive and destruction.</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Roles</a:t>
            </a:r>
          </a:p>
          <a:p>
            <a:pPr algn="l">
              <a:spcAft>
                <a:spcPts val="300"/>
              </a:spcAft>
            </a:pPr>
            <a:r>
              <a:rPr sz="1000" b="0">
                <a:solidFill>
                  <a:srgbClr val="5B6372"/>
                </a:solidFill>
                <a:latin typeface="Arial"/>
              </a:rPr>
              <a:t>Owner, steward, custodian and privacy officer separate accountability — no single person holds every duty.</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Classification</a:t>
            </a:r>
          </a:p>
          <a:p>
            <a:pPr algn="l">
              <a:spcAft>
                <a:spcPts val="300"/>
              </a:spcAft>
            </a:pPr>
            <a:r>
              <a:rPr sz="1000" b="0">
                <a:solidFill>
                  <a:srgbClr val="5B6372"/>
                </a:solidFill>
                <a:latin typeface="Arial"/>
              </a:rPr>
              <a:t>Classification sets sensitivity; a data-type tag (PII, PHI, PIFI, IP) says what kind of data it is.</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Compliance</a:t>
            </a:r>
          </a:p>
          <a:p>
            <a:pPr algn="l">
              <a:spcAft>
                <a:spcPts val="300"/>
              </a:spcAft>
            </a:pPr>
            <a:r>
              <a:rPr sz="1000" b="0">
                <a:solidFill>
                  <a:srgbClr val="5B6372"/>
                </a:solidFill>
                <a:latin typeface="Arial"/>
              </a:rPr>
              <a:t>PDPA, GDPR, HIPAA and SOX impose retention, audit and sovereignty duties you must be able to evidence.</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Layered protection</a:t>
            </a:r>
          </a:p>
          <a:p>
            <a:pPr algn="l">
              <a:spcAft>
                <a:spcPts val="300"/>
              </a:spcAft>
            </a:pPr>
            <a:r>
              <a:rPr sz="1000" b="0">
                <a:solidFill>
                  <a:srgbClr val="5B6372"/>
                </a:solidFill>
                <a:latin typeface="Arial"/>
              </a:rPr>
              <a:t>Access control, encryption, masking, de-identification and pseudonymisation are layered, not alternatives.</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Lineage</a:t>
            </a:r>
          </a:p>
          <a:p>
            <a:pPr algn="l">
              <a:spcAft>
                <a:spcPts val="300"/>
              </a:spcAft>
            </a:pPr>
            <a:r>
              <a:rPr sz="1000" b="0">
                <a:solidFill>
                  <a:srgbClr val="5B6372"/>
                </a:solidFill>
                <a:latin typeface="Arial"/>
              </a:rPr>
              <a:t>Lineage, a data dictionary and version control are what make a number reproducible and auditable.</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Quality assurance</a:t>
            </a:r>
          </a:p>
          <a:p>
            <a:pPr algn="l">
              <a:spcAft>
                <a:spcPts val="300"/>
              </a:spcAft>
            </a:pPr>
            <a:r>
              <a:rPr sz="1000" b="0">
                <a:solidFill>
                  <a:srgbClr val="5B6372"/>
                </a:solidFill>
                <a:latin typeface="Arial"/>
              </a:rPr>
              <a:t>Quality assurance runs continuously: profile, define rules, automate validation, monitor and act on failure.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Tools, Revision and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med" advClick="1">
    <p:push dir="l"/>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CODING ENVIRONMENTS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Analytic Tools — Languages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SQL</a:t>
            </a:r>
          </a:p>
          <a:p>
            <a:pPr algn="l">
              <a:spcAft>
                <a:spcPts val="300"/>
              </a:spcAft>
            </a:pPr>
            <a:r>
              <a:rPr sz="1100" b="0">
                <a:solidFill>
                  <a:srgbClr val="5B6372"/>
                </a:solidFill>
                <a:latin typeface="Arial"/>
              </a:rPr>
              <a:t>The query language for relational databases. Non-negotiable for any data role.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Python</a:t>
            </a:r>
          </a:p>
          <a:p>
            <a:pPr algn="l">
              <a:spcAft>
                <a:spcPts val="300"/>
              </a:spcAft>
            </a:pPr>
            <a:r>
              <a:rPr sz="1100" b="0">
                <a:solidFill>
                  <a:srgbClr val="5B6372"/>
                </a:solidFill>
                <a:latin typeface="Arial"/>
              </a:rPr>
              <a:t>General-purpose, with pandas, NumPy, matplotlib and scikit-learn — the dominant analysis stack.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a:t>
            </a:r>
          </a:p>
          <a:p>
            <a:pPr algn="l">
              <a:spcAft>
                <a:spcPts val="300"/>
              </a:spcAft>
            </a:pPr>
            <a:r>
              <a:rPr sz="1100" b="0">
                <a:solidFill>
                  <a:srgbClr val="5B6372"/>
                </a:solidFill>
                <a:latin typeface="Arial"/>
              </a:rPr>
              <a:t>Purpose-built for statistical computing and graphics; strong among statisticians and researchers.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Excel / Power Query</a:t>
            </a:r>
          </a:p>
          <a:p>
            <a:pPr algn="l">
              <a:spcAft>
                <a:spcPts val="300"/>
              </a:spcAft>
            </a:pPr>
            <a:r>
              <a:rPr sz="1100" b="0">
                <a:solidFill>
                  <a:srgbClr val="5B6372"/>
                </a:solidFill>
                <a:latin typeface="Arial"/>
              </a:rPr>
              <a:t>Still the most widely used analysis tool on earth. Pivot tables, formulas and Power Query transforms.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Notebooks</a:t>
            </a:r>
          </a:p>
          <a:p>
            <a:pPr algn="l">
              <a:spcAft>
                <a:spcPts val="300"/>
              </a:spcAft>
            </a:pPr>
            <a:r>
              <a:rPr sz="1100" b="0">
                <a:solidFill>
                  <a:srgbClr val="5B6372"/>
                </a:solidFill>
                <a:latin typeface="Arial"/>
              </a:rPr>
              <a:t>Jupyter and Colab combine code, output and narrative in one reproducible document.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Version control</a:t>
            </a:r>
          </a:p>
          <a:p>
            <a:pPr algn="l">
              <a:spcAft>
                <a:spcPts val="300"/>
              </a:spcAft>
            </a:pPr>
            <a:r>
              <a:rPr sz="1100" b="0">
                <a:solidFill>
                  <a:srgbClr val="5B6372"/>
                </a:solidFill>
                <a:latin typeface="Arial"/>
              </a:rPr>
              <a:t>Git tracks every change to your queries and scripts, so any result can be reproduced.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BI SOFTWARE AND ANALYSIS PLATFORMS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BI, Visualisation and Statistical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BI</a:t>
            </a:r>
          </a:p>
          <a:p>
            <a:pPr algn="l">
              <a:spcAft>
                <a:spcPts val="300"/>
              </a:spcAft>
            </a:pPr>
            <a:r>
              <a:rPr sz="1100" b="0">
                <a:solidFill>
                  <a:srgbClr val="5B6372"/>
                </a:solidFill>
                <a:latin typeface="Arial"/>
              </a:rPr>
              <a:t>Microsoft's interactive BI product — Power Query for prep, DAX for measures, dashboards for delivery.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Tableau</a:t>
            </a:r>
          </a:p>
          <a:p>
            <a:pPr algn="l">
              <a:spcAft>
                <a:spcPts val="300"/>
              </a:spcAft>
            </a:pPr>
            <a:r>
              <a:rPr sz="1100" b="0">
                <a:solidFill>
                  <a:srgbClr val="5B6372"/>
                </a:solidFill>
                <a:latin typeface="Arial"/>
              </a:rPr>
              <a:t>Leading visual-analysis tool, strong at exploratory visualisation and mapping.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Qlik / Domo / MicroStrategy</a:t>
            </a:r>
          </a:p>
          <a:p>
            <a:pPr algn="l">
              <a:spcAft>
                <a:spcPts val="300"/>
              </a:spcAft>
            </a:pPr>
            <a:r>
              <a:rPr sz="1100" b="0">
                <a:solidFill>
                  <a:srgbClr val="5B6372"/>
                </a:solidFill>
                <a:latin typeface="Arial"/>
              </a:rPr>
              <a:t>Enterprise BI platforms combining data sources, dashboards and distribution.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AWS QuickSight / Oracle Analytics</a:t>
            </a:r>
          </a:p>
          <a:p>
            <a:pPr algn="l">
              <a:spcAft>
                <a:spcPts val="300"/>
              </a:spcAft>
            </a:pPr>
            <a:r>
              <a:rPr sz="1100" b="0">
                <a:solidFill>
                  <a:srgbClr val="5B6372"/>
                </a:solidFill>
                <a:latin typeface="Arial"/>
              </a:rPr>
              <a:t>Cloud-native BI delivering dashboards over cloud data warehouses.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SAS · SPSS · Stata · Minitab</a:t>
            </a:r>
          </a:p>
          <a:p>
            <a:pPr algn="l">
              <a:spcAft>
                <a:spcPts val="300"/>
              </a:spcAft>
            </a:pPr>
            <a:r>
              <a:rPr sz="1100" b="0">
                <a:solidFill>
                  <a:srgbClr val="5B6372"/>
                </a:solidFill>
                <a:latin typeface="Arial"/>
              </a:rPr>
              <a:t>Established statistical packages used for advanced and regulated analysis.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SSRS · Crystal Reports</a:t>
            </a:r>
          </a:p>
          <a:p>
            <a:pPr algn="l">
              <a:spcAft>
                <a:spcPts val="300"/>
              </a:spcAft>
            </a:pPr>
            <a:r>
              <a:rPr sz="1100" b="0">
                <a:solidFill>
                  <a:srgbClr val="5B6372"/>
                </a:solidFill>
                <a:latin typeface="Arial"/>
              </a:rPr>
              <a:t>Paginated, pixel-perfect operational and compliance reporting.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LO1 · Integrate datasets</a:t>
            </a:r>
          </a:p>
          <a:p>
            <a:pPr algn="l">
              <a:spcAft>
                <a:spcPts val="300"/>
              </a:spcAft>
            </a:pPr>
            <a:r>
              <a:rPr sz="1100" b="0">
                <a:solidFill>
                  <a:srgbClr val="5B6372"/>
                </a:solidFill>
                <a:latin typeface="Arial"/>
              </a:rPr>
              <a:t>Built a normalised schema with enforced referential integrity and integrated three sources with SQL joins (Labs 1, 7).</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LO2 · Mine for trends</a:t>
            </a:r>
          </a:p>
          <a:p>
            <a:pPr algn="l">
              <a:spcAft>
                <a:spcPts val="300"/>
              </a:spcAft>
            </a:pPr>
            <a:r>
              <a:rPr sz="1100" b="0">
                <a:solidFill>
                  <a:srgbClr val="5B6372"/>
                </a:solidFill>
                <a:latin typeface="Arial"/>
              </a:rPr>
              <a:t>Profiled a dirty dataset, parsed messy fields with validated regex, and derived new structured fields (Labs 4, 5, 6).</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LO3 · Analyse statistically</a:t>
            </a:r>
          </a:p>
          <a:p>
            <a:pPr algn="l">
              <a:spcAft>
                <a:spcPts val="300"/>
              </a:spcAft>
            </a:pPr>
            <a:r>
              <a:rPr sz="1100" b="0">
                <a:solidFill>
                  <a:srgbClr val="5B6372"/>
                </a:solidFill>
                <a:latin typeface="Arial"/>
              </a:rPr>
              <a:t>Computed descriptive statistics, ran a t-test with p-values, and fitted a regression model (Labs 8, 9, 10).</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LO4 · Communicate visually</a:t>
            </a:r>
          </a:p>
          <a:p>
            <a:pPr algn="l">
              <a:spcAft>
                <a:spcPts val="300"/>
              </a:spcAft>
            </a:pPr>
            <a:r>
              <a:rPr sz="1100" b="0">
                <a:solidFill>
                  <a:srgbClr val="5B6372"/>
                </a:solidFill>
                <a:latin typeface="Arial"/>
              </a:rPr>
              <a:t>Matched five chart types to five questions and built a validated KPI dashboard (Labs 11, 12).</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LO5 · Link the variables</a:t>
            </a:r>
          </a:p>
          <a:p>
            <a:pPr algn="l">
              <a:spcAft>
                <a:spcPts val="300"/>
              </a:spcAft>
            </a:pPr>
            <a:r>
              <a:rPr sz="1100" b="0">
                <a:solidFill>
                  <a:srgbClr val="5B6372"/>
                </a:solidFill>
                <a:latin typeface="Arial"/>
              </a:rPr>
              <a:t>Classified and protected sensitive data, assessed leakage risk, and automated quality monitoring (Labs 13, 14, 15).</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Certification ready</a:t>
            </a:r>
          </a:p>
          <a:p>
            <a:pPr algn="l">
              <a:spcAft>
                <a:spcPts val="300"/>
              </a:spcAft>
            </a:pPr>
            <a:r>
              <a:rPr sz="1100" b="0">
                <a:solidFill>
                  <a:srgbClr val="5B6372"/>
                </a:solidFill>
                <a:latin typeface="Arial"/>
              </a:rPr>
              <a:t>Covered all five CompTIA Data+ (DA0-001) exam domains at their examined weightings.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 — Before You Certify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57200"/>
          </a:xfrm>
          <a:prstGeom prst="rect">
            <a:avLst/>
          </a:prstGeom>
          <a:noFill/>
        </p:spPr>
        <p:txBody>
          <a:bodyPr wrap="square" anchor="t">
            <a:spAutoFit/>
          </a:bodyPr>
          <a:lstStyle/>
          <a:p>
            <a:pPr algn="l">
              <a:spcAft>
                <a:spcPts val="400"/>
              </a:spcAft>
            </a:pPr>
            <a:r>
              <a:rPr sz="1600" b="0">
                <a:solidFill>
                  <a:srgbClr val="161B26"/>
                </a:solidFill>
                <a:latin typeface="Arial"/>
              </a:rPr>
              <a:t>Attempt the official practice exam before you sit the real CompTIA Data+ certification.</a:t>
            </a:r>
          </a:p>
        </p:txBody>
      </p:sp>
      <p:sp>
        <p:nvSpPr>
          <p:cNvPr id="8" name="Rectangle 7"/>
          <p:cNvSpPr/>
          <p:nvPr/>
        </p:nvSpPr>
        <p:spPr>
          <a:xfrm>
            <a:off x="777240" y="233172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331720"/>
            <a:ext cx="100584" cy="777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50592"/>
            <a:ext cx="10058400" cy="548640"/>
          </a:xfrm>
          <a:prstGeom prst="rect">
            <a:avLst/>
          </a:prstGeom>
          <a:noFill/>
        </p:spPr>
        <p:txBody>
          <a:bodyPr wrap="square">
            <a:spAutoFit/>
          </a:bodyPr>
          <a:lstStyle/>
          <a:p>
            <a:r>
              <a:rPr sz="1300">
                <a:solidFill>
                  <a:srgbClr val="5B6372"/>
                </a:solidFill>
                <a:latin typeface="Arial"/>
              </a:rPr>
              <a:t>CompTIA Data+ (DA0-001) practice exams:  </a:t>
            </a:r>
            <a:r>
              <a:rPr sz="1300" b="1">
                <a:solidFill>
                  <a:srgbClr val="7C3AED"/>
                </a:solidFill>
                <a:latin typeface="Arial"/>
                <a:hlinkClick r:id="rId2"/>
              </a:rPr>
              <a:t>https://exams.tertiaryinfotech.com/practice-exams/comptia/comptia-data-plus</a:t>
            </a:r>
          </a:p>
        </p:txBody>
      </p:sp>
      <p:sp>
        <p:nvSpPr>
          <p:cNvPr id="11" name="Rectangle 10"/>
          <p:cNvSpPr/>
          <p:nvPr/>
        </p:nvSpPr>
        <p:spPr>
          <a:xfrm>
            <a:off x="777240" y="3429000"/>
            <a:ext cx="254203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29000"/>
            <a:ext cx="25420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611880"/>
            <a:ext cx="2194560" cy="329184"/>
          </a:xfrm>
          <a:prstGeom prst="rect">
            <a:avLst/>
          </a:prstGeom>
          <a:noFill/>
        </p:spPr>
        <p:txBody>
          <a:bodyPr wrap="square" anchor="t">
            <a:spAutoFit/>
          </a:bodyPr>
          <a:lstStyle/>
          <a:p>
            <a:pPr algn="l">
              <a:spcAft>
                <a:spcPts val="400"/>
              </a:spcAft>
            </a:pPr>
            <a:r>
              <a:rPr sz="1200" b="1">
                <a:solidFill>
                  <a:srgbClr val="1F6FEB"/>
                </a:solidFill>
                <a:latin typeface="Arial"/>
              </a:rPr>
              <a:t>6 FULL EXAMS</a:t>
            </a:r>
          </a:p>
        </p:txBody>
      </p:sp>
      <p:sp>
        <p:nvSpPr>
          <p:cNvPr id="14" name="TextBox 13"/>
          <p:cNvSpPr txBox="1"/>
          <p:nvPr/>
        </p:nvSpPr>
        <p:spPr>
          <a:xfrm>
            <a:off x="978408" y="4005072"/>
            <a:ext cx="2194560" cy="1371600"/>
          </a:xfrm>
          <a:prstGeom prst="rect">
            <a:avLst/>
          </a:prstGeom>
          <a:noFill/>
        </p:spPr>
        <p:txBody>
          <a:bodyPr wrap="square" anchor="t">
            <a:spAutoFit/>
          </a:bodyPr>
          <a:lstStyle/>
          <a:p>
            <a:pPr algn="l">
              <a:spcAft>
                <a:spcPts val="400"/>
              </a:spcAft>
            </a:pPr>
            <a:r>
              <a:rPr sz="1150" b="0">
                <a:solidFill>
                  <a:srgbClr val="161B26"/>
                </a:solidFill>
                <a:latin typeface="Arial"/>
              </a:rPr>
              <a:t>The bundle covers all five domains at their examined weightings.</a:t>
            </a:r>
          </a:p>
        </p:txBody>
      </p:sp>
      <p:sp>
        <p:nvSpPr>
          <p:cNvPr id="15" name="Rectangle 14"/>
          <p:cNvSpPr/>
          <p:nvPr/>
        </p:nvSpPr>
        <p:spPr>
          <a:xfrm>
            <a:off x="3502152" y="3429000"/>
            <a:ext cx="254203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2152" y="3429000"/>
            <a:ext cx="25420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03320" y="3611880"/>
            <a:ext cx="2194560" cy="329184"/>
          </a:xfrm>
          <a:prstGeom prst="rect">
            <a:avLst/>
          </a:prstGeom>
          <a:noFill/>
        </p:spPr>
        <p:txBody>
          <a:bodyPr wrap="square" anchor="t">
            <a:spAutoFit/>
          </a:bodyPr>
          <a:lstStyle/>
          <a:p>
            <a:pPr algn="l">
              <a:spcAft>
                <a:spcPts val="400"/>
              </a:spcAft>
            </a:pPr>
            <a:r>
              <a:rPr sz="1200" b="1">
                <a:solidFill>
                  <a:srgbClr val="10B981"/>
                </a:solidFill>
                <a:latin typeface="Arial"/>
              </a:rPr>
              <a:t>TIMED PRACTICE</a:t>
            </a:r>
          </a:p>
        </p:txBody>
      </p:sp>
      <p:sp>
        <p:nvSpPr>
          <p:cNvPr id="18" name="TextBox 17"/>
          <p:cNvSpPr txBox="1"/>
          <p:nvPr/>
        </p:nvSpPr>
        <p:spPr>
          <a:xfrm>
            <a:off x="3703320" y="4005072"/>
            <a:ext cx="2194560" cy="1371600"/>
          </a:xfrm>
          <a:prstGeom prst="rect">
            <a:avLst/>
          </a:prstGeom>
          <a:noFill/>
        </p:spPr>
        <p:txBody>
          <a:bodyPr wrap="square" anchor="t">
            <a:spAutoFit/>
          </a:bodyPr>
          <a:lstStyle/>
          <a:p>
            <a:pPr algn="l">
              <a:spcAft>
                <a:spcPts val="400"/>
              </a:spcAft>
            </a:pPr>
            <a:r>
              <a:rPr sz="1150" b="0">
                <a:solidFill>
                  <a:srgbClr val="161B26"/>
                </a:solidFill>
                <a:latin typeface="Arial"/>
              </a:rPr>
              <a:t>Sit them under exam conditions to build your pacing before the real thing.</a:t>
            </a:r>
          </a:p>
        </p:txBody>
      </p:sp>
      <p:sp>
        <p:nvSpPr>
          <p:cNvPr id="19" name="Rectangle 18"/>
          <p:cNvSpPr/>
          <p:nvPr/>
        </p:nvSpPr>
        <p:spPr>
          <a:xfrm>
            <a:off x="6227064" y="3429000"/>
            <a:ext cx="254203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7064" y="3429000"/>
            <a:ext cx="25420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3611880"/>
            <a:ext cx="2194560" cy="329184"/>
          </a:xfrm>
          <a:prstGeom prst="rect">
            <a:avLst/>
          </a:prstGeom>
          <a:noFill/>
        </p:spPr>
        <p:txBody>
          <a:bodyPr wrap="square" anchor="t">
            <a:spAutoFit/>
          </a:bodyPr>
          <a:lstStyle/>
          <a:p>
            <a:pPr algn="l">
              <a:spcAft>
                <a:spcPts val="400"/>
              </a:spcAft>
            </a:pPr>
            <a:r>
              <a:rPr sz="1200" b="1">
                <a:solidFill>
                  <a:srgbClr val="7C3AED"/>
                </a:solidFill>
                <a:latin typeface="Arial"/>
              </a:rPr>
              <a:t>REVIEW EVERY MISS</a:t>
            </a:r>
          </a:p>
        </p:txBody>
      </p:sp>
      <p:sp>
        <p:nvSpPr>
          <p:cNvPr id="22" name="TextBox 21"/>
          <p:cNvSpPr txBox="1"/>
          <p:nvPr/>
        </p:nvSpPr>
        <p:spPr>
          <a:xfrm>
            <a:off x="6428232" y="4005072"/>
            <a:ext cx="2194560" cy="1371600"/>
          </a:xfrm>
          <a:prstGeom prst="rect">
            <a:avLst/>
          </a:prstGeom>
          <a:noFill/>
        </p:spPr>
        <p:txBody>
          <a:bodyPr wrap="square" anchor="t">
            <a:spAutoFit/>
          </a:bodyPr>
          <a:lstStyle/>
          <a:p>
            <a:pPr algn="l">
              <a:spcAft>
                <a:spcPts val="400"/>
              </a:spcAft>
            </a:pPr>
            <a:r>
              <a:rPr sz="1150" b="0">
                <a:solidFill>
                  <a:srgbClr val="161B26"/>
                </a:solidFill>
                <a:latin typeface="Arial"/>
              </a:rPr>
              <a:t>Read the explanation for every wrong answer — that is where the learning is.</a:t>
            </a:r>
          </a:p>
        </p:txBody>
      </p:sp>
      <p:sp>
        <p:nvSpPr>
          <p:cNvPr id="23" name="Rectangle 22"/>
          <p:cNvSpPr/>
          <p:nvPr/>
        </p:nvSpPr>
        <p:spPr>
          <a:xfrm>
            <a:off x="8951976" y="3429000"/>
            <a:ext cx="254203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51976" y="3429000"/>
            <a:ext cx="25420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53144" y="3611880"/>
            <a:ext cx="2194560" cy="329184"/>
          </a:xfrm>
          <a:prstGeom prst="rect">
            <a:avLst/>
          </a:prstGeom>
          <a:noFill/>
        </p:spPr>
        <p:txBody>
          <a:bodyPr wrap="square" anchor="t">
            <a:spAutoFit/>
          </a:bodyPr>
          <a:lstStyle/>
          <a:p>
            <a:pPr algn="l">
              <a:spcAft>
                <a:spcPts val="400"/>
              </a:spcAft>
            </a:pPr>
            <a:r>
              <a:rPr sz="1200" b="1">
                <a:solidFill>
                  <a:srgbClr val="F59E0B"/>
                </a:solidFill>
                <a:latin typeface="Arial"/>
              </a:rPr>
              <a:t>THEN BOOK</a:t>
            </a:r>
          </a:p>
        </p:txBody>
      </p:sp>
      <p:sp>
        <p:nvSpPr>
          <p:cNvPr id="26" name="TextBox 25"/>
          <p:cNvSpPr txBox="1"/>
          <p:nvPr/>
        </p:nvSpPr>
        <p:spPr>
          <a:xfrm>
            <a:off x="9153144" y="4005072"/>
            <a:ext cx="2194560" cy="1371600"/>
          </a:xfrm>
          <a:prstGeom prst="rect">
            <a:avLst/>
          </a:prstGeom>
          <a:noFill/>
        </p:spPr>
        <p:txBody>
          <a:bodyPr wrap="square" anchor="t">
            <a:spAutoFit/>
          </a:bodyPr>
          <a:lstStyle/>
          <a:p>
            <a:pPr algn="l">
              <a:spcAft>
                <a:spcPts val="400"/>
              </a:spcAft>
            </a:pPr>
            <a:r>
              <a:rPr sz="1150" b="0">
                <a:solidFill>
                  <a:srgbClr val="161B26"/>
                </a:solidFill>
                <a:latin typeface="Arial"/>
              </a:rPr>
              <a:t>Book the real DA0-001 exam once you are consistently scoring above your target.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Sit the certification</a:t>
            </a:r>
          </a:p>
          <a:p>
            <a:pPr algn="l">
              <a:spcAft>
                <a:spcPts val="300"/>
              </a:spcAft>
            </a:pPr>
            <a:r>
              <a:rPr sz="1200" b="0">
                <a:solidFill>
                  <a:srgbClr val="5B6372"/>
                </a:solidFill>
                <a:latin typeface="Arial"/>
              </a:rPr>
              <a:t>Book the CompTIA Data+ (DA0-001) exam while the material is fresh.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Redo every lab</a:t>
            </a:r>
          </a:p>
          <a:p>
            <a:pPr algn="l">
              <a:spcAft>
                <a:spcPts val="300"/>
              </a:spcAft>
            </a:pPr>
            <a:r>
              <a:rPr sz="1200" b="0">
                <a:solidFill>
                  <a:srgbClr val="5B6372"/>
                </a:solidFill>
                <a:latin typeface="Arial"/>
              </a:rPr>
              <a:t>Repeat each lab from a blank terminal until the workflow is automatic.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Profile one real dataset from your own job using the Lab 4 procedure this week.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Build a portfolio</a:t>
            </a:r>
          </a:p>
          <a:p>
            <a:pPr algn="l">
              <a:spcAft>
                <a:spcPts val="300"/>
              </a:spcAft>
            </a:pPr>
            <a:r>
              <a:rPr sz="1200" b="0">
                <a:solidFill>
                  <a:srgbClr val="5B6372"/>
                </a:solidFill>
                <a:latin typeface="Arial"/>
              </a:rPr>
              <a:t>Publish a cleaned dataset, an analysis and a dashboard you can show an employer.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 deeper on SQL</a:t>
            </a:r>
          </a:p>
          <a:p>
            <a:pPr algn="l">
              <a:spcAft>
                <a:spcPts val="300"/>
              </a:spcAft>
            </a:pPr>
            <a:r>
              <a:rPr sz="1200" b="0">
                <a:solidFill>
                  <a:srgbClr val="5B6372"/>
                </a:solidFill>
                <a:latin typeface="Arial"/>
              </a:rPr>
              <a:t>Joins, window functions and query plans repay every hour you invest.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Learn a BI platform</a:t>
            </a:r>
          </a:p>
          <a:p>
            <a:pPr algn="l">
              <a:spcAft>
                <a:spcPts val="300"/>
              </a:spcAft>
            </a:pPr>
            <a:r>
              <a:rPr sz="1200" b="0">
                <a:solidFill>
                  <a:srgbClr val="5B6372"/>
                </a:solidFill>
                <a:latin typeface="Arial"/>
              </a:rPr>
              <a:t>Pick Power BI or Tableau and rebuild your Lab 12 dashboard in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fast" advClick="1">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Security+ Training</a:t>
            </a:r>
          </a:p>
          <a:p>
            <a:pPr algn="l">
              <a:spcAft>
                <a:spcPts val="300"/>
              </a:spcAft>
            </a:pPr>
            <a:r>
              <a:rPr sz="1300" b="0">
                <a:solidFill>
                  <a:srgbClr val="5B6372"/>
                </a:solidFill>
                <a:latin typeface="Arial"/>
              </a:rPr>
              <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Network+ Training</a:t>
            </a:r>
          </a:p>
          <a:p>
            <a:pPr algn="l">
              <a:spcAft>
                <a:spcPts val="300"/>
              </a:spcAft>
            </a:pPr>
            <a:r>
              <a:rPr sz="1300" b="0">
                <a:solidFill>
                  <a:srgbClr val="5B6372"/>
                </a:solidFill>
                <a:latin typeface="Arial"/>
              </a:rPr>
              <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Linux+ Training</a:t>
            </a:r>
          </a:p>
          <a:p>
            <a:pPr algn="l">
              <a:spcAft>
                <a:spcPts val="300"/>
              </a:spcAft>
            </a:pPr>
            <a:r>
              <a:rPr sz="1300" b="0">
                <a:solidFill>
                  <a:srgbClr val="5B6372"/>
                </a:solidFill>
                <a:latin typeface="Arial"/>
              </a:rPr>
              <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Server+ Training</a:t>
            </a:r>
          </a:p>
          <a:p>
            <a:pPr algn="l">
              <a:spcAft>
                <a:spcPts val="300"/>
              </a:spcAft>
            </a:pPr>
            <a:r>
              <a:rPr sz="1300" b="0">
                <a:solidFill>
                  <a:srgbClr val="5B6372"/>
                </a:solidFill>
                <a:latin typeface="Arial"/>
              </a:rPr>
              <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A+ Training (Core 1 and Core 2)</a:t>
            </a:r>
          </a:p>
          <a:p>
            <a:pPr algn="l">
              <a:spcAft>
                <a:spcPts val="300"/>
              </a:spcAft>
            </a:pPr>
            <a:r>
              <a:rPr sz="1300" b="0">
                <a:solidFill>
                  <a:srgbClr val="5B6372"/>
                </a:solidFill>
                <a:latin typeface="Arial"/>
              </a:rPr>
              <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or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    ·    WhatsApp: +65 6100 0613</a:t>
            </a:r>
          </a:p>
          <a:p>
            <a:pPr>
              <a:spcAft>
                <a:spcPts val="1000"/>
              </a:spcAft>
            </a:pPr>
            <a:r>
              <a:rPr sz="2000" b="0">
                <a:solidFill>
                  <a:srgbClr val="161B26"/>
                </a:solidFill>
                <a:latin typeface="Arial"/>
              </a:rPr>
              <a:t>•  Website: www.tertiarycourses.com.sg</a:t>
            </a:r>
          </a:p>
          <a:p>
            <a:pPr>
              <a:spcAft>
                <a:spcPts val="1000"/>
              </a:spcAft>
            </a:pPr>
            <a:r>
              <a:rPr sz="2000" b="0">
                <a:solidFill>
                  <a:srgbClr val="161B26"/>
                </a:solidFill>
                <a:latin typeface="Arial"/>
              </a:rPr>
              <a:t>•  LMS / TMS: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(SAQ)</a:t>
            </a:r>
          </a:p>
          <a:p>
            <a:pPr algn="l">
              <a:spcAft>
                <a:spcPts val="300"/>
              </a:spcAft>
            </a:pPr>
            <a:r>
              <a:rPr sz="1200" b="0">
                <a:solidFill>
                  <a:srgbClr val="5B6372"/>
                </a:solidFill>
                <a:latin typeface="Arial"/>
              </a:rPr>
              <a:t>1 hour · open book · short-answer knowledge questions across all five domains.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1 hour · open book · scenario-based hands-on data tasks mapped to LO1–LO5.</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Digital attendance</a:t>
            </a:r>
          </a:p>
          <a:p>
            <a:pPr algn="l">
              <a:spcAft>
                <a:spcPts val="300"/>
              </a:spcAft>
            </a:pPr>
            <a:r>
              <a:rPr sz="1200" b="0">
                <a:solidFill>
                  <a:srgbClr val="5B6372"/>
                </a:solidFill>
                <a:latin typeface="Arial"/>
              </a:rPr>
              <a:t>Take the Assessment digital attendance (TRAQOM) before you start.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Submit on the LMS</a:t>
            </a:r>
          </a:p>
          <a:p>
            <a:pPr algn="l">
              <a:spcAft>
                <a:spcPts val="300"/>
              </a:spcAft>
            </a:pPr>
            <a:r>
              <a:rPr sz="1200" b="0">
                <a:solidFill>
                  <a:srgbClr val="5B6372"/>
                </a:solidFill>
                <a:latin typeface="Arial"/>
              </a:rPr>
              <a:t>Upload your completed answers at https://lms-tms.tertiaryinfotech.com/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 means</a:t>
            </a:r>
          </a:p>
          <a:p>
            <a:pPr algn="l">
              <a:spcAft>
                <a:spcPts val="300"/>
              </a:spcAft>
            </a:pPr>
            <a:r>
              <a:rPr sz="1200" b="0">
                <a:solidFill>
                  <a:srgbClr val="5B6372"/>
                </a:solidFill>
                <a:latin typeface="Arial"/>
              </a:rPr>
              <a:t>Course slides, the Learner Guide and other approved materials only.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Competent (C) or Not Yet Competent (NYC) on each instrument.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 attendance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Assessment attendance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TRAQOM digital attendance or the course feedback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generated from TPG.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with Singpass</a:t>
            </a:r>
          </a:p>
          <a:p>
            <a:pPr algn="l">
              <a:spcAft>
                <a:spcPts val="300"/>
              </a:spcAft>
            </a:pPr>
            <a:r>
              <a:rPr sz="1300" b="0">
                <a:solidFill>
                  <a:srgbClr val="5B6372"/>
                </a:solidFill>
                <a:latin typeface="Arial"/>
              </a:rPr>
              <a:t>Scan the QR code from your Singpass App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ANALYSING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integrate, prepare, analyse, visualise and govern data — and you are ready to sit the CompTIA Data+ (DA0-001) certification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spd="fast" advClick="1">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pic>
        <p:nvPicPr>
          <p:cNvPr id="40" name="Picture 39" descr="ref_login.png"/>
          <p:cNvPicPr>
            <a:picLocks noChangeAspect="1"/>
          </p:cNvPicPr>
          <p:nvPr/>
        </p:nvPicPr>
        <p:blipFill>
          <a:blip r:embed="rId2"/>
          <a:stretch>
            <a:fillRect/>
          </a:stretch>
        </p:blipFill>
        <p:spPr>
          <a:xfrm>
            <a:off x="1983345" y="1723644"/>
            <a:ext cx="8225005" cy="4091940"/>
          </a:xfrm>
          <a:prstGeom prst="rect">
            <a:avLst/>
          </a:prstGeom>
          <a:ln w="12700">
            <a:solidFill>
              <a:srgbClr val="E2E8F0"/>
            </a:solidFill>
          </a:ln>
        </p:spPr>
      </p:pic>
      <p:sp>
        <p:nvSpPr>
          <p:cNvPr id="41" name="TextBox 40"/>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